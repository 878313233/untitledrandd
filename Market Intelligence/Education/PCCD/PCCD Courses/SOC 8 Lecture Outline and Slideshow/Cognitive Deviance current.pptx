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</p:sldMasterIdLst>
  <p:notesMasterIdLst>
    <p:notesMasterId r:id="rId19"/>
  </p:notesMasterIdLst>
  <p:sldIdLst>
    <p:sldId id="256" r:id="rId2"/>
    <p:sldId id="267" r:id="rId3"/>
    <p:sldId id="262" r:id="rId4"/>
    <p:sldId id="275" r:id="rId5"/>
    <p:sldId id="276" r:id="rId6"/>
    <p:sldId id="257" r:id="rId7"/>
    <p:sldId id="280" r:id="rId8"/>
    <p:sldId id="268" r:id="rId9"/>
    <p:sldId id="281" r:id="rId10"/>
    <p:sldId id="263" r:id="rId11"/>
    <p:sldId id="272" r:id="rId12"/>
    <p:sldId id="269" r:id="rId13"/>
    <p:sldId id="274" r:id="rId14"/>
    <p:sldId id="278" r:id="rId15"/>
    <p:sldId id="273" r:id="rId16"/>
    <p:sldId id="279" r:id="rId17"/>
    <p:sldId id="277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0" autoAdjust="0"/>
    <p:restoredTop sz="94660"/>
  </p:normalViewPr>
  <p:slideViewPr>
    <p:cSldViewPr>
      <p:cViewPr varScale="1">
        <p:scale>
          <a:sx n="72" d="100"/>
          <a:sy n="72" d="100"/>
        </p:scale>
        <p:origin x="90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1D4E98-A355-4C85-A1A7-7C3971747BA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E70B1C0-C127-45D4-BD65-DB576DCC980C}">
      <dgm:prSet/>
      <dgm:spPr/>
      <dgm:t>
        <a:bodyPr/>
        <a:lstStyle/>
        <a:p>
          <a:r>
            <a:rPr lang="en-US"/>
            <a:t>Connection to mental health concerns</a:t>
          </a:r>
        </a:p>
      </dgm:t>
    </dgm:pt>
    <dgm:pt modelId="{848E227F-B076-477F-87CA-6955C233E5A3}" type="parTrans" cxnId="{96531927-B8FD-4A40-BF21-0C8B67034A60}">
      <dgm:prSet/>
      <dgm:spPr/>
      <dgm:t>
        <a:bodyPr/>
        <a:lstStyle/>
        <a:p>
          <a:endParaRPr lang="en-US"/>
        </a:p>
      </dgm:t>
    </dgm:pt>
    <dgm:pt modelId="{60E002E2-A8E8-4E63-924F-F3C564DCF67B}" type="sibTrans" cxnId="{96531927-B8FD-4A40-BF21-0C8B67034A60}">
      <dgm:prSet/>
      <dgm:spPr/>
      <dgm:t>
        <a:bodyPr/>
        <a:lstStyle/>
        <a:p>
          <a:endParaRPr lang="en-US"/>
        </a:p>
      </dgm:t>
    </dgm:pt>
    <dgm:pt modelId="{22A7AF50-6E64-41F6-9482-86806BAEB67A}">
      <dgm:prSet/>
      <dgm:spPr/>
      <dgm:t>
        <a:bodyPr/>
        <a:lstStyle/>
        <a:p>
          <a:r>
            <a:rPr lang="en-US"/>
            <a:t>The strong association that beliefs drive behavior</a:t>
          </a:r>
        </a:p>
      </dgm:t>
    </dgm:pt>
    <dgm:pt modelId="{BD7C6F30-0587-4C83-B63B-9AE8D33BF5D4}" type="parTrans" cxnId="{22310B4E-985C-4A9C-B130-5E9665405EB9}">
      <dgm:prSet/>
      <dgm:spPr/>
      <dgm:t>
        <a:bodyPr/>
        <a:lstStyle/>
        <a:p>
          <a:endParaRPr lang="en-US"/>
        </a:p>
      </dgm:t>
    </dgm:pt>
    <dgm:pt modelId="{87785E25-7B8F-43B4-8516-FAD5A575F029}" type="sibTrans" cxnId="{22310B4E-985C-4A9C-B130-5E9665405EB9}">
      <dgm:prSet/>
      <dgm:spPr/>
      <dgm:t>
        <a:bodyPr/>
        <a:lstStyle/>
        <a:p>
          <a:endParaRPr lang="en-US"/>
        </a:p>
      </dgm:t>
    </dgm:pt>
    <dgm:pt modelId="{CA80F9A1-B4FC-4623-BCAA-606BF5090B51}">
      <dgm:prSet/>
      <dgm:spPr/>
      <dgm:t>
        <a:bodyPr/>
        <a:lstStyle/>
        <a:p>
          <a:r>
            <a:rPr lang="en-US"/>
            <a:t>Association of deviant beliefs with “outsiders”</a:t>
          </a:r>
        </a:p>
      </dgm:t>
    </dgm:pt>
    <dgm:pt modelId="{ACD8BFA1-2686-408F-A0ED-C561E54E6D97}" type="parTrans" cxnId="{F96FC05E-C0BE-412C-9AC0-B08393159DED}">
      <dgm:prSet/>
      <dgm:spPr/>
      <dgm:t>
        <a:bodyPr/>
        <a:lstStyle/>
        <a:p>
          <a:endParaRPr lang="en-US"/>
        </a:p>
      </dgm:t>
    </dgm:pt>
    <dgm:pt modelId="{0E07E053-F764-410C-8AAC-D8F14A26CE43}" type="sibTrans" cxnId="{F96FC05E-C0BE-412C-9AC0-B08393159DED}">
      <dgm:prSet/>
      <dgm:spPr/>
      <dgm:t>
        <a:bodyPr/>
        <a:lstStyle/>
        <a:p>
          <a:endParaRPr lang="en-US"/>
        </a:p>
      </dgm:t>
    </dgm:pt>
    <dgm:pt modelId="{FA44CCE9-B86E-409E-8040-AF0C9DA25ADF}">
      <dgm:prSet/>
      <dgm:spPr/>
      <dgm:t>
        <a:bodyPr/>
        <a:lstStyle/>
        <a:p>
          <a:r>
            <a:rPr lang="en-US"/>
            <a:t>Concern about dissemination and influence </a:t>
          </a:r>
        </a:p>
      </dgm:t>
    </dgm:pt>
    <dgm:pt modelId="{5ECE4236-CF0C-4941-8285-2FEE9800EA5F}" type="parTrans" cxnId="{4E284BBE-AEAE-4864-919D-D939485B14B4}">
      <dgm:prSet/>
      <dgm:spPr/>
      <dgm:t>
        <a:bodyPr/>
        <a:lstStyle/>
        <a:p>
          <a:endParaRPr lang="en-US"/>
        </a:p>
      </dgm:t>
    </dgm:pt>
    <dgm:pt modelId="{DEE30A56-65BB-4AB1-BE39-11F289FACB34}" type="sibTrans" cxnId="{4E284BBE-AEAE-4864-919D-D939485B14B4}">
      <dgm:prSet/>
      <dgm:spPr/>
      <dgm:t>
        <a:bodyPr/>
        <a:lstStyle/>
        <a:p>
          <a:endParaRPr lang="en-US"/>
        </a:p>
      </dgm:t>
    </dgm:pt>
    <dgm:pt modelId="{FE2EBCC3-D062-46EC-8261-2050F57BC0E7}" type="pres">
      <dgm:prSet presAssocID="{0E1D4E98-A355-4C85-A1A7-7C3971747BAA}" presName="vert0" presStyleCnt="0">
        <dgm:presLayoutVars>
          <dgm:dir/>
          <dgm:animOne val="branch"/>
          <dgm:animLvl val="lvl"/>
        </dgm:presLayoutVars>
      </dgm:prSet>
      <dgm:spPr/>
    </dgm:pt>
    <dgm:pt modelId="{CDE36467-8F81-4672-8A23-534550301F3E}" type="pres">
      <dgm:prSet presAssocID="{9E70B1C0-C127-45D4-BD65-DB576DCC980C}" presName="thickLine" presStyleLbl="alignNode1" presStyleIdx="0" presStyleCnt="4"/>
      <dgm:spPr/>
    </dgm:pt>
    <dgm:pt modelId="{39D78CF0-74C6-4BCB-B0CB-6152DA7E6A40}" type="pres">
      <dgm:prSet presAssocID="{9E70B1C0-C127-45D4-BD65-DB576DCC980C}" presName="horz1" presStyleCnt="0"/>
      <dgm:spPr/>
    </dgm:pt>
    <dgm:pt modelId="{977ADF00-62DC-4E8D-875E-DF66EE1C2168}" type="pres">
      <dgm:prSet presAssocID="{9E70B1C0-C127-45D4-BD65-DB576DCC980C}" presName="tx1" presStyleLbl="revTx" presStyleIdx="0" presStyleCnt="4"/>
      <dgm:spPr/>
    </dgm:pt>
    <dgm:pt modelId="{1B066691-BE59-4861-ABFF-4FA0885CC4BC}" type="pres">
      <dgm:prSet presAssocID="{9E70B1C0-C127-45D4-BD65-DB576DCC980C}" presName="vert1" presStyleCnt="0"/>
      <dgm:spPr/>
    </dgm:pt>
    <dgm:pt modelId="{0EFF0A58-8DEB-4B2D-9B78-0D5F0C592068}" type="pres">
      <dgm:prSet presAssocID="{22A7AF50-6E64-41F6-9482-86806BAEB67A}" presName="thickLine" presStyleLbl="alignNode1" presStyleIdx="1" presStyleCnt="4"/>
      <dgm:spPr/>
    </dgm:pt>
    <dgm:pt modelId="{52FCA6EA-DBDA-4BBC-A98D-CE04DC3F95F5}" type="pres">
      <dgm:prSet presAssocID="{22A7AF50-6E64-41F6-9482-86806BAEB67A}" presName="horz1" presStyleCnt="0"/>
      <dgm:spPr/>
    </dgm:pt>
    <dgm:pt modelId="{97704D54-88B8-4B3C-8957-EE960865C671}" type="pres">
      <dgm:prSet presAssocID="{22A7AF50-6E64-41F6-9482-86806BAEB67A}" presName="tx1" presStyleLbl="revTx" presStyleIdx="1" presStyleCnt="4"/>
      <dgm:spPr/>
    </dgm:pt>
    <dgm:pt modelId="{6F68A516-8110-4413-BFA1-484038FBDB2A}" type="pres">
      <dgm:prSet presAssocID="{22A7AF50-6E64-41F6-9482-86806BAEB67A}" presName="vert1" presStyleCnt="0"/>
      <dgm:spPr/>
    </dgm:pt>
    <dgm:pt modelId="{3E94A9BD-213C-4CF2-A95A-380FE7389C9A}" type="pres">
      <dgm:prSet presAssocID="{CA80F9A1-B4FC-4623-BCAA-606BF5090B51}" presName="thickLine" presStyleLbl="alignNode1" presStyleIdx="2" presStyleCnt="4"/>
      <dgm:spPr/>
    </dgm:pt>
    <dgm:pt modelId="{ED786255-8950-44FB-BABC-3F7D9CDBD295}" type="pres">
      <dgm:prSet presAssocID="{CA80F9A1-B4FC-4623-BCAA-606BF5090B51}" presName="horz1" presStyleCnt="0"/>
      <dgm:spPr/>
    </dgm:pt>
    <dgm:pt modelId="{E93A28E1-A7E0-4912-8C55-1D29019E53A1}" type="pres">
      <dgm:prSet presAssocID="{CA80F9A1-B4FC-4623-BCAA-606BF5090B51}" presName="tx1" presStyleLbl="revTx" presStyleIdx="2" presStyleCnt="4"/>
      <dgm:spPr/>
    </dgm:pt>
    <dgm:pt modelId="{C69C8908-EC6D-44D6-AC4C-3C3C512E8F7B}" type="pres">
      <dgm:prSet presAssocID="{CA80F9A1-B4FC-4623-BCAA-606BF5090B51}" presName="vert1" presStyleCnt="0"/>
      <dgm:spPr/>
    </dgm:pt>
    <dgm:pt modelId="{1B2CC13A-C660-4C92-A6ED-009B13F5E905}" type="pres">
      <dgm:prSet presAssocID="{FA44CCE9-B86E-409E-8040-AF0C9DA25ADF}" presName="thickLine" presStyleLbl="alignNode1" presStyleIdx="3" presStyleCnt="4"/>
      <dgm:spPr/>
    </dgm:pt>
    <dgm:pt modelId="{5D948023-4BDB-46AC-9EFF-638F2E00CC11}" type="pres">
      <dgm:prSet presAssocID="{FA44CCE9-B86E-409E-8040-AF0C9DA25ADF}" presName="horz1" presStyleCnt="0"/>
      <dgm:spPr/>
    </dgm:pt>
    <dgm:pt modelId="{F2EC197A-7B13-4328-BBF6-50997DF3E0DB}" type="pres">
      <dgm:prSet presAssocID="{FA44CCE9-B86E-409E-8040-AF0C9DA25ADF}" presName="tx1" presStyleLbl="revTx" presStyleIdx="3" presStyleCnt="4"/>
      <dgm:spPr/>
    </dgm:pt>
    <dgm:pt modelId="{59BB88DB-15B4-44EA-A803-C94639E7CA3C}" type="pres">
      <dgm:prSet presAssocID="{FA44CCE9-B86E-409E-8040-AF0C9DA25ADF}" presName="vert1" presStyleCnt="0"/>
      <dgm:spPr/>
    </dgm:pt>
  </dgm:ptLst>
  <dgm:cxnLst>
    <dgm:cxn modelId="{96531927-B8FD-4A40-BF21-0C8B67034A60}" srcId="{0E1D4E98-A355-4C85-A1A7-7C3971747BAA}" destId="{9E70B1C0-C127-45D4-BD65-DB576DCC980C}" srcOrd="0" destOrd="0" parTransId="{848E227F-B076-477F-87CA-6955C233E5A3}" sibTransId="{60E002E2-A8E8-4E63-924F-F3C564DCF67B}"/>
    <dgm:cxn modelId="{05E5032E-C8EA-40C2-BBDD-FAFB4A84D05B}" type="presOf" srcId="{22A7AF50-6E64-41F6-9482-86806BAEB67A}" destId="{97704D54-88B8-4B3C-8957-EE960865C671}" srcOrd="0" destOrd="0" presId="urn:microsoft.com/office/officeart/2008/layout/LinedList"/>
    <dgm:cxn modelId="{BCEBEE37-46CD-4DE8-A746-A8618EF1A16C}" type="presOf" srcId="{CA80F9A1-B4FC-4623-BCAA-606BF5090B51}" destId="{E93A28E1-A7E0-4912-8C55-1D29019E53A1}" srcOrd="0" destOrd="0" presId="urn:microsoft.com/office/officeart/2008/layout/LinedList"/>
    <dgm:cxn modelId="{F96FC05E-C0BE-412C-9AC0-B08393159DED}" srcId="{0E1D4E98-A355-4C85-A1A7-7C3971747BAA}" destId="{CA80F9A1-B4FC-4623-BCAA-606BF5090B51}" srcOrd="2" destOrd="0" parTransId="{ACD8BFA1-2686-408F-A0ED-C561E54E6D97}" sibTransId="{0E07E053-F764-410C-8AAC-D8F14A26CE43}"/>
    <dgm:cxn modelId="{7CAE9F4B-5878-42D6-BE96-4468E79FDF9F}" type="presOf" srcId="{FA44CCE9-B86E-409E-8040-AF0C9DA25ADF}" destId="{F2EC197A-7B13-4328-BBF6-50997DF3E0DB}" srcOrd="0" destOrd="0" presId="urn:microsoft.com/office/officeart/2008/layout/LinedList"/>
    <dgm:cxn modelId="{22310B4E-985C-4A9C-B130-5E9665405EB9}" srcId="{0E1D4E98-A355-4C85-A1A7-7C3971747BAA}" destId="{22A7AF50-6E64-41F6-9482-86806BAEB67A}" srcOrd="1" destOrd="0" parTransId="{BD7C6F30-0587-4C83-B63B-9AE8D33BF5D4}" sibTransId="{87785E25-7B8F-43B4-8516-FAD5A575F029}"/>
    <dgm:cxn modelId="{9675794F-6207-4F35-87D2-FB9C4747C815}" type="presOf" srcId="{9E70B1C0-C127-45D4-BD65-DB576DCC980C}" destId="{977ADF00-62DC-4E8D-875E-DF66EE1C2168}" srcOrd="0" destOrd="0" presId="urn:microsoft.com/office/officeart/2008/layout/LinedList"/>
    <dgm:cxn modelId="{4E284BBE-AEAE-4864-919D-D939485B14B4}" srcId="{0E1D4E98-A355-4C85-A1A7-7C3971747BAA}" destId="{FA44CCE9-B86E-409E-8040-AF0C9DA25ADF}" srcOrd="3" destOrd="0" parTransId="{5ECE4236-CF0C-4941-8285-2FEE9800EA5F}" sibTransId="{DEE30A56-65BB-4AB1-BE39-11F289FACB34}"/>
    <dgm:cxn modelId="{BAA8C2D1-0780-4B1B-86F2-18E3264BE0A7}" type="presOf" srcId="{0E1D4E98-A355-4C85-A1A7-7C3971747BAA}" destId="{FE2EBCC3-D062-46EC-8261-2050F57BC0E7}" srcOrd="0" destOrd="0" presId="urn:microsoft.com/office/officeart/2008/layout/LinedList"/>
    <dgm:cxn modelId="{D16EBD5D-BF68-4989-8A92-FE013D44DD18}" type="presParOf" srcId="{FE2EBCC3-D062-46EC-8261-2050F57BC0E7}" destId="{CDE36467-8F81-4672-8A23-534550301F3E}" srcOrd="0" destOrd="0" presId="urn:microsoft.com/office/officeart/2008/layout/LinedList"/>
    <dgm:cxn modelId="{CCAA06B7-A708-48C4-A157-1CADE603BCEA}" type="presParOf" srcId="{FE2EBCC3-D062-46EC-8261-2050F57BC0E7}" destId="{39D78CF0-74C6-4BCB-B0CB-6152DA7E6A40}" srcOrd="1" destOrd="0" presId="urn:microsoft.com/office/officeart/2008/layout/LinedList"/>
    <dgm:cxn modelId="{94143495-98A7-47DE-8E68-2184A3EFF9C1}" type="presParOf" srcId="{39D78CF0-74C6-4BCB-B0CB-6152DA7E6A40}" destId="{977ADF00-62DC-4E8D-875E-DF66EE1C2168}" srcOrd="0" destOrd="0" presId="urn:microsoft.com/office/officeart/2008/layout/LinedList"/>
    <dgm:cxn modelId="{E8B18436-8D19-4FC0-A953-B061DE2FE01E}" type="presParOf" srcId="{39D78CF0-74C6-4BCB-B0CB-6152DA7E6A40}" destId="{1B066691-BE59-4861-ABFF-4FA0885CC4BC}" srcOrd="1" destOrd="0" presId="urn:microsoft.com/office/officeart/2008/layout/LinedList"/>
    <dgm:cxn modelId="{996FB324-291C-4677-B8E7-33017DEA9619}" type="presParOf" srcId="{FE2EBCC3-D062-46EC-8261-2050F57BC0E7}" destId="{0EFF0A58-8DEB-4B2D-9B78-0D5F0C592068}" srcOrd="2" destOrd="0" presId="urn:microsoft.com/office/officeart/2008/layout/LinedList"/>
    <dgm:cxn modelId="{C4C41241-E063-4BF8-80C0-2A924EE71A86}" type="presParOf" srcId="{FE2EBCC3-D062-46EC-8261-2050F57BC0E7}" destId="{52FCA6EA-DBDA-4BBC-A98D-CE04DC3F95F5}" srcOrd="3" destOrd="0" presId="urn:microsoft.com/office/officeart/2008/layout/LinedList"/>
    <dgm:cxn modelId="{D08237BC-BAB0-4033-A4A5-5DED19615F35}" type="presParOf" srcId="{52FCA6EA-DBDA-4BBC-A98D-CE04DC3F95F5}" destId="{97704D54-88B8-4B3C-8957-EE960865C671}" srcOrd="0" destOrd="0" presId="urn:microsoft.com/office/officeart/2008/layout/LinedList"/>
    <dgm:cxn modelId="{06E9AEFB-3DCD-4830-8E71-DFC8F40FB9A4}" type="presParOf" srcId="{52FCA6EA-DBDA-4BBC-A98D-CE04DC3F95F5}" destId="{6F68A516-8110-4413-BFA1-484038FBDB2A}" srcOrd="1" destOrd="0" presId="urn:microsoft.com/office/officeart/2008/layout/LinedList"/>
    <dgm:cxn modelId="{59D94EFD-8103-4EFB-BEF3-6FA82513164A}" type="presParOf" srcId="{FE2EBCC3-D062-46EC-8261-2050F57BC0E7}" destId="{3E94A9BD-213C-4CF2-A95A-380FE7389C9A}" srcOrd="4" destOrd="0" presId="urn:microsoft.com/office/officeart/2008/layout/LinedList"/>
    <dgm:cxn modelId="{701E14FA-DFFB-456F-B398-E6084CF38983}" type="presParOf" srcId="{FE2EBCC3-D062-46EC-8261-2050F57BC0E7}" destId="{ED786255-8950-44FB-BABC-3F7D9CDBD295}" srcOrd="5" destOrd="0" presId="urn:microsoft.com/office/officeart/2008/layout/LinedList"/>
    <dgm:cxn modelId="{BA83122B-B008-4F62-925C-920ECF5660DF}" type="presParOf" srcId="{ED786255-8950-44FB-BABC-3F7D9CDBD295}" destId="{E93A28E1-A7E0-4912-8C55-1D29019E53A1}" srcOrd="0" destOrd="0" presId="urn:microsoft.com/office/officeart/2008/layout/LinedList"/>
    <dgm:cxn modelId="{603F6C49-AB34-473F-87B0-D64C6A8FC72B}" type="presParOf" srcId="{ED786255-8950-44FB-BABC-3F7D9CDBD295}" destId="{C69C8908-EC6D-44D6-AC4C-3C3C512E8F7B}" srcOrd="1" destOrd="0" presId="urn:microsoft.com/office/officeart/2008/layout/LinedList"/>
    <dgm:cxn modelId="{CC55EC9A-3578-468B-B24F-F760C3199EB5}" type="presParOf" srcId="{FE2EBCC3-D062-46EC-8261-2050F57BC0E7}" destId="{1B2CC13A-C660-4C92-A6ED-009B13F5E905}" srcOrd="6" destOrd="0" presId="urn:microsoft.com/office/officeart/2008/layout/LinedList"/>
    <dgm:cxn modelId="{52101B7E-51DB-466C-B069-76FE08C25E15}" type="presParOf" srcId="{FE2EBCC3-D062-46EC-8261-2050F57BC0E7}" destId="{5D948023-4BDB-46AC-9EFF-638F2E00CC11}" srcOrd="7" destOrd="0" presId="urn:microsoft.com/office/officeart/2008/layout/LinedList"/>
    <dgm:cxn modelId="{1445D113-2C92-45D6-9C00-5387F4B9AB68}" type="presParOf" srcId="{5D948023-4BDB-46AC-9EFF-638F2E00CC11}" destId="{F2EC197A-7B13-4328-BBF6-50997DF3E0DB}" srcOrd="0" destOrd="0" presId="urn:microsoft.com/office/officeart/2008/layout/LinedList"/>
    <dgm:cxn modelId="{4073204F-E6D2-4DBE-BAB5-717EC7F775DE}" type="presParOf" srcId="{5D948023-4BDB-46AC-9EFF-638F2E00CC11}" destId="{59BB88DB-15B4-44EA-A803-C94639E7CA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D49B20-6435-4C58-BADC-C607C5CDFC9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AB6FA5-12A8-40A5-B3FF-9E6DD6C8871A}">
      <dgm:prSet/>
      <dgm:spPr/>
      <dgm:t>
        <a:bodyPr/>
        <a:lstStyle/>
        <a:p>
          <a:r>
            <a:rPr lang="en-US"/>
            <a:t>Intuition Bias </a:t>
          </a:r>
        </a:p>
      </dgm:t>
    </dgm:pt>
    <dgm:pt modelId="{DE1330C6-3A9F-4560-959D-FBCF4C77A551}" type="parTrans" cxnId="{34874C81-4177-4995-BBBA-B90E2A525997}">
      <dgm:prSet/>
      <dgm:spPr/>
      <dgm:t>
        <a:bodyPr/>
        <a:lstStyle/>
        <a:p>
          <a:endParaRPr lang="en-US"/>
        </a:p>
      </dgm:t>
    </dgm:pt>
    <dgm:pt modelId="{DA3A1820-3D1F-498A-9054-877065B72E42}" type="sibTrans" cxnId="{34874C81-4177-4995-BBBA-B90E2A525997}">
      <dgm:prSet/>
      <dgm:spPr/>
      <dgm:t>
        <a:bodyPr/>
        <a:lstStyle/>
        <a:p>
          <a:endParaRPr lang="en-US"/>
        </a:p>
      </dgm:t>
    </dgm:pt>
    <dgm:pt modelId="{FE115478-0712-4718-BC87-470A7628AA64}">
      <dgm:prSet/>
      <dgm:spPr/>
      <dgm:t>
        <a:bodyPr/>
        <a:lstStyle/>
        <a:p>
          <a:r>
            <a:rPr lang="en-US"/>
            <a:t>Big Events Bias</a:t>
          </a:r>
        </a:p>
      </dgm:t>
    </dgm:pt>
    <dgm:pt modelId="{8BAF113C-C457-4DBD-8A5A-5DBD9F85A729}" type="parTrans" cxnId="{91C67462-3324-4862-A33B-DA807993C5AF}">
      <dgm:prSet/>
      <dgm:spPr/>
      <dgm:t>
        <a:bodyPr/>
        <a:lstStyle/>
        <a:p>
          <a:endParaRPr lang="en-US"/>
        </a:p>
      </dgm:t>
    </dgm:pt>
    <dgm:pt modelId="{70E003E1-B805-46FD-B27F-CEF142B96E1F}" type="sibTrans" cxnId="{91C67462-3324-4862-A33B-DA807993C5AF}">
      <dgm:prSet/>
      <dgm:spPr/>
      <dgm:t>
        <a:bodyPr/>
        <a:lstStyle/>
        <a:p>
          <a:endParaRPr lang="en-US"/>
        </a:p>
      </dgm:t>
    </dgm:pt>
    <dgm:pt modelId="{5442FC97-E1EB-4044-BE3B-C5000F97D207}">
      <dgm:prSet/>
      <dgm:spPr/>
      <dgm:t>
        <a:bodyPr/>
        <a:lstStyle/>
        <a:p>
          <a:r>
            <a:rPr lang="en-US"/>
            <a:t>Confirmation Bias</a:t>
          </a:r>
        </a:p>
      </dgm:t>
    </dgm:pt>
    <dgm:pt modelId="{C3A64FC3-1671-4CF3-B8C6-9F2038304142}" type="parTrans" cxnId="{C5A4A3F4-84A6-4B43-8A7F-4ADC649FCABD}">
      <dgm:prSet/>
      <dgm:spPr/>
      <dgm:t>
        <a:bodyPr/>
        <a:lstStyle/>
        <a:p>
          <a:endParaRPr lang="en-US"/>
        </a:p>
      </dgm:t>
    </dgm:pt>
    <dgm:pt modelId="{CF010912-1B9A-4D70-BCAC-DB7759EE0D7F}" type="sibTrans" cxnId="{C5A4A3F4-84A6-4B43-8A7F-4ADC649FCABD}">
      <dgm:prSet/>
      <dgm:spPr/>
      <dgm:t>
        <a:bodyPr/>
        <a:lstStyle/>
        <a:p>
          <a:endParaRPr lang="en-US"/>
        </a:p>
      </dgm:t>
    </dgm:pt>
    <dgm:pt modelId="{A5AC783A-F366-4AF3-B482-4842553618B7}">
      <dgm:prSet/>
      <dgm:spPr/>
      <dgm:t>
        <a:bodyPr/>
        <a:lstStyle/>
        <a:p>
          <a:r>
            <a:rPr lang="en-US"/>
            <a:t>In Group Bias</a:t>
          </a:r>
        </a:p>
      </dgm:t>
    </dgm:pt>
    <dgm:pt modelId="{12AE2A93-A64C-4E6F-9C4F-36E14F84A16E}" type="parTrans" cxnId="{778B1C31-0896-4CE8-9478-6987744AB038}">
      <dgm:prSet/>
      <dgm:spPr/>
      <dgm:t>
        <a:bodyPr/>
        <a:lstStyle/>
        <a:p>
          <a:endParaRPr lang="en-US"/>
        </a:p>
      </dgm:t>
    </dgm:pt>
    <dgm:pt modelId="{F1F3FAA0-BC28-4039-9C37-E69422658AA4}" type="sibTrans" cxnId="{778B1C31-0896-4CE8-9478-6987744AB038}">
      <dgm:prSet/>
      <dgm:spPr/>
      <dgm:t>
        <a:bodyPr/>
        <a:lstStyle/>
        <a:p>
          <a:endParaRPr lang="en-US"/>
        </a:p>
      </dgm:t>
    </dgm:pt>
    <dgm:pt modelId="{C373340B-61CB-449B-A182-5085D9E184F0}" type="pres">
      <dgm:prSet presAssocID="{8BD49B20-6435-4C58-BADC-C607C5CDFC9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2038CC-32B1-43A2-9572-42CD30BE68F5}" type="pres">
      <dgm:prSet presAssocID="{01AB6FA5-12A8-40A5-B3FF-9E6DD6C8871A}" presName="hierRoot1" presStyleCnt="0"/>
      <dgm:spPr/>
    </dgm:pt>
    <dgm:pt modelId="{EA0740A8-4B63-43AB-B986-DB159FB2C52D}" type="pres">
      <dgm:prSet presAssocID="{01AB6FA5-12A8-40A5-B3FF-9E6DD6C8871A}" presName="composite" presStyleCnt="0"/>
      <dgm:spPr/>
    </dgm:pt>
    <dgm:pt modelId="{E841D489-AB52-43BA-B856-2D77F9EDCFBB}" type="pres">
      <dgm:prSet presAssocID="{01AB6FA5-12A8-40A5-B3FF-9E6DD6C8871A}" presName="background" presStyleLbl="node0" presStyleIdx="0" presStyleCnt="4"/>
      <dgm:spPr/>
    </dgm:pt>
    <dgm:pt modelId="{4B3F1962-FEB4-4962-A876-7B667293AC6B}" type="pres">
      <dgm:prSet presAssocID="{01AB6FA5-12A8-40A5-B3FF-9E6DD6C8871A}" presName="text" presStyleLbl="fgAcc0" presStyleIdx="0" presStyleCnt="4">
        <dgm:presLayoutVars>
          <dgm:chPref val="3"/>
        </dgm:presLayoutVars>
      </dgm:prSet>
      <dgm:spPr/>
    </dgm:pt>
    <dgm:pt modelId="{F7E93FCC-8429-41A8-86BA-A928697EF9D4}" type="pres">
      <dgm:prSet presAssocID="{01AB6FA5-12A8-40A5-B3FF-9E6DD6C8871A}" presName="hierChild2" presStyleCnt="0"/>
      <dgm:spPr/>
    </dgm:pt>
    <dgm:pt modelId="{15938118-92D7-4576-8A74-C698203076F2}" type="pres">
      <dgm:prSet presAssocID="{FE115478-0712-4718-BC87-470A7628AA64}" presName="hierRoot1" presStyleCnt="0"/>
      <dgm:spPr/>
    </dgm:pt>
    <dgm:pt modelId="{403C84DD-643D-4555-B37C-9CFC671B9B91}" type="pres">
      <dgm:prSet presAssocID="{FE115478-0712-4718-BC87-470A7628AA64}" presName="composite" presStyleCnt="0"/>
      <dgm:spPr/>
    </dgm:pt>
    <dgm:pt modelId="{CD05044C-EDDB-41D9-91A6-3749D44A7C91}" type="pres">
      <dgm:prSet presAssocID="{FE115478-0712-4718-BC87-470A7628AA64}" presName="background" presStyleLbl="node0" presStyleIdx="1" presStyleCnt="4"/>
      <dgm:spPr/>
    </dgm:pt>
    <dgm:pt modelId="{3FBD8FBD-1F57-4A90-99D3-5C485E7B6166}" type="pres">
      <dgm:prSet presAssocID="{FE115478-0712-4718-BC87-470A7628AA64}" presName="text" presStyleLbl="fgAcc0" presStyleIdx="1" presStyleCnt="4">
        <dgm:presLayoutVars>
          <dgm:chPref val="3"/>
        </dgm:presLayoutVars>
      </dgm:prSet>
      <dgm:spPr/>
    </dgm:pt>
    <dgm:pt modelId="{924F520B-283D-448C-AE78-5F1C22A35201}" type="pres">
      <dgm:prSet presAssocID="{FE115478-0712-4718-BC87-470A7628AA64}" presName="hierChild2" presStyleCnt="0"/>
      <dgm:spPr/>
    </dgm:pt>
    <dgm:pt modelId="{945846C2-1197-4E6D-BF87-800C780F223B}" type="pres">
      <dgm:prSet presAssocID="{5442FC97-E1EB-4044-BE3B-C5000F97D207}" presName="hierRoot1" presStyleCnt="0"/>
      <dgm:spPr/>
    </dgm:pt>
    <dgm:pt modelId="{B35364B8-6A73-4098-923D-49150FE31B97}" type="pres">
      <dgm:prSet presAssocID="{5442FC97-E1EB-4044-BE3B-C5000F97D207}" presName="composite" presStyleCnt="0"/>
      <dgm:spPr/>
    </dgm:pt>
    <dgm:pt modelId="{DDFADE3C-D3D4-436D-BC65-A6CC80AF54E7}" type="pres">
      <dgm:prSet presAssocID="{5442FC97-E1EB-4044-BE3B-C5000F97D207}" presName="background" presStyleLbl="node0" presStyleIdx="2" presStyleCnt="4"/>
      <dgm:spPr/>
    </dgm:pt>
    <dgm:pt modelId="{40EE336D-C84F-42B3-BD1D-8AE18F83408F}" type="pres">
      <dgm:prSet presAssocID="{5442FC97-E1EB-4044-BE3B-C5000F97D207}" presName="text" presStyleLbl="fgAcc0" presStyleIdx="2" presStyleCnt="4">
        <dgm:presLayoutVars>
          <dgm:chPref val="3"/>
        </dgm:presLayoutVars>
      </dgm:prSet>
      <dgm:spPr/>
    </dgm:pt>
    <dgm:pt modelId="{7AEAC59A-7322-4DE2-B299-335DC6961315}" type="pres">
      <dgm:prSet presAssocID="{5442FC97-E1EB-4044-BE3B-C5000F97D207}" presName="hierChild2" presStyleCnt="0"/>
      <dgm:spPr/>
    </dgm:pt>
    <dgm:pt modelId="{B8206567-826E-4062-BC2C-E269B6069612}" type="pres">
      <dgm:prSet presAssocID="{A5AC783A-F366-4AF3-B482-4842553618B7}" presName="hierRoot1" presStyleCnt="0"/>
      <dgm:spPr/>
    </dgm:pt>
    <dgm:pt modelId="{EEABE0A9-D655-4DCF-A582-6EAF15E54722}" type="pres">
      <dgm:prSet presAssocID="{A5AC783A-F366-4AF3-B482-4842553618B7}" presName="composite" presStyleCnt="0"/>
      <dgm:spPr/>
    </dgm:pt>
    <dgm:pt modelId="{1259CFB9-18E3-4F5C-B5D4-17B3FFC87C68}" type="pres">
      <dgm:prSet presAssocID="{A5AC783A-F366-4AF3-B482-4842553618B7}" presName="background" presStyleLbl="node0" presStyleIdx="3" presStyleCnt="4"/>
      <dgm:spPr/>
    </dgm:pt>
    <dgm:pt modelId="{C4606E71-C8D3-4CDE-89DD-59BE8EB28D24}" type="pres">
      <dgm:prSet presAssocID="{A5AC783A-F366-4AF3-B482-4842553618B7}" presName="text" presStyleLbl="fgAcc0" presStyleIdx="3" presStyleCnt="4">
        <dgm:presLayoutVars>
          <dgm:chPref val="3"/>
        </dgm:presLayoutVars>
      </dgm:prSet>
      <dgm:spPr/>
    </dgm:pt>
    <dgm:pt modelId="{E3D90871-3399-4B70-89E5-A233935F545A}" type="pres">
      <dgm:prSet presAssocID="{A5AC783A-F366-4AF3-B482-4842553618B7}" presName="hierChild2" presStyleCnt="0"/>
      <dgm:spPr/>
    </dgm:pt>
  </dgm:ptLst>
  <dgm:cxnLst>
    <dgm:cxn modelId="{BAC73A0B-9E43-4815-8009-9E1F75C56AB6}" type="presOf" srcId="{5442FC97-E1EB-4044-BE3B-C5000F97D207}" destId="{40EE336D-C84F-42B3-BD1D-8AE18F83408F}" srcOrd="0" destOrd="0" presId="urn:microsoft.com/office/officeart/2005/8/layout/hierarchy1"/>
    <dgm:cxn modelId="{7394040F-0807-4576-A813-B3C4128206DE}" type="presOf" srcId="{8BD49B20-6435-4C58-BADC-C607C5CDFC92}" destId="{C373340B-61CB-449B-A182-5085D9E184F0}" srcOrd="0" destOrd="0" presId="urn:microsoft.com/office/officeart/2005/8/layout/hierarchy1"/>
    <dgm:cxn modelId="{778B1C31-0896-4CE8-9478-6987744AB038}" srcId="{8BD49B20-6435-4C58-BADC-C607C5CDFC92}" destId="{A5AC783A-F366-4AF3-B482-4842553618B7}" srcOrd="3" destOrd="0" parTransId="{12AE2A93-A64C-4E6F-9C4F-36E14F84A16E}" sibTransId="{F1F3FAA0-BC28-4039-9C37-E69422658AA4}"/>
    <dgm:cxn modelId="{91C67462-3324-4862-A33B-DA807993C5AF}" srcId="{8BD49B20-6435-4C58-BADC-C607C5CDFC92}" destId="{FE115478-0712-4718-BC87-470A7628AA64}" srcOrd="1" destOrd="0" parTransId="{8BAF113C-C457-4DBD-8A5A-5DBD9F85A729}" sibTransId="{70E003E1-B805-46FD-B27F-CEF142B96E1F}"/>
    <dgm:cxn modelId="{A2A91C75-53DF-4100-8E19-ADA700420778}" type="presOf" srcId="{A5AC783A-F366-4AF3-B482-4842553618B7}" destId="{C4606E71-C8D3-4CDE-89DD-59BE8EB28D24}" srcOrd="0" destOrd="0" presId="urn:microsoft.com/office/officeart/2005/8/layout/hierarchy1"/>
    <dgm:cxn modelId="{ABA68D7A-F085-4AE7-A298-3B32F35127BC}" type="presOf" srcId="{01AB6FA5-12A8-40A5-B3FF-9E6DD6C8871A}" destId="{4B3F1962-FEB4-4962-A876-7B667293AC6B}" srcOrd="0" destOrd="0" presId="urn:microsoft.com/office/officeart/2005/8/layout/hierarchy1"/>
    <dgm:cxn modelId="{34874C81-4177-4995-BBBA-B90E2A525997}" srcId="{8BD49B20-6435-4C58-BADC-C607C5CDFC92}" destId="{01AB6FA5-12A8-40A5-B3FF-9E6DD6C8871A}" srcOrd="0" destOrd="0" parTransId="{DE1330C6-3A9F-4560-959D-FBCF4C77A551}" sibTransId="{DA3A1820-3D1F-498A-9054-877065B72E42}"/>
    <dgm:cxn modelId="{8AB12899-2B6C-4208-A89D-75658128C6D2}" type="presOf" srcId="{FE115478-0712-4718-BC87-470A7628AA64}" destId="{3FBD8FBD-1F57-4A90-99D3-5C485E7B6166}" srcOrd="0" destOrd="0" presId="urn:microsoft.com/office/officeart/2005/8/layout/hierarchy1"/>
    <dgm:cxn modelId="{C5A4A3F4-84A6-4B43-8A7F-4ADC649FCABD}" srcId="{8BD49B20-6435-4C58-BADC-C607C5CDFC92}" destId="{5442FC97-E1EB-4044-BE3B-C5000F97D207}" srcOrd="2" destOrd="0" parTransId="{C3A64FC3-1671-4CF3-B8C6-9F2038304142}" sibTransId="{CF010912-1B9A-4D70-BCAC-DB7759EE0D7F}"/>
    <dgm:cxn modelId="{EAAD7B24-2975-4A67-9D21-261C6BBDD9D2}" type="presParOf" srcId="{C373340B-61CB-449B-A182-5085D9E184F0}" destId="{CE2038CC-32B1-43A2-9572-42CD30BE68F5}" srcOrd="0" destOrd="0" presId="urn:microsoft.com/office/officeart/2005/8/layout/hierarchy1"/>
    <dgm:cxn modelId="{95B302C5-61FD-4F5D-B8C9-B3FDFFDE16FF}" type="presParOf" srcId="{CE2038CC-32B1-43A2-9572-42CD30BE68F5}" destId="{EA0740A8-4B63-43AB-B986-DB159FB2C52D}" srcOrd="0" destOrd="0" presId="urn:microsoft.com/office/officeart/2005/8/layout/hierarchy1"/>
    <dgm:cxn modelId="{C0165E81-EF85-4534-B835-AFAB8E64C2C0}" type="presParOf" srcId="{EA0740A8-4B63-43AB-B986-DB159FB2C52D}" destId="{E841D489-AB52-43BA-B856-2D77F9EDCFBB}" srcOrd="0" destOrd="0" presId="urn:microsoft.com/office/officeart/2005/8/layout/hierarchy1"/>
    <dgm:cxn modelId="{AF447A90-DDEA-4A6F-AF9D-62F5B2C25F21}" type="presParOf" srcId="{EA0740A8-4B63-43AB-B986-DB159FB2C52D}" destId="{4B3F1962-FEB4-4962-A876-7B667293AC6B}" srcOrd="1" destOrd="0" presId="urn:microsoft.com/office/officeart/2005/8/layout/hierarchy1"/>
    <dgm:cxn modelId="{A699BF95-C3F0-496A-9AD8-F2400B8D70BB}" type="presParOf" srcId="{CE2038CC-32B1-43A2-9572-42CD30BE68F5}" destId="{F7E93FCC-8429-41A8-86BA-A928697EF9D4}" srcOrd="1" destOrd="0" presId="urn:microsoft.com/office/officeart/2005/8/layout/hierarchy1"/>
    <dgm:cxn modelId="{F730EAF6-D519-46C6-9BB9-455CAFD13D96}" type="presParOf" srcId="{C373340B-61CB-449B-A182-5085D9E184F0}" destId="{15938118-92D7-4576-8A74-C698203076F2}" srcOrd="1" destOrd="0" presId="urn:microsoft.com/office/officeart/2005/8/layout/hierarchy1"/>
    <dgm:cxn modelId="{02044EDB-177A-43E3-B85D-61C32AD65926}" type="presParOf" srcId="{15938118-92D7-4576-8A74-C698203076F2}" destId="{403C84DD-643D-4555-B37C-9CFC671B9B91}" srcOrd="0" destOrd="0" presId="urn:microsoft.com/office/officeart/2005/8/layout/hierarchy1"/>
    <dgm:cxn modelId="{11206F02-4B7F-4E53-9D86-FCD882E774C7}" type="presParOf" srcId="{403C84DD-643D-4555-B37C-9CFC671B9B91}" destId="{CD05044C-EDDB-41D9-91A6-3749D44A7C91}" srcOrd="0" destOrd="0" presId="urn:microsoft.com/office/officeart/2005/8/layout/hierarchy1"/>
    <dgm:cxn modelId="{7890CC5F-15B6-48D0-941D-9F965FA92796}" type="presParOf" srcId="{403C84DD-643D-4555-B37C-9CFC671B9B91}" destId="{3FBD8FBD-1F57-4A90-99D3-5C485E7B6166}" srcOrd="1" destOrd="0" presId="urn:microsoft.com/office/officeart/2005/8/layout/hierarchy1"/>
    <dgm:cxn modelId="{A909B072-2A46-4C61-AAAD-88ABB60E80E4}" type="presParOf" srcId="{15938118-92D7-4576-8A74-C698203076F2}" destId="{924F520B-283D-448C-AE78-5F1C22A35201}" srcOrd="1" destOrd="0" presId="urn:microsoft.com/office/officeart/2005/8/layout/hierarchy1"/>
    <dgm:cxn modelId="{CD19ABDB-50B7-442B-99D5-B4E4DD9FDBA3}" type="presParOf" srcId="{C373340B-61CB-449B-A182-5085D9E184F0}" destId="{945846C2-1197-4E6D-BF87-800C780F223B}" srcOrd="2" destOrd="0" presId="urn:microsoft.com/office/officeart/2005/8/layout/hierarchy1"/>
    <dgm:cxn modelId="{62D3E550-0BFA-440C-97B9-035A0F3E659C}" type="presParOf" srcId="{945846C2-1197-4E6D-BF87-800C780F223B}" destId="{B35364B8-6A73-4098-923D-49150FE31B97}" srcOrd="0" destOrd="0" presId="urn:microsoft.com/office/officeart/2005/8/layout/hierarchy1"/>
    <dgm:cxn modelId="{7225FC37-71B5-4047-BA0B-43174C319329}" type="presParOf" srcId="{B35364B8-6A73-4098-923D-49150FE31B97}" destId="{DDFADE3C-D3D4-436D-BC65-A6CC80AF54E7}" srcOrd="0" destOrd="0" presId="urn:microsoft.com/office/officeart/2005/8/layout/hierarchy1"/>
    <dgm:cxn modelId="{8B7B1CCD-CC6E-432C-A9CB-0ED4BC966D10}" type="presParOf" srcId="{B35364B8-6A73-4098-923D-49150FE31B97}" destId="{40EE336D-C84F-42B3-BD1D-8AE18F83408F}" srcOrd="1" destOrd="0" presId="urn:microsoft.com/office/officeart/2005/8/layout/hierarchy1"/>
    <dgm:cxn modelId="{638C9F04-1D26-4AA3-A385-7F64A29B2847}" type="presParOf" srcId="{945846C2-1197-4E6D-BF87-800C780F223B}" destId="{7AEAC59A-7322-4DE2-B299-335DC6961315}" srcOrd="1" destOrd="0" presId="urn:microsoft.com/office/officeart/2005/8/layout/hierarchy1"/>
    <dgm:cxn modelId="{6CEBEF4A-DCFB-4CD1-A8B5-1F7BDB8F610A}" type="presParOf" srcId="{C373340B-61CB-449B-A182-5085D9E184F0}" destId="{B8206567-826E-4062-BC2C-E269B6069612}" srcOrd="3" destOrd="0" presId="urn:microsoft.com/office/officeart/2005/8/layout/hierarchy1"/>
    <dgm:cxn modelId="{5C414F07-48D8-41C8-A057-3DDF13AA51D4}" type="presParOf" srcId="{B8206567-826E-4062-BC2C-E269B6069612}" destId="{EEABE0A9-D655-4DCF-A582-6EAF15E54722}" srcOrd="0" destOrd="0" presId="urn:microsoft.com/office/officeart/2005/8/layout/hierarchy1"/>
    <dgm:cxn modelId="{2F86CDAE-37A1-41B8-833A-BECF4B7FB3D2}" type="presParOf" srcId="{EEABE0A9-D655-4DCF-A582-6EAF15E54722}" destId="{1259CFB9-18E3-4F5C-B5D4-17B3FFC87C68}" srcOrd="0" destOrd="0" presId="urn:microsoft.com/office/officeart/2005/8/layout/hierarchy1"/>
    <dgm:cxn modelId="{7FCF7461-B060-4032-B7F5-597F4D133B12}" type="presParOf" srcId="{EEABE0A9-D655-4DCF-A582-6EAF15E54722}" destId="{C4606E71-C8D3-4CDE-89DD-59BE8EB28D24}" srcOrd="1" destOrd="0" presId="urn:microsoft.com/office/officeart/2005/8/layout/hierarchy1"/>
    <dgm:cxn modelId="{B4193E98-04B2-4EAF-8111-669E2806DE5D}" type="presParOf" srcId="{B8206567-826E-4062-BC2C-E269B6069612}" destId="{E3D90871-3399-4B70-89E5-A233935F545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36467-8F81-4672-8A23-534550301F3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ADF00-62DC-4E8D-875E-DF66EE1C2168}">
      <dsp:nvSpPr>
        <dsp:cNvPr id="0" name=""/>
        <dsp:cNvSpPr/>
      </dsp:nvSpPr>
      <dsp:spPr>
        <a:xfrm>
          <a:off x="0" y="0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Connection to mental health concerns</a:t>
          </a:r>
        </a:p>
      </dsp:txBody>
      <dsp:txXfrm>
        <a:off x="0" y="0"/>
        <a:ext cx="10515600" cy="1088136"/>
      </dsp:txXfrm>
    </dsp:sp>
    <dsp:sp modelId="{0EFF0A58-8DEB-4B2D-9B78-0D5F0C592068}">
      <dsp:nvSpPr>
        <dsp:cNvPr id="0" name=""/>
        <dsp:cNvSpPr/>
      </dsp:nvSpPr>
      <dsp:spPr>
        <a:xfrm>
          <a:off x="0" y="108813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04D54-88B8-4B3C-8957-EE960865C671}">
      <dsp:nvSpPr>
        <dsp:cNvPr id="0" name=""/>
        <dsp:cNvSpPr/>
      </dsp:nvSpPr>
      <dsp:spPr>
        <a:xfrm>
          <a:off x="0" y="1088136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The strong association that beliefs drive behavior</a:t>
          </a:r>
        </a:p>
      </dsp:txBody>
      <dsp:txXfrm>
        <a:off x="0" y="1088136"/>
        <a:ext cx="10515600" cy="1088136"/>
      </dsp:txXfrm>
    </dsp:sp>
    <dsp:sp modelId="{3E94A9BD-213C-4CF2-A95A-380FE7389C9A}">
      <dsp:nvSpPr>
        <dsp:cNvPr id="0" name=""/>
        <dsp:cNvSpPr/>
      </dsp:nvSpPr>
      <dsp:spPr>
        <a:xfrm>
          <a:off x="0" y="2176272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A28E1-A7E0-4912-8C55-1D29019E53A1}">
      <dsp:nvSpPr>
        <dsp:cNvPr id="0" name=""/>
        <dsp:cNvSpPr/>
      </dsp:nvSpPr>
      <dsp:spPr>
        <a:xfrm>
          <a:off x="0" y="2176272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Association of deviant beliefs with “outsiders”</a:t>
          </a:r>
        </a:p>
      </dsp:txBody>
      <dsp:txXfrm>
        <a:off x="0" y="2176272"/>
        <a:ext cx="10515600" cy="1088136"/>
      </dsp:txXfrm>
    </dsp:sp>
    <dsp:sp modelId="{1B2CC13A-C660-4C92-A6ED-009B13F5E905}">
      <dsp:nvSpPr>
        <dsp:cNvPr id="0" name=""/>
        <dsp:cNvSpPr/>
      </dsp:nvSpPr>
      <dsp:spPr>
        <a:xfrm>
          <a:off x="0" y="3264408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C197A-7B13-4328-BBF6-50997DF3E0DB}">
      <dsp:nvSpPr>
        <dsp:cNvPr id="0" name=""/>
        <dsp:cNvSpPr/>
      </dsp:nvSpPr>
      <dsp:spPr>
        <a:xfrm>
          <a:off x="0" y="3264408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Concern about dissemination and influence </a:t>
          </a:r>
        </a:p>
      </dsp:txBody>
      <dsp:txXfrm>
        <a:off x="0" y="3264408"/>
        <a:ext cx="10515600" cy="1088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1D489-AB52-43BA-B856-2D77F9EDCFB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F1962-FEB4-4962-A876-7B667293AC6B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Intuition Bias </a:t>
          </a:r>
        </a:p>
      </dsp:txBody>
      <dsp:txXfrm>
        <a:off x="299702" y="1282093"/>
        <a:ext cx="2200851" cy="1366505"/>
      </dsp:txXfrm>
    </dsp:sp>
    <dsp:sp modelId="{CD05044C-EDDB-41D9-91A6-3749D44A7C9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D8FBD-1F57-4A90-99D3-5C485E7B6166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Big Events Bias</a:t>
          </a:r>
        </a:p>
      </dsp:txBody>
      <dsp:txXfrm>
        <a:off x="3093555" y="1282093"/>
        <a:ext cx="2200851" cy="1366505"/>
      </dsp:txXfrm>
    </dsp:sp>
    <dsp:sp modelId="{DDFADE3C-D3D4-436D-BC65-A6CC80AF54E7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E336D-C84F-42B3-BD1D-8AE18F83408F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Confirmation Bias</a:t>
          </a:r>
        </a:p>
      </dsp:txBody>
      <dsp:txXfrm>
        <a:off x="5887408" y="1282093"/>
        <a:ext cx="2200851" cy="1366505"/>
      </dsp:txXfrm>
    </dsp:sp>
    <dsp:sp modelId="{1259CFB9-18E3-4F5C-B5D4-17B3FFC87C68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06E71-C8D3-4CDE-89DD-59BE8EB28D24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 Group Bias</a:t>
          </a:r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0953B-F108-45FE-8AA6-462FF6986892}" type="datetimeFigureOut">
              <a:rPr lang="en-GB" smtClean="0"/>
              <a:pPr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D7E80-62F6-4E05-B202-A8B76BE616E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two dollar bill analyzed for secret symbols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30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Images: Kuhn’s Cycle of Scientific Revolution and a person in scrubs washing their hands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739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The Creation of Adam by Michelangelo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60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Supreme Court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hand image 1990 food pyramid, right hand 2026 food pyramid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301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starting far left, clockwise: Three “aliens”, sign designed as a parking placard for people who have been healed, Doctorate certificate in parapsychology, article on human combustion, ad for the TV show “Long Island Medium”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590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map showing Mattress Firm locations in Chicago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15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Two members of the People’s Temple outside signage at Jonestown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07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Jim Jones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01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Housing units at Jonestown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D7E80-62F6-4E05-B202-A8B76BE616E2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12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BB73A-DD9E-49C2-A3AC-7B3CA6603D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69A6B-4EF8-4F00-BEE6-6698CA42F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37A9B-EFC5-45C7-8EC2-F529EEA0E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927A7-517A-4DE4-8FC6-5FFC6FD138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AE789-3BAD-4143-971B-4864AAC3B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109AA-04BC-4959-9AE1-50B3029AF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C1F9B-6194-4F72-9704-414F92F4C6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EADA8-F86F-4D5D-B8D2-21675BC97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33337-D053-4EE5-A31D-A9FE9ED956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2A4DE-095C-4F24-AFB9-1D52D3F7F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1FAAC-2877-452F-B61E-D79F4B74DF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D87E059-A510-413A-AD05-FB55D132F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82D0716-2CAD-8569-9955-871E97B00F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15" r="11234" b="497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Cognitive Deviance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(unconventional beliefs) 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A70F4F6-8761-4016-931A-4535464E4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98954" y="954285"/>
            <a:ext cx="8216646" cy="14640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dirty="0"/>
              <a:t>Beliefs risk being evaluated negatively when: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298955" y="2743200"/>
            <a:ext cx="7884829" cy="2761504"/>
          </a:xfrm>
        </p:spPr>
        <p:txBody>
          <a:bodyPr anchor="t">
            <a:noAutofit/>
          </a:bodyPr>
          <a:lstStyle/>
          <a:p>
            <a:pPr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They represent a minority view in a given collective</a:t>
            </a:r>
          </a:p>
          <a:p>
            <a:pPr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Are associated with other negative traits or attitudes</a:t>
            </a:r>
          </a:p>
          <a:p>
            <a:pPr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Are expressed in a particular setting and to a particular audience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C49FD3-CD95-4BA4-8BD3-B4A4C6844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15537" y="73153"/>
            <a:ext cx="884223" cy="232963"/>
            <a:chOff x="5422392" y="64008"/>
            <a:chExt cx="1178966" cy="232963"/>
          </a:xfrm>
        </p:grpSpPr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194125EE-68A0-44AF-9565-81EF0F311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22213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47D98E13-5DFC-4FC3-B217-18D7503F2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22213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4">
              <a:extLst>
                <a:ext uri="{FF2B5EF4-FFF2-40B4-BE49-F238E27FC236}">
                  <a16:creationId xmlns:a16="http://schemas.microsoft.com/office/drawing/2014/main" id="{1208B249-52C1-45B2-94CA-7FCF767BD5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8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6">
              <a:extLst>
                <a:ext uri="{FF2B5EF4-FFF2-40B4-BE49-F238E27FC236}">
                  <a16:creationId xmlns:a16="http://schemas.microsoft.com/office/drawing/2014/main" id="{8E8EC538-BB99-4192-A555-FD23D92C5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8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4">
              <a:extLst>
                <a:ext uri="{FF2B5EF4-FFF2-40B4-BE49-F238E27FC236}">
                  <a16:creationId xmlns:a16="http://schemas.microsoft.com/office/drawing/2014/main" id="{C818F7CD-D8C3-4B0E-8332-5F5D23675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72303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66">
              <a:extLst>
                <a:ext uri="{FF2B5EF4-FFF2-40B4-BE49-F238E27FC236}">
                  <a16:creationId xmlns:a16="http://schemas.microsoft.com/office/drawing/2014/main" id="{BA3A1026-C945-44C7-95BC-3BF4551EF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72303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64">
              <a:extLst>
                <a:ext uri="{FF2B5EF4-FFF2-40B4-BE49-F238E27FC236}">
                  <a16:creationId xmlns:a16="http://schemas.microsoft.com/office/drawing/2014/main" id="{E7A2271E-1BF0-4DBF-BDC5-8205DFE2B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47347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66">
              <a:extLst>
                <a:ext uri="{FF2B5EF4-FFF2-40B4-BE49-F238E27FC236}">
                  <a16:creationId xmlns:a16="http://schemas.microsoft.com/office/drawing/2014/main" id="{FC359C9B-D7DB-4D67-BC20-0ED526C67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47347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64">
              <a:extLst>
                <a:ext uri="{FF2B5EF4-FFF2-40B4-BE49-F238E27FC236}">
                  <a16:creationId xmlns:a16="http://schemas.microsoft.com/office/drawing/2014/main" id="{5DA7CDCF-326D-40F3-9FA1-F6B696E8F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22392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66">
              <a:extLst>
                <a:ext uri="{FF2B5EF4-FFF2-40B4-BE49-F238E27FC236}">
                  <a16:creationId xmlns:a16="http://schemas.microsoft.com/office/drawing/2014/main" id="{42EAB6A2-C79F-4E11-BA2B-823945037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22392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64">
              <a:extLst>
                <a:ext uri="{FF2B5EF4-FFF2-40B4-BE49-F238E27FC236}">
                  <a16:creationId xmlns:a16="http://schemas.microsoft.com/office/drawing/2014/main" id="{0409AE1C-32E7-42F0-8174-D8EC28D1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46990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66">
              <a:extLst>
                <a:ext uri="{FF2B5EF4-FFF2-40B4-BE49-F238E27FC236}">
                  <a16:creationId xmlns:a16="http://schemas.microsoft.com/office/drawing/2014/main" id="{6D094018-4CC4-4507-BD21-223B12217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46990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64">
              <a:extLst>
                <a:ext uri="{FF2B5EF4-FFF2-40B4-BE49-F238E27FC236}">
                  <a16:creationId xmlns:a16="http://schemas.microsoft.com/office/drawing/2014/main" id="{4971B5B3-87D2-49C1-9AD0-984AF7579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22035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66">
              <a:extLst>
                <a:ext uri="{FF2B5EF4-FFF2-40B4-BE49-F238E27FC236}">
                  <a16:creationId xmlns:a16="http://schemas.microsoft.com/office/drawing/2014/main" id="{7F8CC77F-5D16-46D1-9E76-844D3D54B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22035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64">
              <a:extLst>
                <a:ext uri="{FF2B5EF4-FFF2-40B4-BE49-F238E27FC236}">
                  <a16:creationId xmlns:a16="http://schemas.microsoft.com/office/drawing/2014/main" id="{3136B198-9314-404B-9B2A-B12F1C81E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97080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66">
              <a:extLst>
                <a:ext uri="{FF2B5EF4-FFF2-40B4-BE49-F238E27FC236}">
                  <a16:creationId xmlns:a16="http://schemas.microsoft.com/office/drawing/2014/main" id="{3AD2B785-CD5F-4846-8278-FD202F83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97080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64">
              <a:extLst>
                <a:ext uri="{FF2B5EF4-FFF2-40B4-BE49-F238E27FC236}">
                  <a16:creationId xmlns:a16="http://schemas.microsoft.com/office/drawing/2014/main" id="{3C6BD3BE-D8A5-4561-9641-5F579267C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72124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66">
              <a:extLst>
                <a:ext uri="{FF2B5EF4-FFF2-40B4-BE49-F238E27FC236}">
                  <a16:creationId xmlns:a16="http://schemas.microsoft.com/office/drawing/2014/main" id="{883722C6-0687-4FBC-924C-022C334B35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72124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64">
              <a:extLst>
                <a:ext uri="{FF2B5EF4-FFF2-40B4-BE49-F238E27FC236}">
                  <a16:creationId xmlns:a16="http://schemas.microsoft.com/office/drawing/2014/main" id="{50E3342E-EFDF-4EE7-A275-A46FE15FD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47169" y="6400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66">
              <a:extLst>
                <a:ext uri="{FF2B5EF4-FFF2-40B4-BE49-F238E27FC236}">
                  <a16:creationId xmlns:a16="http://schemas.microsoft.com/office/drawing/2014/main" id="{02A591D3-77C5-427A-84E7-5040F9C17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47169" y="237744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3233985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7186"/>
            <a:ext cx="10515600" cy="1860400"/>
          </a:xfr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Relativity of Cognitive Deviance: </a:t>
            </a:r>
            <a:b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From Unconventional to Conventional </a:t>
            </a:r>
          </a:p>
        </p:txBody>
      </p:sp>
      <p:pic>
        <p:nvPicPr>
          <p:cNvPr id="4" name="Picture 3" descr="kuhn scientifi9c revolu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4" y="2365285"/>
            <a:ext cx="5165581" cy="3938756"/>
          </a:xfrm>
          <a:prstGeom prst="rect">
            <a:avLst/>
          </a:prstGeom>
        </p:spPr>
      </p:pic>
      <p:pic>
        <p:nvPicPr>
          <p:cNvPr id="7" name="Picture 6" descr="doctors washing hand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506" y="2365285"/>
            <a:ext cx="5514258" cy="3938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Rear-view of rows of people watching a film in a theater">
            <a:extLst>
              <a:ext uri="{FF2B5EF4-FFF2-40B4-BE49-F238E27FC236}">
                <a16:creationId xmlns:a16="http://schemas.microsoft.com/office/drawing/2014/main" id="{38B9C8D9-0A3D-46FC-6AB7-87C197FD4B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42" r="23298" b="304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8F402-FDED-7784-5BE2-7CB4D484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1"/>
                </a:solidFill>
              </a:rPr>
              <a:t>The Contextuality of Cognitive Deviance: setting and audience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47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mammal, laying&#10;&#10;Description automatically generated">
            <a:extLst>
              <a:ext uri="{FF2B5EF4-FFF2-40B4-BE49-F238E27FC236}">
                <a16:creationId xmlns:a16="http://schemas.microsoft.com/office/drawing/2014/main" id="{7821EB22-CC71-A131-6C26-EC11C7D868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11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102BD-E233-0372-1655-5516207D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10786534" cy="3569242"/>
          </a:xfrm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FFFF"/>
                </a:solidFill>
              </a:rPr>
              <a:t>Creationism, Intelligent Design, and Scientific Evolution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(as an example of consensus and mutual deviantization in beliefs)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2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upreme court.jpg"/>
          <p:cNvPicPr>
            <a:picLocks noChangeAspect="1"/>
          </p:cNvPicPr>
          <p:nvPr/>
        </p:nvPicPr>
        <p:blipFill rotWithShape="1">
          <a:blip r:embed="rId3"/>
          <a:srcRect t="6883" b="8847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0600"/>
            <a:ext cx="10058400" cy="1371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200" dirty="0">
                <a:solidFill>
                  <a:srgbClr val="FFFFFF"/>
                </a:solidFill>
              </a:rPr>
              <a:t>Institutionalizing Belief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ld Food Pyramid Vs New: See Versions From 1980, 1992, MyPlate, RFK -  Business Insider">
            <a:extLst>
              <a:ext uri="{FF2B5EF4-FFF2-40B4-BE49-F238E27FC236}">
                <a16:creationId xmlns:a16="http://schemas.microsoft.com/office/drawing/2014/main" id="{0C97179A-E903-E7B3-29A4-190168EE93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4" r="4005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87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5FEFFF5-E4E9-F8F8-0394-52019441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rPr lang="en-US" sz="4800"/>
              <a:t>Why the concern about deviant beliefs?</a:t>
            </a:r>
          </a:p>
        </p:txBody>
      </p:sp>
      <p:graphicFrame>
        <p:nvGraphicFramePr>
          <p:cNvPr id="17" name="Content Placeholder 14">
            <a:extLst>
              <a:ext uri="{FF2B5EF4-FFF2-40B4-BE49-F238E27FC236}">
                <a16:creationId xmlns:a16="http://schemas.microsoft.com/office/drawing/2014/main" id="{E3223110-357F-E00C-5FCF-6A4ACFB8F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92920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2B17-4338-8524-300A-5580985D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Relationship Between Social Conditions and Belief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6E6C-3E59-8CD4-89D0-D64440D9D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material world: includes things like money, technology, resources, natural environments</a:t>
            </a:r>
          </a:p>
          <a:p>
            <a:r>
              <a:rPr lang="en-US" dirty="0"/>
              <a:t>The ideational world: includes things like values, thoughts, beliefs, symbols</a:t>
            </a:r>
          </a:p>
          <a:p>
            <a:r>
              <a:rPr lang="en-US" dirty="0"/>
              <a:t>Material/economic determinism: the material world directs the ideational world </a:t>
            </a:r>
          </a:p>
          <a:p>
            <a:r>
              <a:rPr lang="en-US" dirty="0"/>
              <a:t>Elective affinity: the material world and the ideational world complement and strengthen one another</a:t>
            </a:r>
          </a:p>
        </p:txBody>
      </p:sp>
    </p:spTree>
    <p:extLst>
      <p:ext uri="{BB962C8B-B14F-4D97-AF65-F5344CB8AC3E}">
        <p14:creationId xmlns:p14="http://schemas.microsoft.com/office/powerpoint/2010/main" val="281129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b="1"/>
              <a:t>Paranormal Beliefs</a:t>
            </a:r>
            <a:r>
              <a:rPr lang="en-US" sz="2500"/>
              <a:t>: explanations for phenomena found in popular culture, lore, or non-scientific bodies of knowledge that are generally outside of observable human experience or counter current scientific explanation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400" dirty="0"/>
              <a:t>How are deviant beliefs advanced?</a:t>
            </a:r>
          </a:p>
          <a:p>
            <a:pPr lvl="1"/>
            <a:r>
              <a:rPr lang="en-US" sz="2400" b="1" dirty="0"/>
              <a:t>By individuals (i.e., “the crank”)</a:t>
            </a:r>
          </a:p>
          <a:p>
            <a:pPr lvl="1"/>
            <a:r>
              <a:rPr lang="en-US" sz="2400" b="1" dirty="0"/>
              <a:t>Within religious traditions (i.e., faith healers)</a:t>
            </a:r>
          </a:p>
          <a:p>
            <a:pPr lvl="1"/>
            <a:r>
              <a:rPr lang="en-US" sz="2400" b="1" dirty="0"/>
              <a:t>Through client-practitioner relationships (i.e., psychics)</a:t>
            </a:r>
          </a:p>
          <a:p>
            <a:pPr lvl="1"/>
            <a:r>
              <a:rPr lang="en-US" sz="2400" b="1" dirty="0"/>
              <a:t>Through parapsychology researchers (i.e., ghost hunters)</a:t>
            </a:r>
          </a:p>
          <a:p>
            <a:pPr lvl="1"/>
            <a:r>
              <a:rPr lang="en-US" sz="2400" b="1" dirty="0"/>
              <a:t>Through grass roots collective of believers (i.e., alien abductees)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64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liens-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9" y="737809"/>
            <a:ext cx="3122143" cy="228696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diplom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518" y="701565"/>
            <a:ext cx="3252903" cy="236648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ng island medi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49" y="3819656"/>
            <a:ext cx="3104943" cy="2328707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healing-park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676" y="999396"/>
            <a:ext cx="3252903" cy="487326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F4FFA271-A10A-4AC3-8F06-E3313A19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uman combust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3518" y="4003521"/>
            <a:ext cx="3252903" cy="19680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43005"/>
          </a:xfr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Conspiracy Theory:  a belief that powerful groups/organizations are acting in secret to cause events against the interests of the public. The belief is advanced despite the implausibility of the claim or even when evidence disputes it</a:t>
            </a:r>
          </a:p>
        </p:txBody>
      </p:sp>
      <p:sp>
        <p:nvSpPr>
          <p:cNvPr id="7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1143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Characteristics: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Interesting narrative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Treacherous goals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Actions hidden or under “cloak of legitimacy”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Highly resourced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Sense of urgency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Evidence loop</a:t>
            </a:r>
          </a:p>
          <a:p>
            <a:pPr marL="1143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Picture 4" descr="mattress firm.jpg"/>
          <p:cNvPicPr>
            <a:picLocks noChangeAspect="1"/>
          </p:cNvPicPr>
          <p:nvPr/>
        </p:nvPicPr>
        <p:blipFill rotWithShape="1">
          <a:blip r:embed="rId3"/>
          <a:srcRect r="27846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Biases and Belief in the Paranormal and Conspiracy Theories</a:t>
            </a:r>
          </a:p>
        </p:txBody>
      </p:sp>
      <p:graphicFrame>
        <p:nvGraphicFramePr>
          <p:cNvPr id="14" name="Content Placeholder 11">
            <a:extLst>
              <a:ext uri="{FF2B5EF4-FFF2-40B4-BE49-F238E27FC236}">
                <a16:creationId xmlns:a16="http://schemas.microsoft.com/office/drawing/2014/main" id="{83BFEBA6-AA4D-45FE-BC7B-665556DB4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822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dirty="0"/>
              <a:t>Newly Emerging Religions/New Religious Movements</a:t>
            </a:r>
            <a:br>
              <a:rPr lang="en-US" sz="3000" b="1" dirty="0"/>
            </a:br>
            <a:r>
              <a:rPr lang="en-US" sz="3000" b="1" dirty="0"/>
              <a:t>(“Cults”) </a:t>
            </a:r>
          </a:p>
        </p:txBody>
      </p:sp>
      <p:sp>
        <p:nvSpPr>
          <p:cNvPr id="4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latin typeface="+mn-lt"/>
                <a:ea typeface="+mn-ea"/>
              </a:rPr>
              <a:t>Typical Interest Groups that Inform the Public about NERs: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endParaRPr lang="en-US" sz="2200" b="1" dirty="0">
              <a:latin typeface="+mn-lt"/>
              <a:ea typeface="+mn-ea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  <a:ea typeface="+mn-ea"/>
              </a:rPr>
              <a:t>The “anti-cult” movement</a:t>
            </a:r>
          </a:p>
          <a:p>
            <a:pPr marL="34290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  <a:ea typeface="+mn-ea"/>
              </a:rPr>
              <a:t>The media</a:t>
            </a:r>
          </a:p>
          <a:p>
            <a:pPr marL="34290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  <a:ea typeface="+mn-ea"/>
              </a:rPr>
              <a:t>NERs themselves</a:t>
            </a:r>
          </a:p>
          <a:p>
            <a:pPr marL="34290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  <a:ea typeface="+mn-ea"/>
              </a:rPr>
              <a:t>Academics</a:t>
            </a:r>
          </a:p>
        </p:txBody>
      </p:sp>
      <p:pic>
        <p:nvPicPr>
          <p:cNvPr id="3" name="Picture 2" descr="A group of people holding a sign&#10;&#10;Description automatically generated with medium confidence">
            <a:extLst>
              <a:ext uri="{FF2B5EF4-FFF2-40B4-BE49-F238E27FC236}">
                <a16:creationId xmlns:a16="http://schemas.microsoft.com/office/drawing/2014/main" id="{D4F3427A-4CDF-E915-FBC5-98F3027C67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69" r="12886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63890" cy="1434415"/>
          </a:xfr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2900" dirty="0"/>
            </a:br>
            <a:r>
              <a:rPr lang="en-US" sz="3200" b="1" dirty="0"/>
              <a:t>Groups that risk being labeled a “cult”: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  <a:gd name="csX0" fmla="*/ 0 w 8229600"/>
              <a:gd name="csY0" fmla="*/ 0 h 18288"/>
              <a:gd name="csX1" fmla="*/ 521208 w 8229600"/>
              <a:gd name="csY1" fmla="*/ 0 h 18288"/>
              <a:gd name="csX2" fmla="*/ 960120 w 8229600"/>
              <a:gd name="csY2" fmla="*/ 0 h 18288"/>
              <a:gd name="csX3" fmla="*/ 1481328 w 8229600"/>
              <a:gd name="csY3" fmla="*/ 0 h 18288"/>
              <a:gd name="csX4" fmla="*/ 2167128 w 8229600"/>
              <a:gd name="csY4" fmla="*/ 0 h 18288"/>
              <a:gd name="csX5" fmla="*/ 2935224 w 8229600"/>
              <a:gd name="csY5" fmla="*/ 0 h 18288"/>
              <a:gd name="csX6" fmla="*/ 3785616 w 8229600"/>
              <a:gd name="csY6" fmla="*/ 0 h 18288"/>
              <a:gd name="csX7" fmla="*/ 4636008 w 8229600"/>
              <a:gd name="csY7" fmla="*/ 0 h 18288"/>
              <a:gd name="csX8" fmla="*/ 5239512 w 8229600"/>
              <a:gd name="csY8" fmla="*/ 0 h 18288"/>
              <a:gd name="csX9" fmla="*/ 6007608 w 8229600"/>
              <a:gd name="csY9" fmla="*/ 0 h 18288"/>
              <a:gd name="csX10" fmla="*/ 6693408 w 8229600"/>
              <a:gd name="csY10" fmla="*/ 0 h 18288"/>
              <a:gd name="csX11" fmla="*/ 7296912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626096 w 8229600"/>
              <a:gd name="csY14" fmla="*/ 18288 h 18288"/>
              <a:gd name="csX15" fmla="*/ 7022592 w 8229600"/>
              <a:gd name="csY15" fmla="*/ 18288 h 18288"/>
              <a:gd name="csX16" fmla="*/ 6172200 w 8229600"/>
              <a:gd name="csY16" fmla="*/ 18288 h 18288"/>
              <a:gd name="csX17" fmla="*/ 5650992 w 8229600"/>
              <a:gd name="csY17" fmla="*/ 18288 h 18288"/>
              <a:gd name="csX18" fmla="*/ 4882896 w 8229600"/>
              <a:gd name="csY18" fmla="*/ 18288 h 18288"/>
              <a:gd name="csX19" fmla="*/ 4443984 w 8229600"/>
              <a:gd name="csY19" fmla="*/ 18288 h 18288"/>
              <a:gd name="csX20" fmla="*/ 3758184 w 8229600"/>
              <a:gd name="csY20" fmla="*/ 18288 h 18288"/>
              <a:gd name="csX21" fmla="*/ 3236976 w 8229600"/>
              <a:gd name="csY21" fmla="*/ 18288 h 18288"/>
              <a:gd name="csX22" fmla="*/ 2386584 w 8229600"/>
              <a:gd name="csY22" fmla="*/ 18288 h 18288"/>
              <a:gd name="csX23" fmla="*/ 1947672 w 8229600"/>
              <a:gd name="csY23" fmla="*/ 18288 h 18288"/>
              <a:gd name="csX24" fmla="*/ 1261872 w 8229600"/>
              <a:gd name="csY24" fmla="*/ 18288 h 18288"/>
              <a:gd name="csX25" fmla="*/ 822960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953369" y="2071316"/>
            <a:ext cx="5514231" cy="45481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latin typeface="+mn-lt"/>
                <a:ea typeface="+mn-ea"/>
              </a:rPr>
              <a:t>Groups that appear to break with or diverge from traditional religious practice or doctrine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b="1" dirty="0">
              <a:latin typeface="+mn-lt"/>
              <a:ea typeface="+mn-ea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latin typeface="+mn-lt"/>
                <a:ea typeface="+mn-ea"/>
              </a:rPr>
              <a:t>Groups that have a charismatic leader, strict hierarchy, and “encapsulated” leadership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b="1" dirty="0">
              <a:latin typeface="+mn-lt"/>
              <a:ea typeface="+mn-ea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latin typeface="+mn-lt"/>
                <a:ea typeface="+mn-ea"/>
              </a:rPr>
              <a:t>Groups that demand a high level of commitment and loyalty from members 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b="1" dirty="0">
              <a:latin typeface="+mn-lt"/>
              <a:ea typeface="+mn-ea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latin typeface="+mn-lt"/>
                <a:ea typeface="+mn-ea"/>
              </a:rPr>
              <a:t>Groups that purport that their doctrine provides the singular pathway to answer all major life questions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b="1" dirty="0">
              <a:latin typeface="+mn-lt"/>
              <a:ea typeface="+mn-ea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latin typeface="+mn-lt"/>
                <a:ea typeface="+mn-ea"/>
              </a:rPr>
              <a:t>Groups that require members to isolate from non-members, other social organizations, and stress privacy from outside scrutiny</a:t>
            </a:r>
            <a:endParaRPr lang="en-US" sz="2600" dirty="0">
              <a:latin typeface="+mn-lt"/>
              <a:ea typeface="+mn-ea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+mn-lt"/>
              <a:ea typeface="+mn-ea"/>
            </a:endParaRPr>
          </a:p>
        </p:txBody>
      </p:sp>
      <p:pic>
        <p:nvPicPr>
          <p:cNvPr id="3" name="Picture 2" descr="A person wearing sunglasses&#10;&#10;Description automatically generated">
            <a:extLst>
              <a:ext uri="{FF2B5EF4-FFF2-40B4-BE49-F238E27FC236}">
                <a16:creationId xmlns:a16="http://schemas.microsoft.com/office/drawing/2014/main" id="{DB769C6B-05EF-8F67-69C6-7F47157AD6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396" r="18163" b="-1"/>
          <a:stretch/>
        </p:blipFill>
        <p:spPr>
          <a:xfrm>
            <a:off x="7696200" y="2093976"/>
            <a:ext cx="2540341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1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48200" y="228600"/>
            <a:ext cx="5848350" cy="495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Models of Recruitment: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Deliberative model</a:t>
            </a:r>
            <a:r>
              <a:rPr lang="en-US" dirty="0"/>
              <a:t>: people join because they agree with beliefs/goals of the group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Psychodynamic model</a:t>
            </a:r>
            <a:r>
              <a:rPr lang="en-US" dirty="0"/>
              <a:t>: people join because the group satisfies (potentially unrecognized) psychological or emotional needs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Thought reform model</a:t>
            </a:r>
            <a:r>
              <a:rPr lang="en-US" dirty="0"/>
              <a:t>: people join because they are manipulated or unduly influenced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4294967295"/>
          </p:nvPr>
        </p:nvSpPr>
        <p:spPr>
          <a:xfrm>
            <a:off x="1695450" y="228600"/>
            <a:ext cx="2950464" cy="4953000"/>
          </a:xfrm>
          <a:solidFill>
            <a:schemeClr val="accent5">
              <a:lumMod val="40000"/>
              <a:lumOff val="60000"/>
            </a:schemeClr>
          </a:solidFill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 b="1" dirty="0"/>
              <a:t>Who Joins?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dirty="0"/>
              <a:t>Existing interpersonal bonds with members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dirty="0"/>
              <a:t>During transitional times/experiences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dirty="0"/>
              <a:t>Social grievances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dirty="0"/>
              <a:t>Initial positive rewards</a:t>
            </a:r>
          </a:p>
        </p:txBody>
      </p:sp>
    </p:spTree>
    <p:extLst>
      <p:ext uri="{BB962C8B-B14F-4D97-AF65-F5344CB8AC3E}">
        <p14:creationId xmlns:p14="http://schemas.microsoft.com/office/powerpoint/2010/main" val="130896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DD380-194A-691C-82E7-62763086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3807187" cy="2228074"/>
          </a:xfrm>
        </p:spPr>
        <p:txBody>
          <a:bodyPr>
            <a:normAutofit/>
          </a:bodyPr>
          <a:lstStyle/>
          <a:p>
            <a:r>
              <a:rPr lang="en-US" sz="4000" dirty="0"/>
              <a:t>Social Control within NRMs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F58B2-1D63-B021-1A02-B59A3D81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2279"/>
            <a:ext cx="3799425" cy="3143241"/>
          </a:xfrm>
        </p:spPr>
        <p:txBody>
          <a:bodyPr>
            <a:noAutofit/>
          </a:bodyPr>
          <a:lstStyle/>
          <a:p>
            <a:r>
              <a:rPr lang="en-US" b="1" dirty="0"/>
              <a:t>Behavioral Controls</a:t>
            </a:r>
          </a:p>
          <a:p>
            <a:r>
              <a:rPr lang="en-US" b="1" dirty="0"/>
              <a:t>Informational Controls</a:t>
            </a:r>
          </a:p>
          <a:p>
            <a:r>
              <a:rPr lang="en-US" b="1" dirty="0"/>
              <a:t>Thought Controls</a:t>
            </a:r>
          </a:p>
          <a:p>
            <a:r>
              <a:rPr lang="en-US" b="1" dirty="0"/>
              <a:t>Emotional Controls</a:t>
            </a:r>
          </a:p>
        </p:txBody>
      </p:sp>
      <p:pic>
        <p:nvPicPr>
          <p:cNvPr id="5" name="Picture 4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175B1558-8A43-A2BC-8857-B589A6F1B0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28" r="20165" b="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65392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4200</TotalTime>
  <Words>684</Words>
  <Application>Microsoft Office PowerPoint</Application>
  <PresentationFormat>Widescreen</PresentationFormat>
  <Paragraphs>93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Cognitive Deviance (unconventional beliefs)  </vt:lpstr>
      <vt:lpstr>Beliefs risk being evaluated negatively when:</vt:lpstr>
      <vt:lpstr>The Relativity of Cognitive Deviance:  From Unconventional to Conventional </vt:lpstr>
      <vt:lpstr>The Contextuality of Cognitive Deviance: setting and audience</vt:lpstr>
      <vt:lpstr>Creationism, Intelligent Design, and Scientific Evolution  (as an example of consensus and mutual deviantization in beliefs)</vt:lpstr>
      <vt:lpstr>Institutionalizing Belief</vt:lpstr>
      <vt:lpstr>PowerPoint Presentation</vt:lpstr>
      <vt:lpstr>Why the concern about deviant beliefs?</vt:lpstr>
      <vt:lpstr>The Relationship Between Social Conditions and Belief Systems</vt:lpstr>
      <vt:lpstr>Paranormal Beliefs: explanations for phenomena found in popular culture, lore, or non-scientific bodies of knowledge that are generally outside of observable human experience or counter current scientific explanation</vt:lpstr>
      <vt:lpstr>PowerPoint Presentation</vt:lpstr>
      <vt:lpstr>Conspiracy Theory:  a belief that powerful groups/organizations are acting in secret to cause events against the interests of the public. The belief is advanced despite the implausibility of the claim or even when evidence disputes it</vt:lpstr>
      <vt:lpstr>Biases and Belief in the Paranormal and Conspiracy Theories</vt:lpstr>
      <vt:lpstr>Newly Emerging Religions/New Religious Movements (“Cults”) </vt:lpstr>
      <vt:lpstr> Groups that risk being labeled a “cult”: </vt:lpstr>
      <vt:lpstr>PowerPoint Presentation</vt:lpstr>
      <vt:lpstr>Social Control within NRMs</vt:lpstr>
    </vt:vector>
  </TitlesOfParts>
  <Company>Orion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Kahn Tietz</dc:creator>
  <cp:lastModifiedBy>Linda McAllister</cp:lastModifiedBy>
  <cp:revision>356</cp:revision>
  <dcterms:created xsi:type="dcterms:W3CDTF">2009-04-02T22:02:50Z</dcterms:created>
  <dcterms:modified xsi:type="dcterms:W3CDTF">2026-08-14T23:19:08Z</dcterms:modified>
</cp:coreProperties>
</file>