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97" r:id="rId3"/>
    <p:sldId id="306" r:id="rId4"/>
    <p:sldId id="292" r:id="rId5"/>
    <p:sldId id="298" r:id="rId6"/>
    <p:sldId id="294" r:id="rId7"/>
    <p:sldId id="291" r:id="rId8"/>
    <p:sldId id="299" r:id="rId9"/>
    <p:sldId id="300" r:id="rId10"/>
    <p:sldId id="301" r:id="rId11"/>
    <p:sldId id="279" r:id="rId12"/>
    <p:sldId id="288" r:id="rId13"/>
    <p:sldId id="307" r:id="rId14"/>
    <p:sldId id="302" r:id="rId15"/>
    <p:sldId id="303" r:id="rId16"/>
    <p:sldId id="304" r:id="rId17"/>
    <p:sldId id="308" r:id="rId18"/>
    <p:sldId id="309" r:id="rId19"/>
    <p:sldId id="30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026" y="6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3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#1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#2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#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#1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750CAC-48D0-42EB-887E-D0DAD5913A05}" type="doc">
      <dgm:prSet loTypeId="urn:microsoft.com/office/officeart/2008/layout/LinedList" loCatId="list" qsTypeId="urn:microsoft.com/office/officeart/2005/8/quickstyle/simple1#69" qsCatId="simple" csTypeId="urn:microsoft.com/office/officeart/2005/8/colors/accent1_2#33" csCatId="accent1"/>
      <dgm:spPr/>
      <dgm:t>
        <a:bodyPr/>
        <a:lstStyle/>
        <a:p>
          <a:endParaRPr lang="en-US"/>
        </a:p>
      </dgm:t>
    </dgm:pt>
    <dgm:pt modelId="{E1AE5754-AC4A-4239-A33A-6C7F21E6C7ED}">
      <dgm:prSet/>
      <dgm:spPr/>
      <dgm:t>
        <a:bodyPr/>
        <a:lstStyle/>
        <a:p>
          <a:r>
            <a:rPr lang="en-US" b="1"/>
            <a:t>Relative</a:t>
          </a:r>
          <a:r>
            <a:rPr lang="en-US"/>
            <a:t>: varies across time and place (when and where)</a:t>
          </a:r>
        </a:p>
      </dgm:t>
    </dgm:pt>
    <dgm:pt modelId="{5601DF47-A6EB-4E5F-B671-0175F75F55D5}" type="parTrans" cxnId="{8D5C71B6-DBCD-4815-8C2B-99CE6437DBF6}">
      <dgm:prSet/>
      <dgm:spPr/>
      <dgm:t>
        <a:bodyPr/>
        <a:lstStyle/>
        <a:p>
          <a:endParaRPr lang="en-US"/>
        </a:p>
      </dgm:t>
    </dgm:pt>
    <dgm:pt modelId="{CF68D741-F557-4F41-A11C-513C9364233D}" type="sibTrans" cxnId="{8D5C71B6-DBCD-4815-8C2B-99CE6437DBF6}">
      <dgm:prSet/>
      <dgm:spPr/>
      <dgm:t>
        <a:bodyPr/>
        <a:lstStyle/>
        <a:p>
          <a:endParaRPr lang="en-US"/>
        </a:p>
      </dgm:t>
    </dgm:pt>
    <dgm:pt modelId="{9BB64AB1-D9B8-4C8F-A1E0-D2A7E272A703}">
      <dgm:prSet/>
      <dgm:spPr/>
      <dgm:t>
        <a:bodyPr/>
        <a:lstStyle/>
        <a:p>
          <a:r>
            <a:rPr lang="en-US" b="1"/>
            <a:t>Contextual</a:t>
          </a:r>
          <a:r>
            <a:rPr lang="en-US"/>
            <a:t>: depends on specific social situations (settings)</a:t>
          </a:r>
        </a:p>
      </dgm:t>
    </dgm:pt>
    <dgm:pt modelId="{D8FC0F57-13F0-47D0-9402-B942243E1C15}" type="parTrans" cxnId="{ABF05B3D-963D-4EE9-AEBC-526EA9FD3806}">
      <dgm:prSet/>
      <dgm:spPr/>
      <dgm:t>
        <a:bodyPr/>
        <a:lstStyle/>
        <a:p>
          <a:endParaRPr lang="en-US"/>
        </a:p>
      </dgm:t>
    </dgm:pt>
    <dgm:pt modelId="{22E834D0-C319-4BD2-ADCE-419E16F39665}" type="sibTrans" cxnId="{ABF05B3D-963D-4EE9-AEBC-526EA9FD3806}">
      <dgm:prSet/>
      <dgm:spPr/>
      <dgm:t>
        <a:bodyPr/>
        <a:lstStyle/>
        <a:p>
          <a:endParaRPr lang="en-US"/>
        </a:p>
      </dgm:t>
    </dgm:pt>
    <dgm:pt modelId="{304AAD2C-2568-4E0B-97E8-6F97DA3285CB}">
      <dgm:prSet/>
      <dgm:spPr/>
      <dgm:t>
        <a:bodyPr/>
        <a:lstStyle/>
        <a:p>
          <a:r>
            <a:rPr lang="en-US" b="1"/>
            <a:t>Contingent</a:t>
          </a:r>
          <a:r>
            <a:rPr lang="en-US"/>
            <a:t>: depends on factors outside of behavior, attitudes, or characteristics (statuses)</a:t>
          </a:r>
        </a:p>
      </dgm:t>
    </dgm:pt>
    <dgm:pt modelId="{7940346C-9649-4765-92F1-78647F8CBE56}" type="parTrans" cxnId="{4FBDE8D6-77C9-44B3-97B9-0C0739203D96}">
      <dgm:prSet/>
      <dgm:spPr/>
      <dgm:t>
        <a:bodyPr/>
        <a:lstStyle/>
        <a:p>
          <a:endParaRPr lang="en-US"/>
        </a:p>
      </dgm:t>
    </dgm:pt>
    <dgm:pt modelId="{E0E6CA46-C986-4A49-9DB9-F972B4FD333A}" type="sibTrans" cxnId="{4FBDE8D6-77C9-44B3-97B9-0C0739203D96}">
      <dgm:prSet/>
      <dgm:spPr/>
      <dgm:t>
        <a:bodyPr/>
        <a:lstStyle/>
        <a:p>
          <a:endParaRPr lang="en-US"/>
        </a:p>
      </dgm:t>
    </dgm:pt>
    <dgm:pt modelId="{EDB131F0-0738-4D20-BA19-9E8F243E148C}">
      <dgm:prSet/>
      <dgm:spPr/>
      <dgm:t>
        <a:bodyPr/>
        <a:lstStyle/>
        <a:p>
          <a:r>
            <a:rPr lang="en-US" b="1"/>
            <a:t>Probabilistic</a:t>
          </a:r>
          <a:r>
            <a:rPr lang="en-US"/>
            <a:t>: likely but not definitive</a:t>
          </a:r>
        </a:p>
      </dgm:t>
    </dgm:pt>
    <dgm:pt modelId="{FF69645D-E70E-41DE-ABBB-98073315565A}" type="parTrans" cxnId="{50AB8948-840A-4A1D-B8E8-49E7B2FD5B4D}">
      <dgm:prSet/>
      <dgm:spPr/>
      <dgm:t>
        <a:bodyPr/>
        <a:lstStyle/>
        <a:p>
          <a:endParaRPr lang="en-US"/>
        </a:p>
      </dgm:t>
    </dgm:pt>
    <dgm:pt modelId="{8B7589BB-6038-409C-82E2-3B74D63D3B69}" type="sibTrans" cxnId="{50AB8948-840A-4A1D-B8E8-49E7B2FD5B4D}">
      <dgm:prSet/>
      <dgm:spPr/>
      <dgm:t>
        <a:bodyPr/>
        <a:lstStyle/>
        <a:p>
          <a:endParaRPr lang="en-US"/>
        </a:p>
      </dgm:t>
    </dgm:pt>
    <dgm:pt modelId="{C402E12A-CB63-4B39-9C8A-82726529F2E0}" type="pres">
      <dgm:prSet presAssocID="{2B750CAC-48D0-42EB-887E-D0DAD5913A05}" presName="vert0" presStyleCnt="0">
        <dgm:presLayoutVars>
          <dgm:dir/>
          <dgm:animOne val="branch"/>
          <dgm:animLvl val="lvl"/>
        </dgm:presLayoutVars>
      </dgm:prSet>
      <dgm:spPr/>
    </dgm:pt>
    <dgm:pt modelId="{535743AE-D26D-4FDB-88F1-C33602B6BF05}" type="pres">
      <dgm:prSet presAssocID="{E1AE5754-AC4A-4239-A33A-6C7F21E6C7ED}" presName="thickLine" presStyleLbl="alignNode1" presStyleIdx="0" presStyleCnt="4"/>
      <dgm:spPr/>
    </dgm:pt>
    <dgm:pt modelId="{CF949E6E-BF0F-41C5-BBA9-A9A6BF5A4998}" type="pres">
      <dgm:prSet presAssocID="{E1AE5754-AC4A-4239-A33A-6C7F21E6C7ED}" presName="horz1" presStyleCnt="0"/>
      <dgm:spPr/>
    </dgm:pt>
    <dgm:pt modelId="{014AD227-C9EE-46B9-B3BA-7536B586C1F4}" type="pres">
      <dgm:prSet presAssocID="{E1AE5754-AC4A-4239-A33A-6C7F21E6C7ED}" presName="tx1" presStyleLbl="revTx" presStyleIdx="0" presStyleCnt="4"/>
      <dgm:spPr/>
    </dgm:pt>
    <dgm:pt modelId="{4134F9B7-8AB1-4FDE-9996-EC2747A49639}" type="pres">
      <dgm:prSet presAssocID="{E1AE5754-AC4A-4239-A33A-6C7F21E6C7ED}" presName="vert1" presStyleCnt="0"/>
      <dgm:spPr/>
    </dgm:pt>
    <dgm:pt modelId="{26475679-001A-4F99-8267-2462CFAC6325}" type="pres">
      <dgm:prSet presAssocID="{9BB64AB1-D9B8-4C8F-A1E0-D2A7E272A703}" presName="thickLine" presStyleLbl="alignNode1" presStyleIdx="1" presStyleCnt="4"/>
      <dgm:spPr/>
    </dgm:pt>
    <dgm:pt modelId="{46FCFABE-8082-45E4-8BED-79DE4503EE1F}" type="pres">
      <dgm:prSet presAssocID="{9BB64AB1-D9B8-4C8F-A1E0-D2A7E272A703}" presName="horz1" presStyleCnt="0"/>
      <dgm:spPr/>
    </dgm:pt>
    <dgm:pt modelId="{1B06F819-5572-466B-B103-876B32F154E1}" type="pres">
      <dgm:prSet presAssocID="{9BB64AB1-D9B8-4C8F-A1E0-D2A7E272A703}" presName="tx1" presStyleLbl="revTx" presStyleIdx="1" presStyleCnt="4"/>
      <dgm:spPr/>
    </dgm:pt>
    <dgm:pt modelId="{A3C2282A-2EF6-4788-9213-F859A7BA9698}" type="pres">
      <dgm:prSet presAssocID="{9BB64AB1-D9B8-4C8F-A1E0-D2A7E272A703}" presName="vert1" presStyleCnt="0"/>
      <dgm:spPr/>
    </dgm:pt>
    <dgm:pt modelId="{8994A450-D7F2-42C0-A2D5-450FBB346533}" type="pres">
      <dgm:prSet presAssocID="{304AAD2C-2568-4E0B-97E8-6F97DA3285CB}" presName="thickLine" presStyleLbl="alignNode1" presStyleIdx="2" presStyleCnt="4"/>
      <dgm:spPr/>
    </dgm:pt>
    <dgm:pt modelId="{313C0DF4-A0EC-4129-9637-B81656414D17}" type="pres">
      <dgm:prSet presAssocID="{304AAD2C-2568-4E0B-97E8-6F97DA3285CB}" presName="horz1" presStyleCnt="0"/>
      <dgm:spPr/>
    </dgm:pt>
    <dgm:pt modelId="{FE084E95-55CC-43FF-B407-B2E2F14FFE05}" type="pres">
      <dgm:prSet presAssocID="{304AAD2C-2568-4E0B-97E8-6F97DA3285CB}" presName="tx1" presStyleLbl="revTx" presStyleIdx="2" presStyleCnt="4"/>
      <dgm:spPr/>
    </dgm:pt>
    <dgm:pt modelId="{91F2008A-99D7-45F5-90FB-A41C6F24F8AC}" type="pres">
      <dgm:prSet presAssocID="{304AAD2C-2568-4E0B-97E8-6F97DA3285CB}" presName="vert1" presStyleCnt="0"/>
      <dgm:spPr/>
    </dgm:pt>
    <dgm:pt modelId="{DC117926-EDB5-49DA-A892-2767A011008E}" type="pres">
      <dgm:prSet presAssocID="{EDB131F0-0738-4D20-BA19-9E8F243E148C}" presName="thickLine" presStyleLbl="alignNode1" presStyleIdx="3" presStyleCnt="4"/>
      <dgm:spPr/>
    </dgm:pt>
    <dgm:pt modelId="{0E254DF6-F5A4-42E8-BF8A-4680927C9709}" type="pres">
      <dgm:prSet presAssocID="{EDB131F0-0738-4D20-BA19-9E8F243E148C}" presName="horz1" presStyleCnt="0"/>
      <dgm:spPr/>
    </dgm:pt>
    <dgm:pt modelId="{64754D24-9F72-4306-87AF-43B47FFD32A4}" type="pres">
      <dgm:prSet presAssocID="{EDB131F0-0738-4D20-BA19-9E8F243E148C}" presName="tx1" presStyleLbl="revTx" presStyleIdx="3" presStyleCnt="4"/>
      <dgm:spPr/>
    </dgm:pt>
    <dgm:pt modelId="{E4A943A1-24E8-47BF-A44A-B11089118202}" type="pres">
      <dgm:prSet presAssocID="{EDB131F0-0738-4D20-BA19-9E8F243E148C}" presName="vert1" presStyleCnt="0"/>
      <dgm:spPr/>
    </dgm:pt>
  </dgm:ptLst>
  <dgm:cxnLst>
    <dgm:cxn modelId="{ABF05B3D-963D-4EE9-AEBC-526EA9FD3806}" srcId="{2B750CAC-48D0-42EB-887E-D0DAD5913A05}" destId="{9BB64AB1-D9B8-4C8F-A1E0-D2A7E272A703}" srcOrd="1" destOrd="0" parTransId="{D8FC0F57-13F0-47D0-9402-B942243E1C15}" sibTransId="{22E834D0-C319-4BD2-ADCE-419E16F39665}"/>
    <dgm:cxn modelId="{CC618263-6F58-4A36-A6CD-F91247EE64E4}" type="presOf" srcId="{E1AE5754-AC4A-4239-A33A-6C7F21E6C7ED}" destId="{014AD227-C9EE-46B9-B3BA-7536B586C1F4}" srcOrd="0" destOrd="0" presId="urn:microsoft.com/office/officeart/2008/layout/LinedList"/>
    <dgm:cxn modelId="{A994A747-467C-4472-80C8-E4A30927BD1C}" type="presOf" srcId="{2B750CAC-48D0-42EB-887E-D0DAD5913A05}" destId="{C402E12A-CB63-4B39-9C8A-82726529F2E0}" srcOrd="0" destOrd="0" presId="urn:microsoft.com/office/officeart/2008/layout/LinedList"/>
    <dgm:cxn modelId="{50AB8948-840A-4A1D-B8E8-49E7B2FD5B4D}" srcId="{2B750CAC-48D0-42EB-887E-D0DAD5913A05}" destId="{EDB131F0-0738-4D20-BA19-9E8F243E148C}" srcOrd="3" destOrd="0" parTransId="{FF69645D-E70E-41DE-ABBB-98073315565A}" sibTransId="{8B7589BB-6038-409C-82E2-3B74D63D3B69}"/>
    <dgm:cxn modelId="{FCCE1479-5E33-4DD6-B8C6-2B4FCAFF2EA6}" type="presOf" srcId="{304AAD2C-2568-4E0B-97E8-6F97DA3285CB}" destId="{FE084E95-55CC-43FF-B407-B2E2F14FFE05}" srcOrd="0" destOrd="0" presId="urn:microsoft.com/office/officeart/2008/layout/LinedList"/>
    <dgm:cxn modelId="{9578809E-68D0-4CE3-9D0A-7B8C024025D2}" type="presOf" srcId="{9BB64AB1-D9B8-4C8F-A1E0-D2A7E272A703}" destId="{1B06F819-5572-466B-B103-876B32F154E1}" srcOrd="0" destOrd="0" presId="urn:microsoft.com/office/officeart/2008/layout/LinedList"/>
    <dgm:cxn modelId="{8D5C71B6-DBCD-4815-8C2B-99CE6437DBF6}" srcId="{2B750CAC-48D0-42EB-887E-D0DAD5913A05}" destId="{E1AE5754-AC4A-4239-A33A-6C7F21E6C7ED}" srcOrd="0" destOrd="0" parTransId="{5601DF47-A6EB-4E5F-B671-0175F75F55D5}" sibTransId="{CF68D741-F557-4F41-A11C-513C9364233D}"/>
    <dgm:cxn modelId="{4FBDE8D6-77C9-44B3-97B9-0C0739203D96}" srcId="{2B750CAC-48D0-42EB-887E-D0DAD5913A05}" destId="{304AAD2C-2568-4E0B-97E8-6F97DA3285CB}" srcOrd="2" destOrd="0" parTransId="{7940346C-9649-4765-92F1-78647F8CBE56}" sibTransId="{E0E6CA46-C986-4A49-9DB9-F972B4FD333A}"/>
    <dgm:cxn modelId="{9F933FFD-A9F0-464F-AA14-B2A2AAF3A841}" type="presOf" srcId="{EDB131F0-0738-4D20-BA19-9E8F243E148C}" destId="{64754D24-9F72-4306-87AF-43B47FFD32A4}" srcOrd="0" destOrd="0" presId="urn:microsoft.com/office/officeart/2008/layout/LinedList"/>
    <dgm:cxn modelId="{1D196D6A-EA92-40EC-A80A-49D8374AFDD4}" type="presParOf" srcId="{C402E12A-CB63-4B39-9C8A-82726529F2E0}" destId="{535743AE-D26D-4FDB-88F1-C33602B6BF05}" srcOrd="0" destOrd="0" presId="urn:microsoft.com/office/officeart/2008/layout/LinedList"/>
    <dgm:cxn modelId="{857B7198-0D24-472D-8529-702B4698F1CA}" type="presParOf" srcId="{C402E12A-CB63-4B39-9C8A-82726529F2E0}" destId="{CF949E6E-BF0F-41C5-BBA9-A9A6BF5A4998}" srcOrd="1" destOrd="0" presId="urn:microsoft.com/office/officeart/2008/layout/LinedList"/>
    <dgm:cxn modelId="{B0DB183E-8C72-490A-8F8C-E44217128FD7}" type="presParOf" srcId="{CF949E6E-BF0F-41C5-BBA9-A9A6BF5A4998}" destId="{014AD227-C9EE-46B9-B3BA-7536B586C1F4}" srcOrd="0" destOrd="0" presId="urn:microsoft.com/office/officeart/2008/layout/LinedList"/>
    <dgm:cxn modelId="{26B9E551-8220-4CC0-9E93-2FA405719D74}" type="presParOf" srcId="{CF949E6E-BF0F-41C5-BBA9-A9A6BF5A4998}" destId="{4134F9B7-8AB1-4FDE-9996-EC2747A49639}" srcOrd="1" destOrd="0" presId="urn:microsoft.com/office/officeart/2008/layout/LinedList"/>
    <dgm:cxn modelId="{3D2659CB-8F66-4337-8750-04102F770393}" type="presParOf" srcId="{C402E12A-CB63-4B39-9C8A-82726529F2E0}" destId="{26475679-001A-4F99-8267-2462CFAC6325}" srcOrd="2" destOrd="0" presId="urn:microsoft.com/office/officeart/2008/layout/LinedList"/>
    <dgm:cxn modelId="{41AEA07F-B230-452D-AAF9-58D8361F424F}" type="presParOf" srcId="{C402E12A-CB63-4B39-9C8A-82726529F2E0}" destId="{46FCFABE-8082-45E4-8BED-79DE4503EE1F}" srcOrd="3" destOrd="0" presId="urn:microsoft.com/office/officeart/2008/layout/LinedList"/>
    <dgm:cxn modelId="{0B6F7996-7B36-4C2E-9D1E-AE313F8AE1A2}" type="presParOf" srcId="{46FCFABE-8082-45E4-8BED-79DE4503EE1F}" destId="{1B06F819-5572-466B-B103-876B32F154E1}" srcOrd="0" destOrd="0" presId="urn:microsoft.com/office/officeart/2008/layout/LinedList"/>
    <dgm:cxn modelId="{06B808DE-EE5B-4062-8D06-BEDF006B745E}" type="presParOf" srcId="{46FCFABE-8082-45E4-8BED-79DE4503EE1F}" destId="{A3C2282A-2EF6-4788-9213-F859A7BA9698}" srcOrd="1" destOrd="0" presId="urn:microsoft.com/office/officeart/2008/layout/LinedList"/>
    <dgm:cxn modelId="{5F96A2E2-600C-44F7-9349-068F901D7B16}" type="presParOf" srcId="{C402E12A-CB63-4B39-9C8A-82726529F2E0}" destId="{8994A450-D7F2-42C0-A2D5-450FBB346533}" srcOrd="4" destOrd="0" presId="urn:microsoft.com/office/officeart/2008/layout/LinedList"/>
    <dgm:cxn modelId="{0A3677D9-B883-4F19-8F7D-26ACD8A236D9}" type="presParOf" srcId="{C402E12A-CB63-4B39-9C8A-82726529F2E0}" destId="{313C0DF4-A0EC-4129-9637-B81656414D17}" srcOrd="5" destOrd="0" presId="urn:microsoft.com/office/officeart/2008/layout/LinedList"/>
    <dgm:cxn modelId="{97B941C9-0988-4BFB-802A-922D2AE32D48}" type="presParOf" srcId="{313C0DF4-A0EC-4129-9637-B81656414D17}" destId="{FE084E95-55CC-43FF-B407-B2E2F14FFE05}" srcOrd="0" destOrd="0" presId="urn:microsoft.com/office/officeart/2008/layout/LinedList"/>
    <dgm:cxn modelId="{E7C47169-599A-4837-A9DA-842092B52756}" type="presParOf" srcId="{313C0DF4-A0EC-4129-9637-B81656414D17}" destId="{91F2008A-99D7-45F5-90FB-A41C6F24F8AC}" srcOrd="1" destOrd="0" presId="urn:microsoft.com/office/officeart/2008/layout/LinedList"/>
    <dgm:cxn modelId="{34FBBE25-C64D-41CA-865F-FD0D8C1E4D1F}" type="presParOf" srcId="{C402E12A-CB63-4B39-9C8A-82726529F2E0}" destId="{DC117926-EDB5-49DA-A892-2767A011008E}" srcOrd="6" destOrd="0" presId="urn:microsoft.com/office/officeart/2008/layout/LinedList"/>
    <dgm:cxn modelId="{13872FC7-3AD0-4E38-9FE6-A2DAB8A88819}" type="presParOf" srcId="{C402E12A-CB63-4B39-9C8A-82726529F2E0}" destId="{0E254DF6-F5A4-42E8-BF8A-4680927C9709}" srcOrd="7" destOrd="0" presId="urn:microsoft.com/office/officeart/2008/layout/LinedList"/>
    <dgm:cxn modelId="{8FB79D56-8091-4B4E-99F4-224EE3E0B504}" type="presParOf" srcId="{0E254DF6-F5A4-42E8-BF8A-4680927C9709}" destId="{64754D24-9F72-4306-87AF-43B47FFD32A4}" srcOrd="0" destOrd="0" presId="urn:microsoft.com/office/officeart/2008/layout/LinedList"/>
    <dgm:cxn modelId="{F24FCC7F-877B-4F88-B48B-96F65B604D42}" type="presParOf" srcId="{0E254DF6-F5A4-42E8-BF8A-4680927C9709}" destId="{E4A943A1-24E8-47BF-A44A-B1108911820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E3A0859-76A4-4A32-9C14-33201D523E1D}" type="doc">
      <dgm:prSet loTypeId="urn:microsoft.com/office/officeart/2008/layout/LinedList" loCatId="list" qsTypeId="urn:microsoft.com/office/officeart/2005/8/quickstyle/simple1#2" qsCatId="simple" csTypeId="urn:microsoft.com/office/officeart/2005/8/colors/accent3_2#1" csCatId="accent3" phldr="1"/>
      <dgm:spPr/>
      <dgm:t>
        <a:bodyPr/>
        <a:lstStyle/>
        <a:p>
          <a:endParaRPr lang="en-US"/>
        </a:p>
      </dgm:t>
    </dgm:pt>
    <dgm:pt modelId="{C1F90766-B8D1-4452-B759-1208690775B6}">
      <dgm:prSet/>
      <dgm:spPr/>
      <dgm:t>
        <a:bodyPr/>
        <a:lstStyle/>
        <a:p>
          <a:r>
            <a:rPr lang="en-US" dirty="0"/>
            <a:t>Funding restrictions (unless tied to public health)</a:t>
          </a:r>
        </a:p>
      </dgm:t>
    </dgm:pt>
    <dgm:pt modelId="{BB0275EB-6D32-49AB-81D5-49EF449045F1}" type="parTrans" cxnId="{BFB670CE-7C0B-46E9-B7E5-7B9F26B22832}">
      <dgm:prSet/>
      <dgm:spPr/>
      <dgm:t>
        <a:bodyPr/>
        <a:lstStyle/>
        <a:p>
          <a:endParaRPr lang="en-US"/>
        </a:p>
      </dgm:t>
    </dgm:pt>
    <dgm:pt modelId="{1F8D8CAF-C801-4701-976A-6EE3C40ED4CB}" type="sibTrans" cxnId="{BFB670CE-7C0B-46E9-B7E5-7B9F26B22832}">
      <dgm:prSet/>
      <dgm:spPr/>
      <dgm:t>
        <a:bodyPr/>
        <a:lstStyle/>
        <a:p>
          <a:endParaRPr lang="en-US"/>
        </a:p>
      </dgm:t>
    </dgm:pt>
    <dgm:pt modelId="{EC5E77B0-D4D5-4785-BB4B-0C4FB7932B80}">
      <dgm:prSet/>
      <dgm:spPr/>
      <dgm:t>
        <a:bodyPr/>
        <a:lstStyle/>
        <a:p>
          <a:r>
            <a:rPr lang="en-US" dirty="0"/>
            <a:t>Distrust/Courtesy stigma</a:t>
          </a:r>
        </a:p>
      </dgm:t>
    </dgm:pt>
    <dgm:pt modelId="{EFD554CE-5212-4E20-837A-0C28F723B737}" type="parTrans" cxnId="{DA57A4FB-E2F1-460C-919A-C8E409EE62F8}">
      <dgm:prSet/>
      <dgm:spPr/>
      <dgm:t>
        <a:bodyPr/>
        <a:lstStyle/>
        <a:p>
          <a:endParaRPr lang="en-US"/>
        </a:p>
      </dgm:t>
    </dgm:pt>
    <dgm:pt modelId="{3CFCB1B3-DEC3-4702-8350-9CC62D1A4EB8}" type="sibTrans" cxnId="{DA57A4FB-E2F1-460C-919A-C8E409EE62F8}">
      <dgm:prSet/>
      <dgm:spPr/>
      <dgm:t>
        <a:bodyPr/>
        <a:lstStyle/>
        <a:p>
          <a:endParaRPr lang="en-US"/>
        </a:p>
      </dgm:t>
    </dgm:pt>
    <dgm:pt modelId="{8F78DCCF-4EA5-47BF-9C52-2A5D92D98C75}">
      <dgm:prSet/>
      <dgm:spPr/>
      <dgm:t>
        <a:bodyPr/>
        <a:lstStyle/>
        <a:p>
          <a:r>
            <a:rPr lang="en-US"/>
            <a:t>Essentialist thinking</a:t>
          </a:r>
        </a:p>
      </dgm:t>
    </dgm:pt>
    <dgm:pt modelId="{970DC3E4-268F-4F10-A371-3F75A10CF2CB}" type="parTrans" cxnId="{88D264DE-2867-47C7-A6DF-340CFE994835}">
      <dgm:prSet/>
      <dgm:spPr/>
      <dgm:t>
        <a:bodyPr/>
        <a:lstStyle/>
        <a:p>
          <a:endParaRPr lang="en-US"/>
        </a:p>
      </dgm:t>
    </dgm:pt>
    <dgm:pt modelId="{ABD94F3D-1803-4790-99F9-A4CDCB3C17C8}" type="sibTrans" cxnId="{88D264DE-2867-47C7-A6DF-340CFE994835}">
      <dgm:prSet/>
      <dgm:spPr/>
      <dgm:t>
        <a:bodyPr/>
        <a:lstStyle/>
        <a:p>
          <a:endParaRPr lang="en-US"/>
        </a:p>
      </dgm:t>
    </dgm:pt>
    <dgm:pt modelId="{FA3D2AF5-8468-4DCC-AC25-5A32E62F7080}" type="pres">
      <dgm:prSet presAssocID="{EE3A0859-76A4-4A32-9C14-33201D523E1D}" presName="vert0" presStyleCnt="0">
        <dgm:presLayoutVars>
          <dgm:dir/>
          <dgm:animOne val="branch"/>
          <dgm:animLvl val="lvl"/>
        </dgm:presLayoutVars>
      </dgm:prSet>
      <dgm:spPr/>
    </dgm:pt>
    <dgm:pt modelId="{935CB88B-B743-4A06-9B7B-DA9486DEF0E5}" type="pres">
      <dgm:prSet presAssocID="{C1F90766-B8D1-4452-B759-1208690775B6}" presName="thickLine" presStyleLbl="alignNode1" presStyleIdx="0" presStyleCnt="3"/>
      <dgm:spPr/>
    </dgm:pt>
    <dgm:pt modelId="{F5E4CFC9-F731-46E8-AC3D-2CE357C598E7}" type="pres">
      <dgm:prSet presAssocID="{C1F90766-B8D1-4452-B759-1208690775B6}" presName="horz1" presStyleCnt="0"/>
      <dgm:spPr/>
    </dgm:pt>
    <dgm:pt modelId="{360E1E0D-F179-4407-AE84-4AEA10939248}" type="pres">
      <dgm:prSet presAssocID="{C1F90766-B8D1-4452-B759-1208690775B6}" presName="tx1" presStyleLbl="revTx" presStyleIdx="0" presStyleCnt="3"/>
      <dgm:spPr/>
    </dgm:pt>
    <dgm:pt modelId="{38A32696-B48D-4A2D-8DD1-7AC24B38C1C2}" type="pres">
      <dgm:prSet presAssocID="{C1F90766-B8D1-4452-B759-1208690775B6}" presName="vert1" presStyleCnt="0"/>
      <dgm:spPr/>
    </dgm:pt>
    <dgm:pt modelId="{29330481-4AD6-4FE6-A1EC-5FB0DA645D44}" type="pres">
      <dgm:prSet presAssocID="{EC5E77B0-D4D5-4785-BB4B-0C4FB7932B80}" presName="thickLine" presStyleLbl="alignNode1" presStyleIdx="1" presStyleCnt="3"/>
      <dgm:spPr/>
    </dgm:pt>
    <dgm:pt modelId="{BF9827A2-F4F4-43E8-B782-EA046268A3C6}" type="pres">
      <dgm:prSet presAssocID="{EC5E77B0-D4D5-4785-BB4B-0C4FB7932B80}" presName="horz1" presStyleCnt="0"/>
      <dgm:spPr/>
    </dgm:pt>
    <dgm:pt modelId="{40A2476B-6C31-4CEF-A1DE-102E7AF0C4EB}" type="pres">
      <dgm:prSet presAssocID="{EC5E77B0-D4D5-4785-BB4B-0C4FB7932B80}" presName="tx1" presStyleLbl="revTx" presStyleIdx="1" presStyleCnt="3"/>
      <dgm:spPr/>
    </dgm:pt>
    <dgm:pt modelId="{FAD1E821-6855-4F48-B87B-306DAAE36CF4}" type="pres">
      <dgm:prSet presAssocID="{EC5E77B0-D4D5-4785-BB4B-0C4FB7932B80}" presName="vert1" presStyleCnt="0"/>
      <dgm:spPr/>
    </dgm:pt>
    <dgm:pt modelId="{2AD875D0-01DF-4C7A-A884-347A729A99C7}" type="pres">
      <dgm:prSet presAssocID="{8F78DCCF-4EA5-47BF-9C52-2A5D92D98C75}" presName="thickLine" presStyleLbl="alignNode1" presStyleIdx="2" presStyleCnt="3"/>
      <dgm:spPr/>
    </dgm:pt>
    <dgm:pt modelId="{281E1E3A-CBA0-49E4-8267-C630E2FA598E}" type="pres">
      <dgm:prSet presAssocID="{8F78DCCF-4EA5-47BF-9C52-2A5D92D98C75}" presName="horz1" presStyleCnt="0"/>
      <dgm:spPr/>
    </dgm:pt>
    <dgm:pt modelId="{01133A27-F22F-43CE-AD40-6A884E34D85B}" type="pres">
      <dgm:prSet presAssocID="{8F78DCCF-4EA5-47BF-9C52-2A5D92D98C75}" presName="tx1" presStyleLbl="revTx" presStyleIdx="2" presStyleCnt="3"/>
      <dgm:spPr/>
    </dgm:pt>
    <dgm:pt modelId="{A79C7284-580C-477E-9D38-E73A5D3B2AFA}" type="pres">
      <dgm:prSet presAssocID="{8F78DCCF-4EA5-47BF-9C52-2A5D92D98C75}" presName="vert1" presStyleCnt="0"/>
      <dgm:spPr/>
    </dgm:pt>
  </dgm:ptLst>
  <dgm:cxnLst>
    <dgm:cxn modelId="{750B551D-B80E-4FF4-8589-34E559CF6BFA}" type="presOf" srcId="{EE3A0859-76A4-4A32-9C14-33201D523E1D}" destId="{FA3D2AF5-8468-4DCC-AC25-5A32E62F7080}" srcOrd="0" destOrd="0" presId="urn:microsoft.com/office/officeart/2008/layout/LinedList"/>
    <dgm:cxn modelId="{BCA9E56C-7C6C-4933-9B53-D29E084BAECB}" type="presOf" srcId="{C1F90766-B8D1-4452-B759-1208690775B6}" destId="{360E1E0D-F179-4407-AE84-4AEA10939248}" srcOrd="0" destOrd="0" presId="urn:microsoft.com/office/officeart/2008/layout/LinedList"/>
    <dgm:cxn modelId="{4ABD7C7E-C298-4944-ABC4-9C666FBF14D4}" type="presOf" srcId="{8F78DCCF-4EA5-47BF-9C52-2A5D92D98C75}" destId="{01133A27-F22F-43CE-AD40-6A884E34D85B}" srcOrd="0" destOrd="0" presId="urn:microsoft.com/office/officeart/2008/layout/LinedList"/>
    <dgm:cxn modelId="{1D2D358B-9C1E-4C63-A4E0-5B9043972775}" type="presOf" srcId="{EC5E77B0-D4D5-4785-BB4B-0C4FB7932B80}" destId="{40A2476B-6C31-4CEF-A1DE-102E7AF0C4EB}" srcOrd="0" destOrd="0" presId="urn:microsoft.com/office/officeart/2008/layout/LinedList"/>
    <dgm:cxn modelId="{BFB670CE-7C0B-46E9-B7E5-7B9F26B22832}" srcId="{EE3A0859-76A4-4A32-9C14-33201D523E1D}" destId="{C1F90766-B8D1-4452-B759-1208690775B6}" srcOrd="0" destOrd="0" parTransId="{BB0275EB-6D32-49AB-81D5-49EF449045F1}" sibTransId="{1F8D8CAF-C801-4701-976A-6EE3C40ED4CB}"/>
    <dgm:cxn modelId="{88D264DE-2867-47C7-A6DF-340CFE994835}" srcId="{EE3A0859-76A4-4A32-9C14-33201D523E1D}" destId="{8F78DCCF-4EA5-47BF-9C52-2A5D92D98C75}" srcOrd="2" destOrd="0" parTransId="{970DC3E4-268F-4F10-A371-3F75A10CF2CB}" sibTransId="{ABD94F3D-1803-4790-99F9-A4CDCB3C17C8}"/>
    <dgm:cxn modelId="{DA57A4FB-E2F1-460C-919A-C8E409EE62F8}" srcId="{EE3A0859-76A4-4A32-9C14-33201D523E1D}" destId="{EC5E77B0-D4D5-4785-BB4B-0C4FB7932B80}" srcOrd="1" destOrd="0" parTransId="{EFD554CE-5212-4E20-837A-0C28F723B737}" sibTransId="{3CFCB1B3-DEC3-4702-8350-9CC62D1A4EB8}"/>
    <dgm:cxn modelId="{0CFC1BB3-C046-4D42-AC0C-AF00AD26A517}" type="presParOf" srcId="{FA3D2AF5-8468-4DCC-AC25-5A32E62F7080}" destId="{935CB88B-B743-4A06-9B7B-DA9486DEF0E5}" srcOrd="0" destOrd="0" presId="urn:microsoft.com/office/officeart/2008/layout/LinedList"/>
    <dgm:cxn modelId="{CF8A1386-B270-413B-B489-FFE61A49A165}" type="presParOf" srcId="{FA3D2AF5-8468-4DCC-AC25-5A32E62F7080}" destId="{F5E4CFC9-F731-46E8-AC3D-2CE357C598E7}" srcOrd="1" destOrd="0" presId="urn:microsoft.com/office/officeart/2008/layout/LinedList"/>
    <dgm:cxn modelId="{E1450D6B-D9DD-4879-9336-463346E08F0E}" type="presParOf" srcId="{F5E4CFC9-F731-46E8-AC3D-2CE357C598E7}" destId="{360E1E0D-F179-4407-AE84-4AEA10939248}" srcOrd="0" destOrd="0" presId="urn:microsoft.com/office/officeart/2008/layout/LinedList"/>
    <dgm:cxn modelId="{DD7E173B-7265-424C-BB61-AAD4AB80DF6F}" type="presParOf" srcId="{F5E4CFC9-F731-46E8-AC3D-2CE357C598E7}" destId="{38A32696-B48D-4A2D-8DD1-7AC24B38C1C2}" srcOrd="1" destOrd="0" presId="urn:microsoft.com/office/officeart/2008/layout/LinedList"/>
    <dgm:cxn modelId="{40980F87-9399-4324-BAC1-AB40B884AF90}" type="presParOf" srcId="{FA3D2AF5-8468-4DCC-AC25-5A32E62F7080}" destId="{29330481-4AD6-4FE6-A1EC-5FB0DA645D44}" srcOrd="2" destOrd="0" presId="urn:microsoft.com/office/officeart/2008/layout/LinedList"/>
    <dgm:cxn modelId="{CF94355B-3A81-4310-B199-FAB2C76842C2}" type="presParOf" srcId="{FA3D2AF5-8468-4DCC-AC25-5A32E62F7080}" destId="{BF9827A2-F4F4-43E8-B782-EA046268A3C6}" srcOrd="3" destOrd="0" presId="urn:microsoft.com/office/officeart/2008/layout/LinedList"/>
    <dgm:cxn modelId="{A82FB1A7-4B00-4052-B36B-F132EA8294C5}" type="presParOf" srcId="{BF9827A2-F4F4-43E8-B782-EA046268A3C6}" destId="{40A2476B-6C31-4CEF-A1DE-102E7AF0C4EB}" srcOrd="0" destOrd="0" presId="urn:microsoft.com/office/officeart/2008/layout/LinedList"/>
    <dgm:cxn modelId="{2BF17FB5-0A99-40F9-B2BD-A99B7D3763E4}" type="presParOf" srcId="{BF9827A2-F4F4-43E8-B782-EA046268A3C6}" destId="{FAD1E821-6855-4F48-B87B-306DAAE36CF4}" srcOrd="1" destOrd="0" presId="urn:microsoft.com/office/officeart/2008/layout/LinedList"/>
    <dgm:cxn modelId="{4F2BF9AC-64A2-416F-A318-2988B3C43130}" type="presParOf" srcId="{FA3D2AF5-8468-4DCC-AC25-5A32E62F7080}" destId="{2AD875D0-01DF-4C7A-A884-347A729A99C7}" srcOrd="4" destOrd="0" presId="urn:microsoft.com/office/officeart/2008/layout/LinedList"/>
    <dgm:cxn modelId="{9DFDF44C-096A-4968-9EBF-B64E83E3F31A}" type="presParOf" srcId="{FA3D2AF5-8468-4DCC-AC25-5A32E62F7080}" destId="{281E1E3A-CBA0-49E4-8267-C630E2FA598E}" srcOrd="5" destOrd="0" presId="urn:microsoft.com/office/officeart/2008/layout/LinedList"/>
    <dgm:cxn modelId="{28D97B4D-6C24-4370-8D36-F0347F5DA682}" type="presParOf" srcId="{281E1E3A-CBA0-49E4-8267-C630E2FA598E}" destId="{01133A27-F22F-43CE-AD40-6A884E34D85B}" srcOrd="0" destOrd="0" presId="urn:microsoft.com/office/officeart/2008/layout/LinedList"/>
    <dgm:cxn modelId="{D69C105A-8194-437E-A532-933A76EFAD9E}" type="presParOf" srcId="{281E1E3A-CBA0-49E4-8267-C630E2FA598E}" destId="{A79C7284-580C-477E-9D38-E73A5D3B2AF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2096190-C26C-4B2C-9A3E-0917D8BE5E6A}" type="doc">
      <dgm:prSet loTypeId="urn:microsoft.com/office/officeart/2005/8/layout/vList5" loCatId="list" qsTypeId="urn:microsoft.com/office/officeart/2005/8/quickstyle/simple1#3" qsCatId="simple" csTypeId="urn:microsoft.com/office/officeart/2005/8/colors/accent0_3#2" csCatId="mainScheme" phldr="1"/>
      <dgm:spPr/>
      <dgm:t>
        <a:bodyPr/>
        <a:lstStyle/>
        <a:p>
          <a:endParaRPr lang="en-US"/>
        </a:p>
      </dgm:t>
    </dgm:pt>
    <dgm:pt modelId="{EEDFB9B3-1310-474F-9FE1-AD8F15DA2FEF}">
      <dgm:prSet/>
      <dgm:spPr/>
      <dgm:t>
        <a:bodyPr/>
        <a:lstStyle/>
        <a:p>
          <a:pPr>
            <a:defRPr cap="all"/>
          </a:pPr>
          <a:r>
            <a:rPr lang="en-US" dirty="0"/>
            <a:t>Experimental</a:t>
          </a:r>
        </a:p>
      </dgm:t>
    </dgm:pt>
    <dgm:pt modelId="{3BBDEEF1-86B0-4AD8-A050-1F13A839A09B}" type="parTrans" cxnId="{1827D2D1-3BDC-46A1-B685-64297BAEC8A5}">
      <dgm:prSet/>
      <dgm:spPr/>
      <dgm:t>
        <a:bodyPr/>
        <a:lstStyle/>
        <a:p>
          <a:endParaRPr lang="en-US"/>
        </a:p>
      </dgm:t>
    </dgm:pt>
    <dgm:pt modelId="{8603FD79-4B5D-4E59-8274-EFABED98765B}" type="sibTrans" cxnId="{1827D2D1-3BDC-46A1-B685-64297BAEC8A5}">
      <dgm:prSet/>
      <dgm:spPr/>
      <dgm:t>
        <a:bodyPr/>
        <a:lstStyle/>
        <a:p>
          <a:endParaRPr lang="en-US"/>
        </a:p>
      </dgm:t>
    </dgm:pt>
    <dgm:pt modelId="{29BB2E59-0581-4B3F-9613-EF513D1C788A}">
      <dgm:prSet/>
      <dgm:spPr/>
      <dgm:t>
        <a:bodyPr/>
        <a:lstStyle/>
        <a:p>
          <a:pPr>
            <a:defRPr cap="all"/>
          </a:pPr>
          <a:r>
            <a:rPr lang="en-US" dirty="0"/>
            <a:t>clinical</a:t>
          </a:r>
        </a:p>
      </dgm:t>
    </dgm:pt>
    <dgm:pt modelId="{2BD89BDC-E6F7-403C-A193-F895A3159625}" type="parTrans" cxnId="{6DE0ED29-7EB7-4D27-9138-97ED91B35F31}">
      <dgm:prSet/>
      <dgm:spPr/>
      <dgm:t>
        <a:bodyPr/>
        <a:lstStyle/>
        <a:p>
          <a:endParaRPr lang="en-US"/>
        </a:p>
      </dgm:t>
    </dgm:pt>
    <dgm:pt modelId="{3E3E7BD8-3013-46A9-82C8-358C93012E8B}" type="sibTrans" cxnId="{6DE0ED29-7EB7-4D27-9138-97ED91B35F31}">
      <dgm:prSet/>
      <dgm:spPr/>
      <dgm:t>
        <a:bodyPr/>
        <a:lstStyle/>
        <a:p>
          <a:endParaRPr lang="en-US"/>
        </a:p>
      </dgm:t>
    </dgm:pt>
    <dgm:pt modelId="{58A859EF-CEC6-4212-B54A-FF88371EFED6}">
      <dgm:prSet/>
      <dgm:spPr/>
      <dgm:t>
        <a:bodyPr/>
        <a:lstStyle/>
        <a:p>
          <a:pPr>
            <a:defRPr cap="all"/>
          </a:pPr>
          <a:r>
            <a:rPr lang="en-US" dirty="0"/>
            <a:t>Descriptive</a:t>
          </a:r>
        </a:p>
      </dgm:t>
    </dgm:pt>
    <dgm:pt modelId="{7DCA6BB0-0012-4451-A888-5C4242484771}" type="parTrans" cxnId="{B9F068CB-3187-454A-864F-D873EB27A237}">
      <dgm:prSet/>
      <dgm:spPr/>
      <dgm:t>
        <a:bodyPr/>
        <a:lstStyle/>
        <a:p>
          <a:endParaRPr lang="en-US"/>
        </a:p>
      </dgm:t>
    </dgm:pt>
    <dgm:pt modelId="{2ABD4E99-EEE0-45C0-879B-3378EBF8E4ED}" type="sibTrans" cxnId="{B9F068CB-3187-454A-864F-D873EB27A237}">
      <dgm:prSet/>
      <dgm:spPr/>
      <dgm:t>
        <a:bodyPr/>
        <a:lstStyle/>
        <a:p>
          <a:endParaRPr lang="en-US"/>
        </a:p>
      </dgm:t>
    </dgm:pt>
    <dgm:pt modelId="{F35FFCA0-841E-4283-B71F-D8EADA6C41AF}">
      <dgm:prSet/>
      <dgm:spPr/>
      <dgm:t>
        <a:bodyPr/>
        <a:lstStyle/>
        <a:p>
          <a:pPr>
            <a:defRPr cap="all"/>
          </a:pPr>
          <a:r>
            <a:rPr lang="en-US" dirty="0"/>
            <a:t>Social bookkeeping</a:t>
          </a:r>
        </a:p>
      </dgm:t>
    </dgm:pt>
    <dgm:pt modelId="{18B75909-18EF-4EC1-970B-6A85C56A42A7}" type="parTrans" cxnId="{2788E5DC-A32D-49F8-A531-87351C7306E1}">
      <dgm:prSet/>
      <dgm:spPr/>
      <dgm:t>
        <a:bodyPr/>
        <a:lstStyle/>
        <a:p>
          <a:endParaRPr lang="en-US"/>
        </a:p>
      </dgm:t>
    </dgm:pt>
    <dgm:pt modelId="{3549B844-2053-466A-8611-2CE3B8B04C9D}" type="sibTrans" cxnId="{2788E5DC-A32D-49F8-A531-87351C7306E1}">
      <dgm:prSet/>
      <dgm:spPr/>
      <dgm:t>
        <a:bodyPr/>
        <a:lstStyle/>
        <a:p>
          <a:endParaRPr lang="en-US"/>
        </a:p>
      </dgm:t>
    </dgm:pt>
    <dgm:pt modelId="{BD83ADCD-05E3-470C-87FC-E85A57C0F11E}" type="pres">
      <dgm:prSet presAssocID="{92096190-C26C-4B2C-9A3E-0917D8BE5E6A}" presName="Name0" presStyleCnt="0">
        <dgm:presLayoutVars>
          <dgm:dir/>
          <dgm:animLvl val="lvl"/>
          <dgm:resizeHandles val="exact"/>
        </dgm:presLayoutVars>
      </dgm:prSet>
      <dgm:spPr/>
    </dgm:pt>
    <dgm:pt modelId="{7FB91EE8-58FD-43BD-B0AA-A49A31C81B30}" type="pres">
      <dgm:prSet presAssocID="{EEDFB9B3-1310-474F-9FE1-AD8F15DA2FEF}" presName="linNode" presStyleCnt="0"/>
      <dgm:spPr/>
    </dgm:pt>
    <dgm:pt modelId="{B9C2FEF2-89BE-45D3-B259-14792057547E}" type="pres">
      <dgm:prSet presAssocID="{EEDFB9B3-1310-474F-9FE1-AD8F15DA2FEF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448E9504-7364-4208-A4E1-FF6C6F7D792B}" type="pres">
      <dgm:prSet presAssocID="{8603FD79-4B5D-4E59-8274-EFABED98765B}" presName="sp" presStyleCnt="0"/>
      <dgm:spPr/>
    </dgm:pt>
    <dgm:pt modelId="{9F6A7968-0457-4947-B444-35423A1C8436}" type="pres">
      <dgm:prSet presAssocID="{29BB2E59-0581-4B3F-9613-EF513D1C788A}" presName="linNode" presStyleCnt="0"/>
      <dgm:spPr/>
    </dgm:pt>
    <dgm:pt modelId="{41C21A57-3AE8-4F82-9C67-96CCDCBAC421}" type="pres">
      <dgm:prSet presAssocID="{29BB2E59-0581-4B3F-9613-EF513D1C788A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65A3F3A8-92E8-45F7-A08E-0C3FCC7C1A73}" type="pres">
      <dgm:prSet presAssocID="{3E3E7BD8-3013-46A9-82C8-358C93012E8B}" presName="sp" presStyleCnt="0"/>
      <dgm:spPr/>
    </dgm:pt>
    <dgm:pt modelId="{F2A35B2A-1489-4DC4-B288-C71B4E1BC9E9}" type="pres">
      <dgm:prSet presAssocID="{58A859EF-CEC6-4212-B54A-FF88371EFED6}" presName="linNode" presStyleCnt="0"/>
      <dgm:spPr/>
    </dgm:pt>
    <dgm:pt modelId="{C945BFE4-AE17-4258-AA11-C799D40D6332}" type="pres">
      <dgm:prSet presAssocID="{58A859EF-CEC6-4212-B54A-FF88371EFED6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725324ED-9A5F-4E4E-B410-62FBC2BE4FB7}" type="pres">
      <dgm:prSet presAssocID="{2ABD4E99-EEE0-45C0-879B-3378EBF8E4ED}" presName="sp" presStyleCnt="0"/>
      <dgm:spPr/>
    </dgm:pt>
    <dgm:pt modelId="{C14B5B85-5253-41EC-84FA-F98639EA15C2}" type="pres">
      <dgm:prSet presAssocID="{F35FFCA0-841E-4283-B71F-D8EADA6C41AF}" presName="linNode" presStyleCnt="0"/>
      <dgm:spPr/>
    </dgm:pt>
    <dgm:pt modelId="{D19E2E8A-9C8F-4070-B037-B95E74564E90}" type="pres">
      <dgm:prSet presAssocID="{F35FFCA0-841E-4283-B71F-D8EADA6C41AF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6DE0ED29-7EB7-4D27-9138-97ED91B35F31}" srcId="{92096190-C26C-4B2C-9A3E-0917D8BE5E6A}" destId="{29BB2E59-0581-4B3F-9613-EF513D1C788A}" srcOrd="1" destOrd="0" parTransId="{2BD89BDC-E6F7-403C-A193-F895A3159625}" sibTransId="{3E3E7BD8-3013-46A9-82C8-358C93012E8B}"/>
    <dgm:cxn modelId="{7577FD8C-6E3F-4F18-B988-15B7FA7B7524}" type="presOf" srcId="{58A859EF-CEC6-4212-B54A-FF88371EFED6}" destId="{C945BFE4-AE17-4258-AA11-C799D40D6332}" srcOrd="0" destOrd="0" presId="urn:microsoft.com/office/officeart/2005/8/layout/vList5"/>
    <dgm:cxn modelId="{ABA2AF99-B931-4618-A9E0-A05F215C8728}" type="presOf" srcId="{F35FFCA0-841E-4283-B71F-D8EADA6C41AF}" destId="{D19E2E8A-9C8F-4070-B037-B95E74564E90}" srcOrd="0" destOrd="0" presId="urn:microsoft.com/office/officeart/2005/8/layout/vList5"/>
    <dgm:cxn modelId="{B9F068CB-3187-454A-864F-D873EB27A237}" srcId="{92096190-C26C-4B2C-9A3E-0917D8BE5E6A}" destId="{58A859EF-CEC6-4212-B54A-FF88371EFED6}" srcOrd="2" destOrd="0" parTransId="{7DCA6BB0-0012-4451-A888-5C4242484771}" sibTransId="{2ABD4E99-EEE0-45C0-879B-3378EBF8E4ED}"/>
    <dgm:cxn modelId="{9D0631CE-AA0D-4819-8E56-31FFF5A774DC}" type="presOf" srcId="{29BB2E59-0581-4B3F-9613-EF513D1C788A}" destId="{41C21A57-3AE8-4F82-9C67-96CCDCBAC421}" srcOrd="0" destOrd="0" presId="urn:microsoft.com/office/officeart/2005/8/layout/vList5"/>
    <dgm:cxn modelId="{1827D2D1-3BDC-46A1-B685-64297BAEC8A5}" srcId="{92096190-C26C-4B2C-9A3E-0917D8BE5E6A}" destId="{EEDFB9B3-1310-474F-9FE1-AD8F15DA2FEF}" srcOrd="0" destOrd="0" parTransId="{3BBDEEF1-86B0-4AD8-A050-1F13A839A09B}" sibTransId="{8603FD79-4B5D-4E59-8274-EFABED98765B}"/>
    <dgm:cxn modelId="{2788E5DC-A32D-49F8-A531-87351C7306E1}" srcId="{92096190-C26C-4B2C-9A3E-0917D8BE5E6A}" destId="{F35FFCA0-841E-4283-B71F-D8EADA6C41AF}" srcOrd="3" destOrd="0" parTransId="{18B75909-18EF-4EC1-970B-6A85C56A42A7}" sibTransId="{3549B844-2053-466A-8611-2CE3B8B04C9D}"/>
    <dgm:cxn modelId="{93718FE9-2787-4137-8BD5-1E7496873A3D}" type="presOf" srcId="{EEDFB9B3-1310-474F-9FE1-AD8F15DA2FEF}" destId="{B9C2FEF2-89BE-45D3-B259-14792057547E}" srcOrd="0" destOrd="0" presId="urn:microsoft.com/office/officeart/2005/8/layout/vList5"/>
    <dgm:cxn modelId="{733575F8-2AB6-45CF-8D5A-13B79FD08FC1}" type="presOf" srcId="{92096190-C26C-4B2C-9A3E-0917D8BE5E6A}" destId="{BD83ADCD-05E3-470C-87FC-E85A57C0F11E}" srcOrd="0" destOrd="0" presId="urn:microsoft.com/office/officeart/2005/8/layout/vList5"/>
    <dgm:cxn modelId="{E4A271F0-1775-4D6F-8B4A-A92173D9ECC4}" type="presParOf" srcId="{BD83ADCD-05E3-470C-87FC-E85A57C0F11E}" destId="{7FB91EE8-58FD-43BD-B0AA-A49A31C81B30}" srcOrd="0" destOrd="0" presId="urn:microsoft.com/office/officeart/2005/8/layout/vList5"/>
    <dgm:cxn modelId="{E379103E-E57A-42F0-9DEE-475269DBE7C7}" type="presParOf" srcId="{7FB91EE8-58FD-43BD-B0AA-A49A31C81B30}" destId="{B9C2FEF2-89BE-45D3-B259-14792057547E}" srcOrd="0" destOrd="0" presId="urn:microsoft.com/office/officeart/2005/8/layout/vList5"/>
    <dgm:cxn modelId="{8915705E-DC81-4059-BF01-17555D67AFB9}" type="presParOf" srcId="{BD83ADCD-05E3-470C-87FC-E85A57C0F11E}" destId="{448E9504-7364-4208-A4E1-FF6C6F7D792B}" srcOrd="1" destOrd="0" presId="urn:microsoft.com/office/officeart/2005/8/layout/vList5"/>
    <dgm:cxn modelId="{F37DDDC7-C6AB-4EC3-9C9C-A9DA02C9BCEB}" type="presParOf" srcId="{BD83ADCD-05E3-470C-87FC-E85A57C0F11E}" destId="{9F6A7968-0457-4947-B444-35423A1C8436}" srcOrd="2" destOrd="0" presId="urn:microsoft.com/office/officeart/2005/8/layout/vList5"/>
    <dgm:cxn modelId="{E619C6AB-F942-4E88-A1CB-13EF6F63F808}" type="presParOf" srcId="{9F6A7968-0457-4947-B444-35423A1C8436}" destId="{41C21A57-3AE8-4F82-9C67-96CCDCBAC421}" srcOrd="0" destOrd="0" presId="urn:microsoft.com/office/officeart/2005/8/layout/vList5"/>
    <dgm:cxn modelId="{1BCA5B27-6C8E-43FC-919C-4F77637080A3}" type="presParOf" srcId="{BD83ADCD-05E3-470C-87FC-E85A57C0F11E}" destId="{65A3F3A8-92E8-45F7-A08E-0C3FCC7C1A73}" srcOrd="3" destOrd="0" presId="urn:microsoft.com/office/officeart/2005/8/layout/vList5"/>
    <dgm:cxn modelId="{C70A9644-F903-4F2B-B9AA-C54981120A9E}" type="presParOf" srcId="{BD83ADCD-05E3-470C-87FC-E85A57C0F11E}" destId="{F2A35B2A-1489-4DC4-B288-C71B4E1BC9E9}" srcOrd="4" destOrd="0" presId="urn:microsoft.com/office/officeart/2005/8/layout/vList5"/>
    <dgm:cxn modelId="{5B85462A-C654-45BF-AC19-C259A92E5CAF}" type="presParOf" srcId="{F2A35B2A-1489-4DC4-B288-C71B4E1BC9E9}" destId="{C945BFE4-AE17-4258-AA11-C799D40D6332}" srcOrd="0" destOrd="0" presId="urn:microsoft.com/office/officeart/2005/8/layout/vList5"/>
    <dgm:cxn modelId="{87164EA6-6916-4408-80BF-C9D829A5BD80}" type="presParOf" srcId="{BD83ADCD-05E3-470C-87FC-E85A57C0F11E}" destId="{725324ED-9A5F-4E4E-B410-62FBC2BE4FB7}" srcOrd="5" destOrd="0" presId="urn:microsoft.com/office/officeart/2005/8/layout/vList5"/>
    <dgm:cxn modelId="{686AA327-025F-4661-AB9C-091678F91326}" type="presParOf" srcId="{BD83ADCD-05E3-470C-87FC-E85A57C0F11E}" destId="{C14B5B85-5253-41EC-84FA-F98639EA15C2}" srcOrd="6" destOrd="0" presId="urn:microsoft.com/office/officeart/2005/8/layout/vList5"/>
    <dgm:cxn modelId="{E61E7EF6-DD38-44E5-B3D3-AA631342CC22}" type="presParOf" srcId="{C14B5B85-5253-41EC-84FA-F98639EA15C2}" destId="{D19E2E8A-9C8F-4070-B037-B95E74564E90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BD56922-E2D2-477C-81E8-D4601E3D4259}" type="doc">
      <dgm:prSet loTypeId="urn:microsoft.com/office/officeart/2008/layout/LinedList" loCatId="list" qsTypeId="urn:microsoft.com/office/officeart/2005/8/quickstyle/simple1#4" qsCatId="simple" csTypeId="urn:microsoft.com/office/officeart/2005/8/colors/accent0_3#3" csCatId="mainScheme" phldr="1"/>
      <dgm:spPr/>
      <dgm:t>
        <a:bodyPr/>
        <a:lstStyle/>
        <a:p>
          <a:endParaRPr lang="en-US"/>
        </a:p>
      </dgm:t>
    </dgm:pt>
    <dgm:pt modelId="{CE9E20F9-40FF-4EDE-9FDD-BADD182CDE0F}">
      <dgm:prSet/>
      <dgm:spPr/>
      <dgm:t>
        <a:bodyPr/>
        <a:lstStyle/>
        <a:p>
          <a:r>
            <a:rPr lang="en-US"/>
            <a:t>Late 1980s/1990s</a:t>
          </a:r>
        </a:p>
      </dgm:t>
    </dgm:pt>
    <dgm:pt modelId="{85EC3F73-DE04-418F-B7F2-1F410FF5E033}" type="parTrans" cxnId="{718CF043-D2C9-4CEB-88FB-6E7D02C8270B}">
      <dgm:prSet/>
      <dgm:spPr/>
      <dgm:t>
        <a:bodyPr/>
        <a:lstStyle/>
        <a:p>
          <a:endParaRPr lang="en-US"/>
        </a:p>
      </dgm:t>
    </dgm:pt>
    <dgm:pt modelId="{0BB19B37-D7BA-452D-8914-7E1CA0A93DE3}" type="sibTrans" cxnId="{718CF043-D2C9-4CEB-88FB-6E7D02C8270B}">
      <dgm:prSet/>
      <dgm:spPr/>
      <dgm:t>
        <a:bodyPr/>
        <a:lstStyle/>
        <a:p>
          <a:endParaRPr lang="en-US"/>
        </a:p>
      </dgm:t>
    </dgm:pt>
    <dgm:pt modelId="{9CFFF202-5ADF-4D86-9722-24A82C9F0F25}">
      <dgm:prSet/>
      <dgm:spPr/>
      <dgm:t>
        <a:bodyPr/>
        <a:lstStyle/>
        <a:p>
          <a:r>
            <a:rPr lang="en-US"/>
            <a:t>Public health funding</a:t>
          </a:r>
        </a:p>
      </dgm:t>
    </dgm:pt>
    <dgm:pt modelId="{2957EB28-A73E-4D38-95D3-63B31284DC69}" type="parTrans" cxnId="{E06FB00F-0C1B-4201-92B0-B3B5EFD96BAE}">
      <dgm:prSet/>
      <dgm:spPr/>
      <dgm:t>
        <a:bodyPr/>
        <a:lstStyle/>
        <a:p>
          <a:endParaRPr lang="en-US"/>
        </a:p>
      </dgm:t>
    </dgm:pt>
    <dgm:pt modelId="{126C776B-37FC-4962-B273-E4CC15AB3A96}" type="sibTrans" cxnId="{E06FB00F-0C1B-4201-92B0-B3B5EFD96BAE}">
      <dgm:prSet/>
      <dgm:spPr/>
      <dgm:t>
        <a:bodyPr/>
        <a:lstStyle/>
        <a:p>
          <a:endParaRPr lang="en-US"/>
        </a:p>
      </dgm:t>
    </dgm:pt>
    <dgm:pt modelId="{5E288C2F-FA38-45C4-AFF8-8C19B70C352D}">
      <dgm:prSet/>
      <dgm:spPr/>
      <dgm:t>
        <a:bodyPr/>
        <a:lstStyle/>
        <a:p>
          <a:r>
            <a:rPr lang="en-US"/>
            <a:t>Political flashpoint</a:t>
          </a:r>
        </a:p>
      </dgm:t>
    </dgm:pt>
    <dgm:pt modelId="{827A6385-1E43-4C73-8744-E5C59DF2D926}" type="parTrans" cxnId="{91239EAC-D1D9-4461-A6B7-41FE4EA645F7}">
      <dgm:prSet/>
      <dgm:spPr/>
      <dgm:t>
        <a:bodyPr/>
        <a:lstStyle/>
        <a:p>
          <a:endParaRPr lang="en-US"/>
        </a:p>
      </dgm:t>
    </dgm:pt>
    <dgm:pt modelId="{C459A22F-3128-4672-9ED4-5CB89DB84F4D}" type="sibTrans" cxnId="{91239EAC-D1D9-4461-A6B7-41FE4EA645F7}">
      <dgm:prSet/>
      <dgm:spPr/>
      <dgm:t>
        <a:bodyPr/>
        <a:lstStyle/>
        <a:p>
          <a:endParaRPr lang="en-US"/>
        </a:p>
      </dgm:t>
    </dgm:pt>
    <dgm:pt modelId="{977D95D1-1853-4FA4-B885-187E79FEB021}">
      <dgm:prSet/>
      <dgm:spPr/>
      <dgm:t>
        <a:bodyPr/>
        <a:lstStyle/>
        <a:p>
          <a:r>
            <a:rPr lang="en-US" dirty="0"/>
            <a:t>Findings supported high rates of “conventionality”</a:t>
          </a:r>
        </a:p>
      </dgm:t>
    </dgm:pt>
    <dgm:pt modelId="{977E803A-2413-44A9-ADA5-F2843F33F09F}" type="parTrans" cxnId="{F8FAEC63-645F-4B36-BF0D-DCD0BB0BAD86}">
      <dgm:prSet/>
      <dgm:spPr/>
      <dgm:t>
        <a:bodyPr/>
        <a:lstStyle/>
        <a:p>
          <a:endParaRPr lang="en-US"/>
        </a:p>
      </dgm:t>
    </dgm:pt>
    <dgm:pt modelId="{2C1B9E86-5336-43A6-903A-D1321F03D4AF}" type="sibTrans" cxnId="{F8FAEC63-645F-4B36-BF0D-DCD0BB0BAD86}">
      <dgm:prSet/>
      <dgm:spPr/>
      <dgm:t>
        <a:bodyPr/>
        <a:lstStyle/>
        <a:p>
          <a:endParaRPr lang="en-US"/>
        </a:p>
      </dgm:t>
    </dgm:pt>
    <dgm:pt modelId="{0F15A312-CB20-4AF5-A513-CE639AA82B5F}" type="pres">
      <dgm:prSet presAssocID="{DBD56922-E2D2-477C-81E8-D4601E3D4259}" presName="vert0" presStyleCnt="0">
        <dgm:presLayoutVars>
          <dgm:dir/>
          <dgm:animOne val="branch"/>
          <dgm:animLvl val="lvl"/>
        </dgm:presLayoutVars>
      </dgm:prSet>
      <dgm:spPr/>
    </dgm:pt>
    <dgm:pt modelId="{FBD3F46C-8645-4BB9-A76E-0176C4A9CAA9}" type="pres">
      <dgm:prSet presAssocID="{CE9E20F9-40FF-4EDE-9FDD-BADD182CDE0F}" presName="thickLine" presStyleLbl="alignNode1" presStyleIdx="0" presStyleCnt="4"/>
      <dgm:spPr/>
    </dgm:pt>
    <dgm:pt modelId="{A61B8208-A849-4527-A534-99BAED30935B}" type="pres">
      <dgm:prSet presAssocID="{CE9E20F9-40FF-4EDE-9FDD-BADD182CDE0F}" presName="horz1" presStyleCnt="0"/>
      <dgm:spPr/>
    </dgm:pt>
    <dgm:pt modelId="{41F99FAF-B436-4EDF-A527-C85D5BF7D3A1}" type="pres">
      <dgm:prSet presAssocID="{CE9E20F9-40FF-4EDE-9FDD-BADD182CDE0F}" presName="tx1" presStyleLbl="revTx" presStyleIdx="0" presStyleCnt="4"/>
      <dgm:spPr/>
    </dgm:pt>
    <dgm:pt modelId="{E7B513B0-FD63-4D09-B23C-A8D2B236B6A8}" type="pres">
      <dgm:prSet presAssocID="{CE9E20F9-40FF-4EDE-9FDD-BADD182CDE0F}" presName="vert1" presStyleCnt="0"/>
      <dgm:spPr/>
    </dgm:pt>
    <dgm:pt modelId="{2338011F-1FEB-458A-855B-7B54829C1031}" type="pres">
      <dgm:prSet presAssocID="{9CFFF202-5ADF-4D86-9722-24A82C9F0F25}" presName="thickLine" presStyleLbl="alignNode1" presStyleIdx="1" presStyleCnt="4"/>
      <dgm:spPr/>
    </dgm:pt>
    <dgm:pt modelId="{545170B0-AF9A-4F35-B25E-A7D61AC3D793}" type="pres">
      <dgm:prSet presAssocID="{9CFFF202-5ADF-4D86-9722-24A82C9F0F25}" presName="horz1" presStyleCnt="0"/>
      <dgm:spPr/>
    </dgm:pt>
    <dgm:pt modelId="{0EFB87FD-AD8C-4283-A995-208EE32238E7}" type="pres">
      <dgm:prSet presAssocID="{9CFFF202-5ADF-4D86-9722-24A82C9F0F25}" presName="tx1" presStyleLbl="revTx" presStyleIdx="1" presStyleCnt="4"/>
      <dgm:spPr/>
    </dgm:pt>
    <dgm:pt modelId="{4D2ECAD0-834A-4BB0-B253-A2B508E7E093}" type="pres">
      <dgm:prSet presAssocID="{9CFFF202-5ADF-4D86-9722-24A82C9F0F25}" presName="vert1" presStyleCnt="0"/>
      <dgm:spPr/>
    </dgm:pt>
    <dgm:pt modelId="{C7FF0060-CA77-4CD4-BE10-8E7545E81FD5}" type="pres">
      <dgm:prSet presAssocID="{5E288C2F-FA38-45C4-AFF8-8C19B70C352D}" presName="thickLine" presStyleLbl="alignNode1" presStyleIdx="2" presStyleCnt="4"/>
      <dgm:spPr/>
    </dgm:pt>
    <dgm:pt modelId="{EF876ED6-4C43-4885-938B-2C73CB3443A5}" type="pres">
      <dgm:prSet presAssocID="{5E288C2F-FA38-45C4-AFF8-8C19B70C352D}" presName="horz1" presStyleCnt="0"/>
      <dgm:spPr/>
    </dgm:pt>
    <dgm:pt modelId="{2C508CDC-9F60-423C-A35F-1A4B33BF828E}" type="pres">
      <dgm:prSet presAssocID="{5E288C2F-FA38-45C4-AFF8-8C19B70C352D}" presName="tx1" presStyleLbl="revTx" presStyleIdx="2" presStyleCnt="4"/>
      <dgm:spPr/>
    </dgm:pt>
    <dgm:pt modelId="{37121B1D-BF19-4711-9F77-9EE55D1A1561}" type="pres">
      <dgm:prSet presAssocID="{5E288C2F-FA38-45C4-AFF8-8C19B70C352D}" presName="vert1" presStyleCnt="0"/>
      <dgm:spPr/>
    </dgm:pt>
    <dgm:pt modelId="{437F3B47-D44E-438D-A335-FD327C22213C}" type="pres">
      <dgm:prSet presAssocID="{977D95D1-1853-4FA4-B885-187E79FEB021}" presName="thickLine" presStyleLbl="alignNode1" presStyleIdx="3" presStyleCnt="4"/>
      <dgm:spPr/>
    </dgm:pt>
    <dgm:pt modelId="{04E6D821-3729-4FAB-8487-54D5CD1972DA}" type="pres">
      <dgm:prSet presAssocID="{977D95D1-1853-4FA4-B885-187E79FEB021}" presName="horz1" presStyleCnt="0"/>
      <dgm:spPr/>
    </dgm:pt>
    <dgm:pt modelId="{9D3033C7-B629-4BCC-A619-F2676D06A835}" type="pres">
      <dgm:prSet presAssocID="{977D95D1-1853-4FA4-B885-187E79FEB021}" presName="tx1" presStyleLbl="revTx" presStyleIdx="3" presStyleCnt="4"/>
      <dgm:spPr/>
    </dgm:pt>
    <dgm:pt modelId="{0300F14D-E091-478F-B17F-EB470E1AE3DD}" type="pres">
      <dgm:prSet presAssocID="{977D95D1-1853-4FA4-B885-187E79FEB021}" presName="vert1" presStyleCnt="0"/>
      <dgm:spPr/>
    </dgm:pt>
  </dgm:ptLst>
  <dgm:cxnLst>
    <dgm:cxn modelId="{E06FB00F-0C1B-4201-92B0-B3B5EFD96BAE}" srcId="{DBD56922-E2D2-477C-81E8-D4601E3D4259}" destId="{9CFFF202-5ADF-4D86-9722-24A82C9F0F25}" srcOrd="1" destOrd="0" parTransId="{2957EB28-A73E-4D38-95D3-63B31284DC69}" sibTransId="{126C776B-37FC-4962-B273-E4CC15AB3A96}"/>
    <dgm:cxn modelId="{48CEEE3C-8860-4684-8BC2-C609F2CD4776}" type="presOf" srcId="{5E288C2F-FA38-45C4-AFF8-8C19B70C352D}" destId="{2C508CDC-9F60-423C-A35F-1A4B33BF828E}" srcOrd="0" destOrd="0" presId="urn:microsoft.com/office/officeart/2008/layout/LinedList"/>
    <dgm:cxn modelId="{F8FAEC63-645F-4B36-BF0D-DCD0BB0BAD86}" srcId="{DBD56922-E2D2-477C-81E8-D4601E3D4259}" destId="{977D95D1-1853-4FA4-B885-187E79FEB021}" srcOrd="3" destOrd="0" parTransId="{977E803A-2413-44A9-ADA5-F2843F33F09F}" sibTransId="{2C1B9E86-5336-43A6-903A-D1321F03D4AF}"/>
    <dgm:cxn modelId="{718CF043-D2C9-4CEB-88FB-6E7D02C8270B}" srcId="{DBD56922-E2D2-477C-81E8-D4601E3D4259}" destId="{CE9E20F9-40FF-4EDE-9FDD-BADD182CDE0F}" srcOrd="0" destOrd="0" parTransId="{85EC3F73-DE04-418F-B7F2-1F410FF5E033}" sibTransId="{0BB19B37-D7BA-452D-8914-7E1CA0A93DE3}"/>
    <dgm:cxn modelId="{CCBEB16E-611D-43C4-938D-3EC574FE77D5}" type="presOf" srcId="{977D95D1-1853-4FA4-B885-187E79FEB021}" destId="{9D3033C7-B629-4BCC-A619-F2676D06A835}" srcOrd="0" destOrd="0" presId="urn:microsoft.com/office/officeart/2008/layout/LinedList"/>
    <dgm:cxn modelId="{BB045E89-86F4-4909-BB9E-40F7F94D1D6C}" type="presOf" srcId="{DBD56922-E2D2-477C-81E8-D4601E3D4259}" destId="{0F15A312-CB20-4AF5-A513-CE639AA82B5F}" srcOrd="0" destOrd="0" presId="urn:microsoft.com/office/officeart/2008/layout/LinedList"/>
    <dgm:cxn modelId="{FD2DF7A5-E113-4281-A48D-B22347CB04AB}" type="presOf" srcId="{9CFFF202-5ADF-4D86-9722-24A82C9F0F25}" destId="{0EFB87FD-AD8C-4283-A995-208EE32238E7}" srcOrd="0" destOrd="0" presId="urn:microsoft.com/office/officeart/2008/layout/LinedList"/>
    <dgm:cxn modelId="{91239EAC-D1D9-4461-A6B7-41FE4EA645F7}" srcId="{DBD56922-E2D2-477C-81E8-D4601E3D4259}" destId="{5E288C2F-FA38-45C4-AFF8-8C19B70C352D}" srcOrd="2" destOrd="0" parTransId="{827A6385-1E43-4C73-8744-E5C59DF2D926}" sibTransId="{C459A22F-3128-4672-9ED4-5CB89DB84F4D}"/>
    <dgm:cxn modelId="{9C8F2BFD-9B84-4614-BA81-7C35B29AC1C5}" type="presOf" srcId="{CE9E20F9-40FF-4EDE-9FDD-BADD182CDE0F}" destId="{41F99FAF-B436-4EDF-A527-C85D5BF7D3A1}" srcOrd="0" destOrd="0" presId="urn:microsoft.com/office/officeart/2008/layout/LinedList"/>
    <dgm:cxn modelId="{A8B3CF6F-9219-46B6-8AEC-258AB01BC707}" type="presParOf" srcId="{0F15A312-CB20-4AF5-A513-CE639AA82B5F}" destId="{FBD3F46C-8645-4BB9-A76E-0176C4A9CAA9}" srcOrd="0" destOrd="0" presId="urn:microsoft.com/office/officeart/2008/layout/LinedList"/>
    <dgm:cxn modelId="{C81C07F5-D885-4CFF-9B61-BB96B1C63DB7}" type="presParOf" srcId="{0F15A312-CB20-4AF5-A513-CE639AA82B5F}" destId="{A61B8208-A849-4527-A534-99BAED30935B}" srcOrd="1" destOrd="0" presId="urn:microsoft.com/office/officeart/2008/layout/LinedList"/>
    <dgm:cxn modelId="{9B18A81D-71AB-4AEC-B868-AEAA75B3F707}" type="presParOf" srcId="{A61B8208-A849-4527-A534-99BAED30935B}" destId="{41F99FAF-B436-4EDF-A527-C85D5BF7D3A1}" srcOrd="0" destOrd="0" presId="urn:microsoft.com/office/officeart/2008/layout/LinedList"/>
    <dgm:cxn modelId="{AD16D14B-5B01-480E-A407-302711F704F9}" type="presParOf" srcId="{A61B8208-A849-4527-A534-99BAED30935B}" destId="{E7B513B0-FD63-4D09-B23C-A8D2B236B6A8}" srcOrd="1" destOrd="0" presId="urn:microsoft.com/office/officeart/2008/layout/LinedList"/>
    <dgm:cxn modelId="{94B883F8-DDA3-4965-9A36-D1AE58BAD0E8}" type="presParOf" srcId="{0F15A312-CB20-4AF5-A513-CE639AA82B5F}" destId="{2338011F-1FEB-458A-855B-7B54829C1031}" srcOrd="2" destOrd="0" presId="urn:microsoft.com/office/officeart/2008/layout/LinedList"/>
    <dgm:cxn modelId="{2A40E88B-EB8E-485E-A455-B0441BF336A9}" type="presParOf" srcId="{0F15A312-CB20-4AF5-A513-CE639AA82B5F}" destId="{545170B0-AF9A-4F35-B25E-A7D61AC3D793}" srcOrd="3" destOrd="0" presId="urn:microsoft.com/office/officeart/2008/layout/LinedList"/>
    <dgm:cxn modelId="{B7822BA5-E297-4F64-B301-3951AB486059}" type="presParOf" srcId="{545170B0-AF9A-4F35-B25E-A7D61AC3D793}" destId="{0EFB87FD-AD8C-4283-A995-208EE32238E7}" srcOrd="0" destOrd="0" presId="urn:microsoft.com/office/officeart/2008/layout/LinedList"/>
    <dgm:cxn modelId="{7E22EEF9-23E7-4484-86D1-A070C2F3260A}" type="presParOf" srcId="{545170B0-AF9A-4F35-B25E-A7D61AC3D793}" destId="{4D2ECAD0-834A-4BB0-B253-A2B508E7E093}" srcOrd="1" destOrd="0" presId="urn:microsoft.com/office/officeart/2008/layout/LinedList"/>
    <dgm:cxn modelId="{93EAE1AB-88EF-46D4-AF27-D157E86BDD32}" type="presParOf" srcId="{0F15A312-CB20-4AF5-A513-CE639AA82B5F}" destId="{C7FF0060-CA77-4CD4-BE10-8E7545E81FD5}" srcOrd="4" destOrd="0" presId="urn:microsoft.com/office/officeart/2008/layout/LinedList"/>
    <dgm:cxn modelId="{A76E3AE1-0977-4A04-B718-1B192233D34F}" type="presParOf" srcId="{0F15A312-CB20-4AF5-A513-CE639AA82B5F}" destId="{EF876ED6-4C43-4885-938B-2C73CB3443A5}" srcOrd="5" destOrd="0" presId="urn:microsoft.com/office/officeart/2008/layout/LinedList"/>
    <dgm:cxn modelId="{2DA2DBBC-4B66-4678-8D5B-BF20185C2E92}" type="presParOf" srcId="{EF876ED6-4C43-4885-938B-2C73CB3443A5}" destId="{2C508CDC-9F60-423C-A35F-1A4B33BF828E}" srcOrd="0" destOrd="0" presId="urn:microsoft.com/office/officeart/2008/layout/LinedList"/>
    <dgm:cxn modelId="{29D5A53C-5990-4505-B3AE-49269502802C}" type="presParOf" srcId="{EF876ED6-4C43-4885-938B-2C73CB3443A5}" destId="{37121B1D-BF19-4711-9F77-9EE55D1A1561}" srcOrd="1" destOrd="0" presId="urn:microsoft.com/office/officeart/2008/layout/LinedList"/>
    <dgm:cxn modelId="{20627B45-732C-4AA9-B197-420229CEB0F0}" type="presParOf" srcId="{0F15A312-CB20-4AF5-A513-CE639AA82B5F}" destId="{437F3B47-D44E-438D-A335-FD327C22213C}" srcOrd="6" destOrd="0" presId="urn:microsoft.com/office/officeart/2008/layout/LinedList"/>
    <dgm:cxn modelId="{6228A522-9DFF-40F6-9AA3-B699CAF0B83E}" type="presParOf" srcId="{0F15A312-CB20-4AF5-A513-CE639AA82B5F}" destId="{04E6D821-3729-4FAB-8487-54D5CD1972DA}" srcOrd="7" destOrd="0" presId="urn:microsoft.com/office/officeart/2008/layout/LinedList"/>
    <dgm:cxn modelId="{B9C571EC-D4B5-46C6-A26E-4F700E4A4C7D}" type="presParOf" srcId="{04E6D821-3729-4FAB-8487-54D5CD1972DA}" destId="{9D3033C7-B629-4BCC-A619-F2676D06A835}" srcOrd="0" destOrd="0" presId="urn:microsoft.com/office/officeart/2008/layout/LinedList"/>
    <dgm:cxn modelId="{66CCB126-91A3-4E28-84D0-6438A73990C9}" type="presParOf" srcId="{04E6D821-3729-4FAB-8487-54D5CD1972DA}" destId="{0300F14D-E091-478F-B17F-EB470E1AE3D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B53DFCF-6647-4EDA-9688-ECCA4470AFF9}" type="doc">
      <dgm:prSet loTypeId="urn:microsoft.com/office/officeart/2008/layout/LinedList" loCatId="list" qsTypeId="urn:microsoft.com/office/officeart/2005/8/quickstyle/simple1#5" qsCatId="simple" csTypeId="urn:microsoft.com/office/officeart/2005/8/colors/colorful5#1" csCatId="colorful" phldr="1"/>
      <dgm:spPr/>
      <dgm:t>
        <a:bodyPr/>
        <a:lstStyle/>
        <a:p>
          <a:endParaRPr lang="en-US"/>
        </a:p>
      </dgm:t>
    </dgm:pt>
    <dgm:pt modelId="{5F4D9EA0-90B0-4A5C-973D-1D00BEF13B47}">
      <dgm:prSet/>
      <dgm:spPr/>
      <dgm:t>
        <a:bodyPr/>
        <a:lstStyle/>
        <a:p>
          <a:r>
            <a:rPr lang="en-US" dirty="0"/>
            <a:t>Relative changes from deviance to conventional (“premarital” sex)</a:t>
          </a:r>
        </a:p>
      </dgm:t>
    </dgm:pt>
    <dgm:pt modelId="{CD069A86-B094-4E4C-A565-8BA585458561}" type="parTrans" cxnId="{394858E8-7651-4961-8699-36DA30872BEB}">
      <dgm:prSet/>
      <dgm:spPr/>
      <dgm:t>
        <a:bodyPr/>
        <a:lstStyle/>
        <a:p>
          <a:endParaRPr lang="en-US"/>
        </a:p>
      </dgm:t>
    </dgm:pt>
    <dgm:pt modelId="{4B04A60D-3913-4F39-ABB6-5387DAA59889}" type="sibTrans" cxnId="{394858E8-7651-4961-8699-36DA30872BEB}">
      <dgm:prSet/>
      <dgm:spPr/>
      <dgm:t>
        <a:bodyPr/>
        <a:lstStyle/>
        <a:p>
          <a:endParaRPr lang="en-US"/>
        </a:p>
      </dgm:t>
    </dgm:pt>
    <dgm:pt modelId="{C1DB8221-8F65-4C0C-83FB-C442CC7AE592}">
      <dgm:prSet/>
      <dgm:spPr/>
      <dgm:t>
        <a:bodyPr/>
        <a:lstStyle/>
        <a:p>
          <a:r>
            <a:rPr lang="en-US" dirty="0"/>
            <a:t>High consensus consistency (“cheating”)</a:t>
          </a:r>
        </a:p>
      </dgm:t>
    </dgm:pt>
    <dgm:pt modelId="{4541762D-E658-4365-AE38-6A23EA5232C2}" type="parTrans" cxnId="{96C5EAFB-5B22-478D-91FE-78851951C314}">
      <dgm:prSet/>
      <dgm:spPr/>
      <dgm:t>
        <a:bodyPr/>
        <a:lstStyle/>
        <a:p>
          <a:endParaRPr lang="en-US"/>
        </a:p>
      </dgm:t>
    </dgm:pt>
    <dgm:pt modelId="{71BCCF1E-D772-41BA-8499-AD3B64F4B50F}" type="sibTrans" cxnId="{96C5EAFB-5B22-478D-91FE-78851951C314}">
      <dgm:prSet/>
      <dgm:spPr/>
      <dgm:t>
        <a:bodyPr/>
        <a:lstStyle/>
        <a:p>
          <a:endParaRPr lang="en-US"/>
        </a:p>
      </dgm:t>
    </dgm:pt>
    <dgm:pt modelId="{564784D0-439F-4FA9-9FE0-DDB95467D6D5}">
      <dgm:prSet/>
      <dgm:spPr/>
      <dgm:t>
        <a:bodyPr/>
        <a:lstStyle/>
        <a:p>
          <a:r>
            <a:rPr lang="en-US" dirty="0"/>
            <a:t>Changing consensus</a:t>
          </a:r>
        </a:p>
        <a:p>
          <a:r>
            <a:rPr lang="en-US" dirty="0"/>
            <a:t>(monogamy)</a:t>
          </a:r>
        </a:p>
      </dgm:t>
    </dgm:pt>
    <dgm:pt modelId="{3B584B97-3B39-4539-962D-A569C1CB9686}" type="parTrans" cxnId="{B4F7157E-7A84-4141-925D-303AA1D3DAA0}">
      <dgm:prSet/>
      <dgm:spPr/>
      <dgm:t>
        <a:bodyPr/>
        <a:lstStyle/>
        <a:p>
          <a:endParaRPr lang="en-US"/>
        </a:p>
      </dgm:t>
    </dgm:pt>
    <dgm:pt modelId="{A9C5CB6A-B5D6-4312-941A-7AA9CBCBAF5B}" type="sibTrans" cxnId="{B4F7157E-7A84-4141-925D-303AA1D3DAA0}">
      <dgm:prSet/>
      <dgm:spPr/>
      <dgm:t>
        <a:bodyPr/>
        <a:lstStyle/>
        <a:p>
          <a:endParaRPr lang="en-US"/>
        </a:p>
      </dgm:t>
    </dgm:pt>
    <dgm:pt modelId="{4B9F8693-C24B-49FC-A6D5-037425135DD0}" type="pres">
      <dgm:prSet presAssocID="{CB53DFCF-6647-4EDA-9688-ECCA4470AFF9}" presName="vert0" presStyleCnt="0">
        <dgm:presLayoutVars>
          <dgm:dir/>
          <dgm:animOne val="branch"/>
          <dgm:animLvl val="lvl"/>
        </dgm:presLayoutVars>
      </dgm:prSet>
      <dgm:spPr/>
    </dgm:pt>
    <dgm:pt modelId="{81A23887-04EE-47F9-8163-508C236FFE91}" type="pres">
      <dgm:prSet presAssocID="{5F4D9EA0-90B0-4A5C-973D-1D00BEF13B47}" presName="thickLine" presStyleLbl="alignNode1" presStyleIdx="0" presStyleCnt="3"/>
      <dgm:spPr/>
    </dgm:pt>
    <dgm:pt modelId="{10D820D8-EE22-496C-B056-705B4B585FB5}" type="pres">
      <dgm:prSet presAssocID="{5F4D9EA0-90B0-4A5C-973D-1D00BEF13B47}" presName="horz1" presStyleCnt="0"/>
      <dgm:spPr/>
    </dgm:pt>
    <dgm:pt modelId="{C593996F-C958-4FAA-9BFE-34EA863179D2}" type="pres">
      <dgm:prSet presAssocID="{5F4D9EA0-90B0-4A5C-973D-1D00BEF13B47}" presName="tx1" presStyleLbl="revTx" presStyleIdx="0" presStyleCnt="3"/>
      <dgm:spPr/>
    </dgm:pt>
    <dgm:pt modelId="{5C15DA57-7ED2-4E7C-A040-DB1FF784B887}" type="pres">
      <dgm:prSet presAssocID="{5F4D9EA0-90B0-4A5C-973D-1D00BEF13B47}" presName="vert1" presStyleCnt="0"/>
      <dgm:spPr/>
    </dgm:pt>
    <dgm:pt modelId="{668092C2-EB85-4CCB-8877-5EEC5F337EEF}" type="pres">
      <dgm:prSet presAssocID="{C1DB8221-8F65-4C0C-83FB-C442CC7AE592}" presName="thickLine" presStyleLbl="alignNode1" presStyleIdx="1" presStyleCnt="3"/>
      <dgm:spPr/>
    </dgm:pt>
    <dgm:pt modelId="{364D4115-9974-414A-92D8-FBA30378700C}" type="pres">
      <dgm:prSet presAssocID="{C1DB8221-8F65-4C0C-83FB-C442CC7AE592}" presName="horz1" presStyleCnt="0"/>
      <dgm:spPr/>
    </dgm:pt>
    <dgm:pt modelId="{114F5D56-9DB3-4B54-8638-0F1D2CC14647}" type="pres">
      <dgm:prSet presAssocID="{C1DB8221-8F65-4C0C-83FB-C442CC7AE592}" presName="tx1" presStyleLbl="revTx" presStyleIdx="1" presStyleCnt="3"/>
      <dgm:spPr/>
    </dgm:pt>
    <dgm:pt modelId="{90BEA04F-BAA7-4083-9DAB-E528C4EFFF8A}" type="pres">
      <dgm:prSet presAssocID="{C1DB8221-8F65-4C0C-83FB-C442CC7AE592}" presName="vert1" presStyleCnt="0"/>
      <dgm:spPr/>
    </dgm:pt>
    <dgm:pt modelId="{B302EBCC-79E5-4A31-B093-C1F939552929}" type="pres">
      <dgm:prSet presAssocID="{564784D0-439F-4FA9-9FE0-DDB95467D6D5}" presName="thickLine" presStyleLbl="alignNode1" presStyleIdx="2" presStyleCnt="3"/>
      <dgm:spPr/>
    </dgm:pt>
    <dgm:pt modelId="{0771AE62-CCC7-40E2-B584-4389BE71B34F}" type="pres">
      <dgm:prSet presAssocID="{564784D0-439F-4FA9-9FE0-DDB95467D6D5}" presName="horz1" presStyleCnt="0"/>
      <dgm:spPr/>
    </dgm:pt>
    <dgm:pt modelId="{23FCA132-32A0-4B46-B6D4-0AE96E088E24}" type="pres">
      <dgm:prSet presAssocID="{564784D0-439F-4FA9-9FE0-DDB95467D6D5}" presName="tx1" presStyleLbl="revTx" presStyleIdx="2" presStyleCnt="3"/>
      <dgm:spPr/>
    </dgm:pt>
    <dgm:pt modelId="{7EB7F6C0-7639-4ACA-B3D6-49991C8EEDA4}" type="pres">
      <dgm:prSet presAssocID="{564784D0-439F-4FA9-9FE0-DDB95467D6D5}" presName="vert1" presStyleCnt="0"/>
      <dgm:spPr/>
    </dgm:pt>
  </dgm:ptLst>
  <dgm:cxnLst>
    <dgm:cxn modelId="{BD08F761-73C5-4934-A058-DFCCCB81321F}" type="presOf" srcId="{5F4D9EA0-90B0-4A5C-973D-1D00BEF13B47}" destId="{C593996F-C958-4FAA-9BFE-34EA863179D2}" srcOrd="0" destOrd="0" presId="urn:microsoft.com/office/officeart/2008/layout/LinedList"/>
    <dgm:cxn modelId="{00BC1D6D-BB9A-4B9D-81F4-A0B475DB2C03}" type="presOf" srcId="{C1DB8221-8F65-4C0C-83FB-C442CC7AE592}" destId="{114F5D56-9DB3-4B54-8638-0F1D2CC14647}" srcOrd="0" destOrd="0" presId="urn:microsoft.com/office/officeart/2008/layout/LinedList"/>
    <dgm:cxn modelId="{B4F7157E-7A84-4141-925D-303AA1D3DAA0}" srcId="{CB53DFCF-6647-4EDA-9688-ECCA4470AFF9}" destId="{564784D0-439F-4FA9-9FE0-DDB95467D6D5}" srcOrd="2" destOrd="0" parTransId="{3B584B97-3B39-4539-962D-A569C1CB9686}" sibTransId="{A9C5CB6A-B5D6-4312-941A-7AA9CBCBAF5B}"/>
    <dgm:cxn modelId="{554716C3-022A-4668-817D-CB51F3FD71C5}" type="presOf" srcId="{CB53DFCF-6647-4EDA-9688-ECCA4470AFF9}" destId="{4B9F8693-C24B-49FC-A6D5-037425135DD0}" srcOrd="0" destOrd="0" presId="urn:microsoft.com/office/officeart/2008/layout/LinedList"/>
    <dgm:cxn modelId="{3E38BBD6-29B8-436D-A6A1-A27198DD1C01}" type="presOf" srcId="{564784D0-439F-4FA9-9FE0-DDB95467D6D5}" destId="{23FCA132-32A0-4B46-B6D4-0AE96E088E24}" srcOrd="0" destOrd="0" presId="urn:microsoft.com/office/officeart/2008/layout/LinedList"/>
    <dgm:cxn modelId="{394858E8-7651-4961-8699-36DA30872BEB}" srcId="{CB53DFCF-6647-4EDA-9688-ECCA4470AFF9}" destId="{5F4D9EA0-90B0-4A5C-973D-1D00BEF13B47}" srcOrd="0" destOrd="0" parTransId="{CD069A86-B094-4E4C-A565-8BA585458561}" sibTransId="{4B04A60D-3913-4F39-ABB6-5387DAA59889}"/>
    <dgm:cxn modelId="{96C5EAFB-5B22-478D-91FE-78851951C314}" srcId="{CB53DFCF-6647-4EDA-9688-ECCA4470AFF9}" destId="{C1DB8221-8F65-4C0C-83FB-C442CC7AE592}" srcOrd="1" destOrd="0" parTransId="{4541762D-E658-4365-AE38-6A23EA5232C2}" sibTransId="{71BCCF1E-D772-41BA-8499-AD3B64F4B50F}"/>
    <dgm:cxn modelId="{32783D2B-17D0-4CE0-8F41-F991049AFBD9}" type="presParOf" srcId="{4B9F8693-C24B-49FC-A6D5-037425135DD0}" destId="{81A23887-04EE-47F9-8163-508C236FFE91}" srcOrd="0" destOrd="0" presId="urn:microsoft.com/office/officeart/2008/layout/LinedList"/>
    <dgm:cxn modelId="{40A69318-21DD-4536-AF48-2B558AB8E9B4}" type="presParOf" srcId="{4B9F8693-C24B-49FC-A6D5-037425135DD0}" destId="{10D820D8-EE22-496C-B056-705B4B585FB5}" srcOrd="1" destOrd="0" presId="urn:microsoft.com/office/officeart/2008/layout/LinedList"/>
    <dgm:cxn modelId="{0C578AE9-781D-438A-B5FE-B0BFFD0D12B8}" type="presParOf" srcId="{10D820D8-EE22-496C-B056-705B4B585FB5}" destId="{C593996F-C958-4FAA-9BFE-34EA863179D2}" srcOrd="0" destOrd="0" presId="urn:microsoft.com/office/officeart/2008/layout/LinedList"/>
    <dgm:cxn modelId="{F92D3FC6-6FE3-4CD7-AF29-20FEDA44CA15}" type="presParOf" srcId="{10D820D8-EE22-496C-B056-705B4B585FB5}" destId="{5C15DA57-7ED2-4E7C-A040-DB1FF784B887}" srcOrd="1" destOrd="0" presId="urn:microsoft.com/office/officeart/2008/layout/LinedList"/>
    <dgm:cxn modelId="{150FD37C-AD0F-4B10-B641-B026F9B809B3}" type="presParOf" srcId="{4B9F8693-C24B-49FC-A6D5-037425135DD0}" destId="{668092C2-EB85-4CCB-8877-5EEC5F337EEF}" srcOrd="2" destOrd="0" presId="urn:microsoft.com/office/officeart/2008/layout/LinedList"/>
    <dgm:cxn modelId="{F971342F-3697-45FD-8E5D-AA5A1157E3AD}" type="presParOf" srcId="{4B9F8693-C24B-49FC-A6D5-037425135DD0}" destId="{364D4115-9974-414A-92D8-FBA30378700C}" srcOrd="3" destOrd="0" presId="urn:microsoft.com/office/officeart/2008/layout/LinedList"/>
    <dgm:cxn modelId="{3957053E-8AAB-46CC-BCD7-B6308FA681BC}" type="presParOf" srcId="{364D4115-9974-414A-92D8-FBA30378700C}" destId="{114F5D56-9DB3-4B54-8638-0F1D2CC14647}" srcOrd="0" destOrd="0" presId="urn:microsoft.com/office/officeart/2008/layout/LinedList"/>
    <dgm:cxn modelId="{B340F8A9-0BA8-42A5-93E4-BB4707253E1C}" type="presParOf" srcId="{364D4115-9974-414A-92D8-FBA30378700C}" destId="{90BEA04F-BAA7-4083-9DAB-E528C4EFFF8A}" srcOrd="1" destOrd="0" presId="urn:microsoft.com/office/officeart/2008/layout/LinedList"/>
    <dgm:cxn modelId="{24A90AE9-49F1-4F15-A01E-2B1F6066810A}" type="presParOf" srcId="{4B9F8693-C24B-49FC-A6D5-037425135DD0}" destId="{B302EBCC-79E5-4A31-B093-C1F939552929}" srcOrd="4" destOrd="0" presId="urn:microsoft.com/office/officeart/2008/layout/LinedList"/>
    <dgm:cxn modelId="{A4C8A336-319A-4205-B339-F858CC1599A3}" type="presParOf" srcId="{4B9F8693-C24B-49FC-A6D5-037425135DD0}" destId="{0771AE62-CCC7-40E2-B584-4389BE71B34F}" srcOrd="5" destOrd="0" presId="urn:microsoft.com/office/officeart/2008/layout/LinedList"/>
    <dgm:cxn modelId="{3CDFE531-5D7C-4197-860F-476E4AD88DB6}" type="presParOf" srcId="{0771AE62-CCC7-40E2-B584-4389BE71B34F}" destId="{23FCA132-32A0-4B46-B6D4-0AE96E088E24}" srcOrd="0" destOrd="0" presId="urn:microsoft.com/office/officeart/2008/layout/LinedList"/>
    <dgm:cxn modelId="{CD5C16FF-C1DD-4553-BCCE-B320A3084FC3}" type="presParOf" srcId="{0771AE62-CCC7-40E2-B584-4389BE71B34F}" destId="{7EB7F6C0-7639-4ACA-B3D6-49991C8EEDA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5743AE-D26D-4FDB-88F1-C33602B6BF05}">
      <dsp:nvSpPr>
        <dsp:cNvPr id="0" name=""/>
        <dsp:cNvSpPr/>
      </dsp:nvSpPr>
      <dsp:spPr>
        <a:xfrm>
          <a:off x="0" y="0"/>
          <a:ext cx="10972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4AD227-C9EE-46B9-B3BA-7536B586C1F4}">
      <dsp:nvSpPr>
        <dsp:cNvPr id="0" name=""/>
        <dsp:cNvSpPr/>
      </dsp:nvSpPr>
      <dsp:spPr>
        <a:xfrm>
          <a:off x="0" y="0"/>
          <a:ext cx="109728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Relative</a:t>
          </a:r>
          <a:r>
            <a:rPr lang="en-US" sz="3100" kern="1200"/>
            <a:t>: varies across time and place (when and where)</a:t>
          </a:r>
        </a:p>
      </dsp:txBody>
      <dsp:txXfrm>
        <a:off x="0" y="0"/>
        <a:ext cx="10972800" cy="1131490"/>
      </dsp:txXfrm>
    </dsp:sp>
    <dsp:sp modelId="{26475679-001A-4F99-8267-2462CFAC6325}">
      <dsp:nvSpPr>
        <dsp:cNvPr id="0" name=""/>
        <dsp:cNvSpPr/>
      </dsp:nvSpPr>
      <dsp:spPr>
        <a:xfrm>
          <a:off x="0" y="1131490"/>
          <a:ext cx="10972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06F819-5572-466B-B103-876B32F154E1}">
      <dsp:nvSpPr>
        <dsp:cNvPr id="0" name=""/>
        <dsp:cNvSpPr/>
      </dsp:nvSpPr>
      <dsp:spPr>
        <a:xfrm>
          <a:off x="0" y="1131490"/>
          <a:ext cx="109728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Contextual</a:t>
          </a:r>
          <a:r>
            <a:rPr lang="en-US" sz="3100" kern="1200"/>
            <a:t>: depends on specific social situations (settings)</a:t>
          </a:r>
        </a:p>
      </dsp:txBody>
      <dsp:txXfrm>
        <a:off x="0" y="1131490"/>
        <a:ext cx="10972800" cy="1131490"/>
      </dsp:txXfrm>
    </dsp:sp>
    <dsp:sp modelId="{8994A450-D7F2-42C0-A2D5-450FBB346533}">
      <dsp:nvSpPr>
        <dsp:cNvPr id="0" name=""/>
        <dsp:cNvSpPr/>
      </dsp:nvSpPr>
      <dsp:spPr>
        <a:xfrm>
          <a:off x="0" y="2262981"/>
          <a:ext cx="10972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084E95-55CC-43FF-B407-B2E2F14FFE05}">
      <dsp:nvSpPr>
        <dsp:cNvPr id="0" name=""/>
        <dsp:cNvSpPr/>
      </dsp:nvSpPr>
      <dsp:spPr>
        <a:xfrm>
          <a:off x="0" y="2262981"/>
          <a:ext cx="109728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Contingent</a:t>
          </a:r>
          <a:r>
            <a:rPr lang="en-US" sz="3100" kern="1200"/>
            <a:t>: depends on factors outside of behavior, attitudes, or characteristics (statuses)</a:t>
          </a:r>
        </a:p>
      </dsp:txBody>
      <dsp:txXfrm>
        <a:off x="0" y="2262981"/>
        <a:ext cx="10972800" cy="1131490"/>
      </dsp:txXfrm>
    </dsp:sp>
    <dsp:sp modelId="{DC117926-EDB5-49DA-A892-2767A011008E}">
      <dsp:nvSpPr>
        <dsp:cNvPr id="0" name=""/>
        <dsp:cNvSpPr/>
      </dsp:nvSpPr>
      <dsp:spPr>
        <a:xfrm>
          <a:off x="0" y="3394472"/>
          <a:ext cx="10972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754D24-9F72-4306-87AF-43B47FFD32A4}">
      <dsp:nvSpPr>
        <dsp:cNvPr id="0" name=""/>
        <dsp:cNvSpPr/>
      </dsp:nvSpPr>
      <dsp:spPr>
        <a:xfrm>
          <a:off x="0" y="3394472"/>
          <a:ext cx="109728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Probabilistic</a:t>
          </a:r>
          <a:r>
            <a:rPr lang="en-US" sz="3100" kern="1200"/>
            <a:t>: likely but not definitive</a:t>
          </a:r>
        </a:p>
      </dsp:txBody>
      <dsp:txXfrm>
        <a:off x="0" y="3394472"/>
        <a:ext cx="10972800" cy="11314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5CB88B-B743-4A06-9B7B-DA9486DEF0E5}">
      <dsp:nvSpPr>
        <dsp:cNvPr id="0" name=""/>
        <dsp:cNvSpPr/>
      </dsp:nvSpPr>
      <dsp:spPr>
        <a:xfrm>
          <a:off x="0" y="2125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0E1E0D-F179-4407-AE84-4AEA10939248}">
      <dsp:nvSpPr>
        <dsp:cNvPr id="0" name=""/>
        <dsp:cNvSpPr/>
      </dsp:nvSpPr>
      <dsp:spPr>
        <a:xfrm>
          <a:off x="0" y="2125"/>
          <a:ext cx="10515600" cy="1449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Funding restrictions (unless tied to public health)</a:t>
          </a:r>
        </a:p>
      </dsp:txBody>
      <dsp:txXfrm>
        <a:off x="0" y="2125"/>
        <a:ext cx="10515600" cy="1449431"/>
      </dsp:txXfrm>
    </dsp:sp>
    <dsp:sp modelId="{29330481-4AD6-4FE6-A1EC-5FB0DA645D44}">
      <dsp:nvSpPr>
        <dsp:cNvPr id="0" name=""/>
        <dsp:cNvSpPr/>
      </dsp:nvSpPr>
      <dsp:spPr>
        <a:xfrm>
          <a:off x="0" y="1451556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A2476B-6C31-4CEF-A1DE-102E7AF0C4EB}">
      <dsp:nvSpPr>
        <dsp:cNvPr id="0" name=""/>
        <dsp:cNvSpPr/>
      </dsp:nvSpPr>
      <dsp:spPr>
        <a:xfrm>
          <a:off x="0" y="1451556"/>
          <a:ext cx="10515600" cy="1449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Distrust/Courtesy stigma</a:t>
          </a:r>
        </a:p>
      </dsp:txBody>
      <dsp:txXfrm>
        <a:off x="0" y="1451556"/>
        <a:ext cx="10515600" cy="1449431"/>
      </dsp:txXfrm>
    </dsp:sp>
    <dsp:sp modelId="{2AD875D0-01DF-4C7A-A884-347A729A99C7}">
      <dsp:nvSpPr>
        <dsp:cNvPr id="0" name=""/>
        <dsp:cNvSpPr/>
      </dsp:nvSpPr>
      <dsp:spPr>
        <a:xfrm>
          <a:off x="0" y="2900987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133A27-F22F-43CE-AD40-6A884E34D85B}">
      <dsp:nvSpPr>
        <dsp:cNvPr id="0" name=""/>
        <dsp:cNvSpPr/>
      </dsp:nvSpPr>
      <dsp:spPr>
        <a:xfrm>
          <a:off x="0" y="2900987"/>
          <a:ext cx="10515600" cy="1449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Essentialist thinking</a:t>
          </a:r>
        </a:p>
      </dsp:txBody>
      <dsp:txXfrm>
        <a:off x="0" y="2900987"/>
        <a:ext cx="10515600" cy="14494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C2FEF2-89BE-45D3-B259-14792057547E}">
      <dsp:nvSpPr>
        <dsp:cNvPr id="0" name=""/>
        <dsp:cNvSpPr/>
      </dsp:nvSpPr>
      <dsp:spPr>
        <a:xfrm>
          <a:off x="1981542" y="2365"/>
          <a:ext cx="2229234" cy="113772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/>
            <a:t>Experimental</a:t>
          </a:r>
        </a:p>
      </dsp:txBody>
      <dsp:txXfrm>
        <a:off x="2037081" y="57904"/>
        <a:ext cx="2118156" cy="1026643"/>
      </dsp:txXfrm>
    </dsp:sp>
    <dsp:sp modelId="{41C21A57-3AE8-4F82-9C67-96CCDCBAC421}">
      <dsp:nvSpPr>
        <dsp:cNvPr id="0" name=""/>
        <dsp:cNvSpPr/>
      </dsp:nvSpPr>
      <dsp:spPr>
        <a:xfrm>
          <a:off x="1981542" y="1196973"/>
          <a:ext cx="2229234" cy="113772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/>
            <a:t>clinical</a:t>
          </a:r>
        </a:p>
      </dsp:txBody>
      <dsp:txXfrm>
        <a:off x="2037081" y="1252512"/>
        <a:ext cx="2118156" cy="1026643"/>
      </dsp:txXfrm>
    </dsp:sp>
    <dsp:sp modelId="{C945BFE4-AE17-4258-AA11-C799D40D6332}">
      <dsp:nvSpPr>
        <dsp:cNvPr id="0" name=""/>
        <dsp:cNvSpPr/>
      </dsp:nvSpPr>
      <dsp:spPr>
        <a:xfrm>
          <a:off x="1981542" y="2391581"/>
          <a:ext cx="2229234" cy="113772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/>
            <a:t>Descriptive</a:t>
          </a:r>
        </a:p>
      </dsp:txBody>
      <dsp:txXfrm>
        <a:off x="2037081" y="2447120"/>
        <a:ext cx="2118156" cy="1026643"/>
      </dsp:txXfrm>
    </dsp:sp>
    <dsp:sp modelId="{D19E2E8A-9C8F-4070-B037-B95E74564E90}">
      <dsp:nvSpPr>
        <dsp:cNvPr id="0" name=""/>
        <dsp:cNvSpPr/>
      </dsp:nvSpPr>
      <dsp:spPr>
        <a:xfrm>
          <a:off x="1981542" y="3586188"/>
          <a:ext cx="2229234" cy="113772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/>
            <a:t>Social bookkeeping</a:t>
          </a:r>
        </a:p>
      </dsp:txBody>
      <dsp:txXfrm>
        <a:off x="2037081" y="3641727"/>
        <a:ext cx="2118156" cy="10266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D3F46C-8645-4BB9-A76E-0176C4A9CAA9}">
      <dsp:nvSpPr>
        <dsp:cNvPr id="0" name=""/>
        <dsp:cNvSpPr/>
      </dsp:nvSpPr>
      <dsp:spPr>
        <a:xfrm>
          <a:off x="0" y="0"/>
          <a:ext cx="6291714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F99FAF-B436-4EDF-A527-C85D5BF7D3A1}">
      <dsp:nvSpPr>
        <dsp:cNvPr id="0" name=""/>
        <dsp:cNvSpPr/>
      </dsp:nvSpPr>
      <dsp:spPr>
        <a:xfrm>
          <a:off x="0" y="0"/>
          <a:ext cx="6291714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Late 1980s/1990s</a:t>
          </a:r>
        </a:p>
      </dsp:txBody>
      <dsp:txXfrm>
        <a:off x="0" y="0"/>
        <a:ext cx="6291714" cy="1382683"/>
      </dsp:txXfrm>
    </dsp:sp>
    <dsp:sp modelId="{2338011F-1FEB-458A-855B-7B54829C1031}">
      <dsp:nvSpPr>
        <dsp:cNvPr id="0" name=""/>
        <dsp:cNvSpPr/>
      </dsp:nvSpPr>
      <dsp:spPr>
        <a:xfrm>
          <a:off x="0" y="1382683"/>
          <a:ext cx="6291714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FB87FD-AD8C-4283-A995-208EE32238E7}">
      <dsp:nvSpPr>
        <dsp:cNvPr id="0" name=""/>
        <dsp:cNvSpPr/>
      </dsp:nvSpPr>
      <dsp:spPr>
        <a:xfrm>
          <a:off x="0" y="1382683"/>
          <a:ext cx="6291714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Public health funding</a:t>
          </a:r>
        </a:p>
      </dsp:txBody>
      <dsp:txXfrm>
        <a:off x="0" y="1382683"/>
        <a:ext cx="6291714" cy="1382683"/>
      </dsp:txXfrm>
    </dsp:sp>
    <dsp:sp modelId="{C7FF0060-CA77-4CD4-BE10-8E7545E81FD5}">
      <dsp:nvSpPr>
        <dsp:cNvPr id="0" name=""/>
        <dsp:cNvSpPr/>
      </dsp:nvSpPr>
      <dsp:spPr>
        <a:xfrm>
          <a:off x="0" y="2765367"/>
          <a:ext cx="6291714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508CDC-9F60-423C-A35F-1A4B33BF828E}">
      <dsp:nvSpPr>
        <dsp:cNvPr id="0" name=""/>
        <dsp:cNvSpPr/>
      </dsp:nvSpPr>
      <dsp:spPr>
        <a:xfrm>
          <a:off x="0" y="2765367"/>
          <a:ext cx="6291714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Political flashpoint</a:t>
          </a:r>
        </a:p>
      </dsp:txBody>
      <dsp:txXfrm>
        <a:off x="0" y="2765367"/>
        <a:ext cx="6291714" cy="1382683"/>
      </dsp:txXfrm>
    </dsp:sp>
    <dsp:sp modelId="{437F3B47-D44E-438D-A335-FD327C22213C}">
      <dsp:nvSpPr>
        <dsp:cNvPr id="0" name=""/>
        <dsp:cNvSpPr/>
      </dsp:nvSpPr>
      <dsp:spPr>
        <a:xfrm>
          <a:off x="0" y="4148051"/>
          <a:ext cx="6291714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033C7-B629-4BCC-A619-F2676D06A835}">
      <dsp:nvSpPr>
        <dsp:cNvPr id="0" name=""/>
        <dsp:cNvSpPr/>
      </dsp:nvSpPr>
      <dsp:spPr>
        <a:xfrm>
          <a:off x="0" y="4148051"/>
          <a:ext cx="6291714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Findings supported high rates of “conventionality”</a:t>
          </a:r>
        </a:p>
      </dsp:txBody>
      <dsp:txXfrm>
        <a:off x="0" y="4148051"/>
        <a:ext cx="6291714" cy="138268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A23887-04EE-47F9-8163-508C236FFE91}">
      <dsp:nvSpPr>
        <dsp:cNvPr id="0" name=""/>
        <dsp:cNvSpPr/>
      </dsp:nvSpPr>
      <dsp:spPr>
        <a:xfrm>
          <a:off x="0" y="2700"/>
          <a:ext cx="6291714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93996F-C958-4FAA-9BFE-34EA863179D2}">
      <dsp:nvSpPr>
        <dsp:cNvPr id="0" name=""/>
        <dsp:cNvSpPr/>
      </dsp:nvSpPr>
      <dsp:spPr>
        <a:xfrm>
          <a:off x="0" y="2700"/>
          <a:ext cx="6291714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Relative changes from deviance to conventional (“premarital” sex)</a:t>
          </a:r>
        </a:p>
      </dsp:txBody>
      <dsp:txXfrm>
        <a:off x="0" y="2700"/>
        <a:ext cx="6291714" cy="1841777"/>
      </dsp:txXfrm>
    </dsp:sp>
    <dsp:sp modelId="{668092C2-EB85-4CCB-8877-5EEC5F337EEF}">
      <dsp:nvSpPr>
        <dsp:cNvPr id="0" name=""/>
        <dsp:cNvSpPr/>
      </dsp:nvSpPr>
      <dsp:spPr>
        <a:xfrm>
          <a:off x="0" y="1844478"/>
          <a:ext cx="6291714" cy="0"/>
        </a:xfrm>
        <a:prstGeom prst="line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4F5D56-9DB3-4B54-8638-0F1D2CC14647}">
      <dsp:nvSpPr>
        <dsp:cNvPr id="0" name=""/>
        <dsp:cNvSpPr/>
      </dsp:nvSpPr>
      <dsp:spPr>
        <a:xfrm>
          <a:off x="0" y="1844478"/>
          <a:ext cx="6291714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High consensus consistency (“cheating”)</a:t>
          </a:r>
        </a:p>
      </dsp:txBody>
      <dsp:txXfrm>
        <a:off x="0" y="1844478"/>
        <a:ext cx="6291714" cy="1841777"/>
      </dsp:txXfrm>
    </dsp:sp>
    <dsp:sp modelId="{B302EBCC-79E5-4A31-B093-C1F939552929}">
      <dsp:nvSpPr>
        <dsp:cNvPr id="0" name=""/>
        <dsp:cNvSpPr/>
      </dsp:nvSpPr>
      <dsp:spPr>
        <a:xfrm>
          <a:off x="0" y="3686256"/>
          <a:ext cx="6291714" cy="0"/>
        </a:xfrm>
        <a:prstGeom prst="lin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FCA132-32A0-4B46-B6D4-0AE96E088E24}">
      <dsp:nvSpPr>
        <dsp:cNvPr id="0" name=""/>
        <dsp:cNvSpPr/>
      </dsp:nvSpPr>
      <dsp:spPr>
        <a:xfrm>
          <a:off x="0" y="3686256"/>
          <a:ext cx="6291714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Changing consensus</a:t>
          </a:r>
        </a:p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(monogamy)</a:t>
          </a:r>
        </a:p>
      </dsp:txBody>
      <dsp:txXfrm>
        <a:off x="0" y="3686256"/>
        <a:ext cx="6291714" cy="18417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6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DE0D92-FC69-41C7-9E8E-634B8C53562C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5F68E-9D0A-4680-89A4-97F053675F1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storefront in Paris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5F68E-9D0A-4680-89A4-97F053675F1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150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William Masters and Virginia Johnson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5F68E-9D0A-4680-89A4-97F053675F10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379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*NSSSHB now decommissioned, funding split between National Survey of Sexual Wellbeing, National Survey of Family Growth, Youth Risk Behavior Survey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5F68E-9D0A-4680-89A4-97F053675F10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6245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*down below 50% for people who identify as Republican since 2022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5F68E-9D0A-4680-89A4-97F053675F10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9301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Dark green: Prohibits licensed health care providers from treating minors, Green stripe: restricts but does not prohibit, Yellow: no state law or policy Orange: court rulings routinely overrule local restrictions https://mapresearch.org/equality-map/conversion-therapy-laws/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5F68E-9D0A-4680-89A4-97F053675F10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191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op of the best sex shops in Paris | Le Bonbon">
            <a:extLst>
              <a:ext uri="{FF2B5EF4-FFF2-40B4-BE49-F238E27FC236}">
                <a16:creationId xmlns:a16="http://schemas.microsoft.com/office/drawing/2014/main" id="{BE85F2FC-EF87-93E4-53B4-C39C48A8DA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1" name="Freeform 12">
            <a:extLst>
              <a:ext uri="{FF2B5EF4-FFF2-40B4-BE49-F238E27FC236}">
                <a16:creationId xmlns:a16="http://schemas.microsoft.com/office/drawing/2014/main" id="{522A94E1-AEBD-4286-BFF8-0711E4CD3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622650" y="5181600"/>
            <a:ext cx="9165010" cy="1174750"/>
          </a:xfrm>
          <a:custGeom>
            <a:avLst/>
            <a:gdLst>
              <a:gd name="connsiteX0" fmla="*/ 0 w 9165010"/>
              <a:gd name="connsiteY0" fmla="*/ 1073384 h 1073384"/>
              <a:gd name="connsiteX1" fmla="*/ 9165010 w 9165010"/>
              <a:gd name="connsiteY1" fmla="*/ 1073384 h 1073384"/>
              <a:gd name="connsiteX2" fmla="*/ 9165010 w 9165010"/>
              <a:gd name="connsiteY2" fmla="*/ 266817 h 1073384"/>
              <a:gd name="connsiteX3" fmla="*/ 4757604 w 9165010"/>
              <a:gd name="connsiteY3" fmla="*/ 266817 h 1073384"/>
              <a:gd name="connsiteX4" fmla="*/ 4582505 w 9165010"/>
              <a:gd name="connsiteY4" fmla="*/ 0 h 1073384"/>
              <a:gd name="connsiteX5" fmla="*/ 4407407 w 9165010"/>
              <a:gd name="connsiteY5" fmla="*/ 266817 h 1073384"/>
              <a:gd name="connsiteX6" fmla="*/ 0 w 9165010"/>
              <a:gd name="connsiteY6" fmla="*/ 266817 h 1073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65010" h="1073384">
                <a:moveTo>
                  <a:pt x="0" y="1073384"/>
                </a:moveTo>
                <a:lnTo>
                  <a:pt x="9165010" y="1073384"/>
                </a:lnTo>
                <a:lnTo>
                  <a:pt x="9165010" y="266817"/>
                </a:lnTo>
                <a:lnTo>
                  <a:pt x="4757604" y="266817"/>
                </a:lnTo>
                <a:lnTo>
                  <a:pt x="4582505" y="0"/>
                </a:lnTo>
                <a:lnTo>
                  <a:pt x="4407407" y="266817"/>
                </a:lnTo>
                <a:lnTo>
                  <a:pt x="0" y="266817"/>
                </a:lnTo>
                <a:close/>
              </a:path>
            </a:pathLst>
          </a:custGeom>
          <a:solidFill>
            <a:srgbClr val="404040">
              <a:alpha val="9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71650" y="5254391"/>
            <a:ext cx="8867012" cy="774934"/>
          </a:xfrm>
          <a:noFill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Sex as Deviance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C39D37-941A-09BF-4367-713155C97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Vice: a bad habit, a personal failing, or a character flaw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C5DD5-A2EC-80BE-E10A-5FC5C1390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2560322"/>
            <a:ext cx="9941319" cy="3581858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2800" b="1" dirty="0"/>
              <a:t>Morality</a:t>
            </a:r>
            <a:r>
              <a:rPr lang="en-US" sz="2800" dirty="0"/>
              <a:t>: personal or group principles that distinguish between right/wrong, good/bad and serve as guidelines for behavior</a:t>
            </a:r>
          </a:p>
          <a:p>
            <a:pPr marL="0" indent="0">
              <a:buNone/>
            </a:pPr>
            <a:r>
              <a:rPr lang="en-US" sz="2800" b="1" dirty="0"/>
              <a:t>Moral entrepreneurs</a:t>
            </a:r>
            <a:r>
              <a:rPr lang="en-US" sz="2800" dirty="0"/>
              <a:t>: individuals or groups that frame social concerns as a moral issue and work to have their concerns reflected in policy or law</a:t>
            </a:r>
          </a:p>
          <a:p>
            <a:pPr marL="0" indent="0">
              <a:buNone/>
            </a:pPr>
            <a:r>
              <a:rPr lang="en-US" sz="2800" b="1" dirty="0"/>
              <a:t>Moral panics</a:t>
            </a:r>
            <a:r>
              <a:rPr lang="en-US" sz="2800" dirty="0"/>
              <a:t>: periods of intense social concern over particular social phenomenon where the concern is disproportionate to any concrete harm or threat 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009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C96EE-D62E-C955-BB72-D70AE01AC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Social control: the entire range of responses a society uses to address norm violations (review)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E1B326-3E0D-1352-4585-85B43331E27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9600" y="1600201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0595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D5EE85-40AA-C950-046F-D218EF43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r>
              <a:rPr lang="en-US" sz="5200"/>
              <a:t>Research Challenges</a:t>
            </a:r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3BCE3910-E573-30E3-E54B-9A22893D06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1069972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4108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D8E4DE-1E9D-D114-2CDE-88213BC87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Essentialism: the idea that certain traits, qualities or characteristics are innate and rooted in biology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653AE-1951-0452-91CC-A6AD42E59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dirty="0"/>
              <a:t>Views sexual behavior and an interest in sex as “natural” and necessary</a:t>
            </a:r>
          </a:p>
          <a:p>
            <a:r>
              <a:rPr lang="en-US" dirty="0"/>
              <a:t>Sex is “</a:t>
            </a:r>
            <a:r>
              <a:rPr lang="en-US" dirty="0" err="1"/>
              <a:t>acultural</a:t>
            </a:r>
            <a:r>
              <a:rPr lang="en-US" dirty="0"/>
              <a:t>” and “ahistorical” (independent of culture and history)</a:t>
            </a:r>
          </a:p>
          <a:p>
            <a:r>
              <a:rPr lang="en-US" dirty="0"/>
              <a:t>Can/should be managed or regulated by social controls</a:t>
            </a:r>
          </a:p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7458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A31999-839D-2613-57C8-E473B117C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778205"/>
          </a:xfrm>
        </p:spPr>
        <p:txBody>
          <a:bodyPr anchor="ctr">
            <a:normAutofit/>
          </a:bodyPr>
          <a:lstStyle/>
          <a:p>
            <a:r>
              <a:rPr lang="en-US" sz="3600" dirty="0"/>
              <a:t>Medicalization and Criminalization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5A0F6-B25E-D6FB-595D-75F68C8EE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1981201"/>
            <a:ext cx="8074815" cy="378866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800" dirty="0"/>
              <a:t>Medicalization: definition of behavior or phenomenon as a medical concern, often with the mandate that the medical profession provide treatment or management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Criminalization: definition of behavior or phenomenon as a social threat to the larger society, often resulting in a legal restriction or formal social control</a:t>
            </a:r>
          </a:p>
        </p:txBody>
      </p:sp>
    </p:spTree>
    <p:extLst>
      <p:ext uri="{BB962C8B-B14F-4D97-AF65-F5344CB8AC3E}">
        <p14:creationId xmlns:p14="http://schemas.microsoft.com/office/powerpoint/2010/main" val="3586803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C27E5C56-FB8F-CF49-9593-21D283D97A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prstClr val="white"/>
            </a:duotone>
            <a:alphaModFix amt="35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FCEC2294-5A7B-45E5-9251-C1AA89F4A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bg2">
              <a:alpha val="60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B56279C-1E6F-FF81-873D-74B9BF79D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065862"/>
            <a:ext cx="3313164" cy="4726276"/>
          </a:xfrm>
        </p:spPr>
        <p:txBody>
          <a:bodyPr>
            <a:normAutofit/>
          </a:bodyPr>
          <a:lstStyle/>
          <a:p>
            <a:r>
              <a:rPr lang="en-US" sz="4000" dirty="0"/>
              <a:t>Four Research Traditions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7182200-4859-4C8D-BCBB-55B245C28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372" y="2286000"/>
            <a:ext cx="0" cy="22860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Content Placeholder 5">
            <a:extLst>
              <a:ext uri="{FF2B5EF4-FFF2-40B4-BE49-F238E27FC236}">
                <a16:creationId xmlns:a16="http://schemas.microsoft.com/office/drawing/2014/main" id="{0E624870-0FE6-1BD1-F188-8337C05278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7771214"/>
              </p:ext>
            </p:extLst>
          </p:nvPr>
        </p:nvGraphicFramePr>
        <p:xfrm>
          <a:off x="5155379" y="1065862"/>
          <a:ext cx="6192319" cy="47262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97507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2" name="Rectangle 1041">
            <a:extLst>
              <a:ext uri="{FF2B5EF4-FFF2-40B4-BE49-F238E27FC236}">
                <a16:creationId xmlns:a16="http://schemas.microsoft.com/office/drawing/2014/main" id="{5396781C-32A1-4FDA-A83B-A7FF8C1B1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D63F06-A4F5-894C-5CE1-55819A6B0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2400" y="1641752"/>
            <a:ext cx="6140449" cy="1323439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Experimental and Clinical Traditions</a:t>
            </a:r>
          </a:p>
        </p:txBody>
      </p:sp>
      <p:pic>
        <p:nvPicPr>
          <p:cNvPr id="1026" name="Picture 2" descr="The “Swinging” Sex Experts, Masters and Johnson | by Andrew Szanton | Medium">
            <a:extLst>
              <a:ext uri="{FF2B5EF4-FFF2-40B4-BE49-F238E27FC236}">
                <a16:creationId xmlns:a16="http://schemas.microsoft.com/office/drawing/2014/main" id="{7F7489C4-48CA-AB3A-2B39-3B50AB695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2" r="2" b="2"/>
          <a:stretch>
            <a:fillRect/>
          </a:stretch>
        </p:blipFill>
        <p:spPr bwMode="auto">
          <a:xfrm>
            <a:off x="20" y="10"/>
            <a:ext cx="4546582" cy="6857990"/>
          </a:xfrm>
          <a:custGeom>
            <a:avLst/>
            <a:gdLst/>
            <a:ahLst/>
            <a:cxnLst/>
            <a:rect l="l" t="t" r="r" b="b"/>
            <a:pathLst>
              <a:path w="4546602" h="6858000">
                <a:moveTo>
                  <a:pt x="4221600" y="6662544"/>
                </a:moveTo>
                <a:lnTo>
                  <a:pt x="4210150" y="6683027"/>
                </a:lnTo>
                <a:lnTo>
                  <a:pt x="4207002" y="6702976"/>
                </a:lnTo>
                <a:lnTo>
                  <a:pt x="4207002" y="6702977"/>
                </a:lnTo>
                <a:cubicBezTo>
                  <a:pt x="4207407" y="6716169"/>
                  <a:pt x="4212552" y="6729219"/>
                  <a:pt x="4220838" y="6742553"/>
                </a:cubicBezTo>
                <a:lnTo>
                  <a:pt x="4220839" y="6742555"/>
                </a:lnTo>
                <a:lnTo>
                  <a:pt x="4240316" y="6812062"/>
                </a:lnTo>
                <a:lnTo>
                  <a:pt x="4235543" y="6776800"/>
                </a:lnTo>
                <a:lnTo>
                  <a:pt x="4220839" y="6742555"/>
                </a:lnTo>
                <a:lnTo>
                  <a:pt x="4220838" y="6742552"/>
                </a:lnTo>
                <a:lnTo>
                  <a:pt x="4207002" y="6702976"/>
                </a:lnTo>
                <a:close/>
                <a:moveTo>
                  <a:pt x="4189594" y="6564620"/>
                </a:moveTo>
                <a:lnTo>
                  <a:pt x="4189594" y="6564621"/>
                </a:lnTo>
                <a:cubicBezTo>
                  <a:pt x="4199883" y="6575479"/>
                  <a:pt x="4205977" y="6582147"/>
                  <a:pt x="4212073" y="6588626"/>
                </a:cubicBezTo>
                <a:lnTo>
                  <a:pt x="4228695" y="6625225"/>
                </a:lnTo>
                <a:lnTo>
                  <a:pt x="4221601" y="6662541"/>
                </a:lnTo>
                <a:lnTo>
                  <a:pt x="4221600" y="6662541"/>
                </a:lnTo>
                <a:lnTo>
                  <a:pt x="4221600" y="6662542"/>
                </a:lnTo>
                <a:lnTo>
                  <a:pt x="4221601" y="6662541"/>
                </a:lnTo>
                <a:lnTo>
                  <a:pt x="4228684" y="6645552"/>
                </a:lnTo>
                <a:lnTo>
                  <a:pt x="4228695" y="6625225"/>
                </a:lnTo>
                <a:lnTo>
                  <a:pt x="4228695" y="6625224"/>
                </a:lnTo>
                <a:cubicBezTo>
                  <a:pt x="4226599" y="6611342"/>
                  <a:pt x="4220551" y="6597578"/>
                  <a:pt x="4212073" y="6588625"/>
                </a:cubicBezTo>
                <a:close/>
                <a:moveTo>
                  <a:pt x="4269915" y="6438981"/>
                </a:moveTo>
                <a:lnTo>
                  <a:pt x="4249984" y="6463840"/>
                </a:lnTo>
                <a:lnTo>
                  <a:pt x="4249982" y="6463849"/>
                </a:lnTo>
                <a:lnTo>
                  <a:pt x="4236188" y="6513012"/>
                </a:lnTo>
                <a:lnTo>
                  <a:pt x="4217381" y="6546194"/>
                </a:lnTo>
                <a:lnTo>
                  <a:pt x="4217381" y="6546195"/>
                </a:lnTo>
                <a:lnTo>
                  <a:pt x="4233719" y="6521804"/>
                </a:lnTo>
                <a:lnTo>
                  <a:pt x="4236188" y="6513012"/>
                </a:lnTo>
                <a:lnTo>
                  <a:pt x="4238998" y="6508052"/>
                </a:lnTo>
                <a:lnTo>
                  <a:pt x="4249982" y="6463849"/>
                </a:lnTo>
                <a:lnTo>
                  <a:pt x="4249984" y="6463841"/>
                </a:lnTo>
                <a:cubicBezTo>
                  <a:pt x="4252937" y="6451650"/>
                  <a:pt x="4260413" y="6444077"/>
                  <a:pt x="4269915" y="6438981"/>
                </a:cubicBezTo>
                <a:close/>
                <a:moveTo>
                  <a:pt x="4355914" y="6364769"/>
                </a:moveTo>
                <a:lnTo>
                  <a:pt x="4354607" y="6387910"/>
                </a:lnTo>
                <a:lnTo>
                  <a:pt x="4351952" y="6393385"/>
                </a:lnTo>
                <a:lnTo>
                  <a:pt x="4345189" y="6407332"/>
                </a:lnTo>
                <a:lnTo>
                  <a:pt x="4345189" y="6407333"/>
                </a:lnTo>
                <a:lnTo>
                  <a:pt x="4351952" y="6393385"/>
                </a:lnTo>
                <a:lnTo>
                  <a:pt x="4354608" y="6387910"/>
                </a:lnTo>
                <a:close/>
                <a:moveTo>
                  <a:pt x="4116820" y="4221391"/>
                </a:moveTo>
                <a:lnTo>
                  <a:pt x="4116820" y="4221392"/>
                </a:lnTo>
                <a:cubicBezTo>
                  <a:pt x="4117582" y="4232061"/>
                  <a:pt x="4117772" y="4243873"/>
                  <a:pt x="4122536" y="4253015"/>
                </a:cubicBezTo>
                <a:cubicBezTo>
                  <a:pt x="4134729" y="4277402"/>
                  <a:pt x="4150349" y="4300071"/>
                  <a:pt x="4162352" y="4324646"/>
                </a:cubicBezTo>
                <a:lnTo>
                  <a:pt x="4171306" y="4363891"/>
                </a:lnTo>
                <a:lnTo>
                  <a:pt x="4170544" y="4482004"/>
                </a:lnTo>
                <a:cubicBezTo>
                  <a:pt x="4167876" y="4546776"/>
                  <a:pt x="4167304" y="4612500"/>
                  <a:pt x="4110534" y="4659174"/>
                </a:cubicBezTo>
                <a:cubicBezTo>
                  <a:pt x="4105962" y="4662986"/>
                  <a:pt x="4103294" y="4671176"/>
                  <a:pt x="4102532" y="4677655"/>
                </a:cubicBezTo>
                <a:cubicBezTo>
                  <a:pt x="4098913" y="4707564"/>
                  <a:pt x="4098531" y="4738235"/>
                  <a:pt x="4092625" y="4767764"/>
                </a:cubicBezTo>
                <a:cubicBezTo>
                  <a:pt x="4090244" y="4779575"/>
                  <a:pt x="4089435" y="4790386"/>
                  <a:pt x="4091316" y="4800483"/>
                </a:cubicBezTo>
                <a:lnTo>
                  <a:pt x="4091316" y="4800484"/>
                </a:lnTo>
                <a:cubicBezTo>
                  <a:pt x="4093197" y="4810581"/>
                  <a:pt x="4097770" y="4819964"/>
                  <a:pt x="4106152" y="4828917"/>
                </a:cubicBezTo>
                <a:lnTo>
                  <a:pt x="4128333" y="4863343"/>
                </a:lnTo>
                <a:lnTo>
                  <a:pt x="4135862" y="4889275"/>
                </a:lnTo>
                <a:lnTo>
                  <a:pt x="4134157" y="4912168"/>
                </a:lnTo>
                <a:cubicBezTo>
                  <a:pt x="4132442" y="4919978"/>
                  <a:pt x="4132085" y="4927122"/>
                  <a:pt x="4132755" y="4933805"/>
                </a:cubicBezTo>
                <a:lnTo>
                  <a:pt x="4132755" y="4933806"/>
                </a:lnTo>
                <a:lnTo>
                  <a:pt x="4132757" y="4933810"/>
                </a:lnTo>
                <a:lnTo>
                  <a:pt x="4137514" y="4952673"/>
                </a:lnTo>
                <a:lnTo>
                  <a:pt x="4140307" y="4957453"/>
                </a:lnTo>
                <a:lnTo>
                  <a:pt x="4141585" y="4961456"/>
                </a:lnTo>
                <a:cubicBezTo>
                  <a:pt x="4146096" y="4970097"/>
                  <a:pt x="4151802" y="4978393"/>
                  <a:pt x="4157589" y="4987038"/>
                </a:cubicBezTo>
                <a:cubicBezTo>
                  <a:pt x="4168828" y="5003802"/>
                  <a:pt x="4182926" y="5022853"/>
                  <a:pt x="4184068" y="5041522"/>
                </a:cubicBezTo>
                <a:cubicBezTo>
                  <a:pt x="4184687" y="5052096"/>
                  <a:pt x="4187605" y="5062300"/>
                  <a:pt x="4191284" y="5072376"/>
                </a:cubicBezTo>
                <a:lnTo>
                  <a:pt x="4197188" y="5087444"/>
                </a:lnTo>
                <a:lnTo>
                  <a:pt x="4210215" y="5133220"/>
                </a:lnTo>
                <a:lnTo>
                  <a:pt x="4210217" y="5133225"/>
                </a:lnTo>
                <a:lnTo>
                  <a:pt x="4203501" y="5166113"/>
                </a:lnTo>
                <a:lnTo>
                  <a:pt x="4203501" y="5166114"/>
                </a:lnTo>
                <a:cubicBezTo>
                  <a:pt x="4202739" y="5167638"/>
                  <a:pt x="4203311" y="5169781"/>
                  <a:pt x="4204192" y="5172091"/>
                </a:cubicBezTo>
                <a:lnTo>
                  <a:pt x="4206739" y="5179068"/>
                </a:lnTo>
                <a:lnTo>
                  <a:pt x="4206573" y="5229433"/>
                </a:lnTo>
                <a:lnTo>
                  <a:pt x="4196024" y="5248936"/>
                </a:lnTo>
                <a:lnTo>
                  <a:pt x="4183116" y="5272796"/>
                </a:lnTo>
                <a:cubicBezTo>
                  <a:pt x="4171471" y="5285441"/>
                  <a:pt x="4163765" y="5298595"/>
                  <a:pt x="4159213" y="5312288"/>
                </a:cubicBezTo>
                <a:lnTo>
                  <a:pt x="4158157" y="5321350"/>
                </a:lnTo>
                <a:lnTo>
                  <a:pt x="4155683" y="5326163"/>
                </a:lnTo>
                <a:lnTo>
                  <a:pt x="4154237" y="5355014"/>
                </a:lnTo>
                <a:lnTo>
                  <a:pt x="4154237" y="5355015"/>
                </a:lnTo>
                <a:cubicBezTo>
                  <a:pt x="4154886" y="5364883"/>
                  <a:pt x="4156589" y="5375003"/>
                  <a:pt x="4159113" y="5385385"/>
                </a:cubicBezTo>
                <a:cubicBezTo>
                  <a:pt x="4162352" y="5398722"/>
                  <a:pt x="4164638" y="5412058"/>
                  <a:pt x="4167304" y="5425583"/>
                </a:cubicBezTo>
                <a:cubicBezTo>
                  <a:pt x="4171114" y="5443871"/>
                  <a:pt x="4175116" y="5462352"/>
                  <a:pt x="4178926" y="5480638"/>
                </a:cubicBezTo>
                <a:lnTo>
                  <a:pt x="4183450" y="5507668"/>
                </a:lnTo>
                <a:lnTo>
                  <a:pt x="4172831" y="5531692"/>
                </a:lnTo>
                <a:lnTo>
                  <a:pt x="4172830" y="5531693"/>
                </a:lnTo>
                <a:cubicBezTo>
                  <a:pt x="4165781" y="5537600"/>
                  <a:pt x="4162589" y="5542649"/>
                  <a:pt x="4162685" y="5547578"/>
                </a:cubicBezTo>
                <a:lnTo>
                  <a:pt x="4162685" y="5547579"/>
                </a:lnTo>
                <a:cubicBezTo>
                  <a:pt x="4162780" y="5552508"/>
                  <a:pt x="4166162" y="5557318"/>
                  <a:pt x="4172258" y="5562747"/>
                </a:cubicBezTo>
                <a:cubicBezTo>
                  <a:pt x="4214932" y="5600468"/>
                  <a:pt x="4241603" y="5646190"/>
                  <a:pt x="4243506" y="5704484"/>
                </a:cubicBezTo>
                <a:cubicBezTo>
                  <a:pt x="4243888" y="5716486"/>
                  <a:pt x="4246554" y="5728679"/>
                  <a:pt x="4249412" y="5740489"/>
                </a:cubicBezTo>
                <a:cubicBezTo>
                  <a:pt x="4251127" y="5747729"/>
                  <a:pt x="4253033" y="5756494"/>
                  <a:pt x="4258177" y="5760874"/>
                </a:cubicBezTo>
                <a:cubicBezTo>
                  <a:pt x="4297420" y="5794975"/>
                  <a:pt x="4324663" y="5837458"/>
                  <a:pt x="4346573" y="5883752"/>
                </a:cubicBezTo>
                <a:lnTo>
                  <a:pt x="4346575" y="5883756"/>
                </a:lnTo>
                <a:lnTo>
                  <a:pt x="4364477" y="5935946"/>
                </a:lnTo>
                <a:lnTo>
                  <a:pt x="4364478" y="5935950"/>
                </a:lnTo>
                <a:lnTo>
                  <a:pt x="4360859" y="5993290"/>
                </a:lnTo>
                <a:lnTo>
                  <a:pt x="4360858" y="5993291"/>
                </a:lnTo>
                <a:cubicBezTo>
                  <a:pt x="4359717" y="6004531"/>
                  <a:pt x="4359906" y="6017485"/>
                  <a:pt x="4354382" y="6026440"/>
                </a:cubicBezTo>
                <a:cubicBezTo>
                  <a:pt x="4337045" y="6054825"/>
                  <a:pt x="4318377" y="6082258"/>
                  <a:pt x="4298182" y="6108738"/>
                </a:cubicBezTo>
                <a:cubicBezTo>
                  <a:pt x="4289514" y="6120074"/>
                  <a:pt x="4284561" y="6126884"/>
                  <a:pt x="4284490" y="6133314"/>
                </a:cubicBezTo>
                <a:lnTo>
                  <a:pt x="4284490" y="6133315"/>
                </a:lnTo>
                <a:lnTo>
                  <a:pt x="4288190" y="6143190"/>
                </a:lnTo>
                <a:lnTo>
                  <a:pt x="4300086" y="6155600"/>
                </a:lnTo>
                <a:lnTo>
                  <a:pt x="4300088" y="6155603"/>
                </a:lnTo>
                <a:cubicBezTo>
                  <a:pt x="4322377" y="6175798"/>
                  <a:pt x="4333998" y="6200945"/>
                  <a:pt x="4338759" y="6228757"/>
                </a:cubicBezTo>
                <a:lnTo>
                  <a:pt x="4356096" y="6361540"/>
                </a:lnTo>
                <a:lnTo>
                  <a:pt x="4356096" y="6361539"/>
                </a:lnTo>
                <a:cubicBezTo>
                  <a:pt x="4352476" y="6317151"/>
                  <a:pt x="4346190" y="6272764"/>
                  <a:pt x="4338759" y="6228756"/>
                </a:cubicBezTo>
                <a:cubicBezTo>
                  <a:pt x="4333998" y="6200944"/>
                  <a:pt x="4322377" y="6175797"/>
                  <a:pt x="4300088" y="6155602"/>
                </a:cubicBezTo>
                <a:lnTo>
                  <a:pt x="4300086" y="6155600"/>
                </a:lnTo>
                <a:lnTo>
                  <a:pt x="4284490" y="6133315"/>
                </a:lnTo>
                <a:lnTo>
                  <a:pt x="4298182" y="6108739"/>
                </a:lnTo>
                <a:cubicBezTo>
                  <a:pt x="4318377" y="6082259"/>
                  <a:pt x="4337045" y="6054826"/>
                  <a:pt x="4354382" y="6026441"/>
                </a:cubicBezTo>
                <a:cubicBezTo>
                  <a:pt x="4359906" y="6017486"/>
                  <a:pt x="4359717" y="6004532"/>
                  <a:pt x="4360858" y="5993292"/>
                </a:cubicBezTo>
                <a:lnTo>
                  <a:pt x="4360859" y="5993290"/>
                </a:lnTo>
                <a:lnTo>
                  <a:pt x="4364311" y="5964477"/>
                </a:lnTo>
                <a:lnTo>
                  <a:pt x="4364478" y="5935950"/>
                </a:lnTo>
                <a:lnTo>
                  <a:pt x="4364478" y="5935949"/>
                </a:lnTo>
                <a:lnTo>
                  <a:pt x="4364477" y="5935946"/>
                </a:lnTo>
                <a:lnTo>
                  <a:pt x="4357598" y="5909351"/>
                </a:lnTo>
                <a:lnTo>
                  <a:pt x="4346575" y="5883756"/>
                </a:lnTo>
                <a:lnTo>
                  <a:pt x="4346573" y="5883751"/>
                </a:lnTo>
                <a:cubicBezTo>
                  <a:pt x="4324663" y="5837457"/>
                  <a:pt x="4297420" y="5794974"/>
                  <a:pt x="4258177" y="5760873"/>
                </a:cubicBezTo>
                <a:cubicBezTo>
                  <a:pt x="4253033" y="5756493"/>
                  <a:pt x="4251127" y="5747728"/>
                  <a:pt x="4249412" y="5740488"/>
                </a:cubicBezTo>
                <a:cubicBezTo>
                  <a:pt x="4246554" y="5728678"/>
                  <a:pt x="4243888" y="5716485"/>
                  <a:pt x="4243506" y="5704483"/>
                </a:cubicBezTo>
                <a:cubicBezTo>
                  <a:pt x="4241603" y="5646189"/>
                  <a:pt x="4214932" y="5600467"/>
                  <a:pt x="4172258" y="5562746"/>
                </a:cubicBezTo>
                <a:lnTo>
                  <a:pt x="4162685" y="5547578"/>
                </a:lnTo>
                <a:lnTo>
                  <a:pt x="4172830" y="5531694"/>
                </a:lnTo>
                <a:lnTo>
                  <a:pt x="4172831" y="5531692"/>
                </a:lnTo>
                <a:lnTo>
                  <a:pt x="4181230" y="5520422"/>
                </a:lnTo>
                <a:lnTo>
                  <a:pt x="4183450" y="5507668"/>
                </a:lnTo>
                <a:lnTo>
                  <a:pt x="4183450" y="5507667"/>
                </a:lnTo>
                <a:cubicBezTo>
                  <a:pt x="4183403" y="5498832"/>
                  <a:pt x="4180831" y="5489497"/>
                  <a:pt x="4178926" y="5480637"/>
                </a:cubicBezTo>
                <a:cubicBezTo>
                  <a:pt x="4175116" y="5462351"/>
                  <a:pt x="4171114" y="5443870"/>
                  <a:pt x="4167304" y="5425582"/>
                </a:cubicBezTo>
                <a:cubicBezTo>
                  <a:pt x="4164638" y="5412057"/>
                  <a:pt x="4162352" y="5398721"/>
                  <a:pt x="4159113" y="5385384"/>
                </a:cubicBezTo>
                <a:lnTo>
                  <a:pt x="4154237" y="5355014"/>
                </a:lnTo>
                <a:lnTo>
                  <a:pt x="4158157" y="5321350"/>
                </a:lnTo>
                <a:lnTo>
                  <a:pt x="4183116" y="5272797"/>
                </a:lnTo>
                <a:lnTo>
                  <a:pt x="4196024" y="5248936"/>
                </a:lnTo>
                <a:lnTo>
                  <a:pt x="4206573" y="5229434"/>
                </a:lnTo>
                <a:cubicBezTo>
                  <a:pt x="4210407" y="5213598"/>
                  <a:pt x="4210359" y="5196595"/>
                  <a:pt x="4206739" y="5179068"/>
                </a:cubicBezTo>
                <a:lnTo>
                  <a:pt x="4206739" y="5179067"/>
                </a:lnTo>
                <a:cubicBezTo>
                  <a:pt x="4206263" y="5176876"/>
                  <a:pt x="4205074" y="5174400"/>
                  <a:pt x="4204192" y="5172090"/>
                </a:cubicBezTo>
                <a:lnTo>
                  <a:pt x="4203501" y="5166114"/>
                </a:lnTo>
                <a:lnTo>
                  <a:pt x="4210217" y="5133225"/>
                </a:lnTo>
                <a:lnTo>
                  <a:pt x="4210217" y="5133224"/>
                </a:lnTo>
                <a:lnTo>
                  <a:pt x="4210215" y="5133220"/>
                </a:lnTo>
                <a:lnTo>
                  <a:pt x="4203072" y="5102461"/>
                </a:lnTo>
                <a:lnTo>
                  <a:pt x="4197188" y="5087444"/>
                </a:lnTo>
                <a:lnTo>
                  <a:pt x="4197182" y="5087423"/>
                </a:lnTo>
                <a:cubicBezTo>
                  <a:pt x="4191096" y="5072411"/>
                  <a:pt x="4184997" y="5057381"/>
                  <a:pt x="4184068" y="5041521"/>
                </a:cubicBezTo>
                <a:cubicBezTo>
                  <a:pt x="4182926" y="5022852"/>
                  <a:pt x="4168828" y="5003801"/>
                  <a:pt x="4157589" y="4987037"/>
                </a:cubicBezTo>
                <a:lnTo>
                  <a:pt x="4140307" y="4957453"/>
                </a:lnTo>
                <a:lnTo>
                  <a:pt x="4132757" y="4933810"/>
                </a:lnTo>
                <a:lnTo>
                  <a:pt x="4132755" y="4933805"/>
                </a:lnTo>
                <a:lnTo>
                  <a:pt x="4134157" y="4912169"/>
                </a:lnTo>
                <a:cubicBezTo>
                  <a:pt x="4135919" y="4904359"/>
                  <a:pt x="4136431" y="4896714"/>
                  <a:pt x="4135862" y="4889276"/>
                </a:cubicBezTo>
                <a:lnTo>
                  <a:pt x="4135862" y="4889275"/>
                </a:lnTo>
                <a:lnTo>
                  <a:pt x="4131084" y="4867614"/>
                </a:lnTo>
                <a:lnTo>
                  <a:pt x="4128333" y="4863343"/>
                </a:lnTo>
                <a:lnTo>
                  <a:pt x="4126583" y="4857317"/>
                </a:lnTo>
                <a:cubicBezTo>
                  <a:pt x="4121440" y="4847214"/>
                  <a:pt x="4114439" y="4837703"/>
                  <a:pt x="4106152" y="4828916"/>
                </a:cubicBezTo>
                <a:lnTo>
                  <a:pt x="4091316" y="4800483"/>
                </a:lnTo>
                <a:lnTo>
                  <a:pt x="4092625" y="4767765"/>
                </a:lnTo>
                <a:cubicBezTo>
                  <a:pt x="4098531" y="4738236"/>
                  <a:pt x="4098913" y="4707565"/>
                  <a:pt x="4102532" y="4677656"/>
                </a:cubicBezTo>
                <a:cubicBezTo>
                  <a:pt x="4103294" y="4671177"/>
                  <a:pt x="4105962" y="4662987"/>
                  <a:pt x="4110534" y="4659175"/>
                </a:cubicBezTo>
                <a:cubicBezTo>
                  <a:pt x="4167304" y="4612501"/>
                  <a:pt x="4167876" y="4546777"/>
                  <a:pt x="4170544" y="4482005"/>
                </a:cubicBezTo>
                <a:cubicBezTo>
                  <a:pt x="4172258" y="4442762"/>
                  <a:pt x="4172258" y="4403326"/>
                  <a:pt x="4171306" y="4363891"/>
                </a:cubicBezTo>
                <a:lnTo>
                  <a:pt x="4171306" y="4363890"/>
                </a:lnTo>
                <a:cubicBezTo>
                  <a:pt x="4171114" y="4350554"/>
                  <a:pt x="4168066" y="4336457"/>
                  <a:pt x="4162352" y="4324645"/>
                </a:cubicBezTo>
                <a:cubicBezTo>
                  <a:pt x="4150349" y="4300070"/>
                  <a:pt x="4134729" y="4277401"/>
                  <a:pt x="4122536" y="4253014"/>
                </a:cubicBezTo>
                <a:close/>
                <a:moveTo>
                  <a:pt x="4113010" y="4165383"/>
                </a:moveTo>
                <a:lnTo>
                  <a:pt x="4113010" y="4165384"/>
                </a:lnTo>
                <a:lnTo>
                  <a:pt x="4116915" y="4192388"/>
                </a:lnTo>
                <a:lnTo>
                  <a:pt x="4116915" y="4192387"/>
                </a:lnTo>
                <a:cubicBezTo>
                  <a:pt x="4117011" y="4182767"/>
                  <a:pt x="4116439" y="4173480"/>
                  <a:pt x="4113010" y="4165383"/>
                </a:cubicBezTo>
                <a:close/>
                <a:moveTo>
                  <a:pt x="4100628" y="3885338"/>
                </a:moveTo>
                <a:lnTo>
                  <a:pt x="4100628" y="3885339"/>
                </a:lnTo>
                <a:cubicBezTo>
                  <a:pt x="4110344" y="3897722"/>
                  <a:pt x="4117750" y="3910319"/>
                  <a:pt x="4123009" y="3923125"/>
                </a:cubicBezTo>
                <a:lnTo>
                  <a:pt x="4132513" y="3962160"/>
                </a:lnTo>
                <a:lnTo>
                  <a:pt x="4116821" y="4043838"/>
                </a:lnTo>
                <a:lnTo>
                  <a:pt x="4116820" y="4043839"/>
                </a:lnTo>
                <a:cubicBezTo>
                  <a:pt x="4108057" y="4063842"/>
                  <a:pt x="4102675" y="4083702"/>
                  <a:pt x="4101699" y="4103825"/>
                </a:cubicBezTo>
                <a:lnTo>
                  <a:pt x="4101699" y="4103826"/>
                </a:lnTo>
                <a:lnTo>
                  <a:pt x="4103666" y="4134255"/>
                </a:lnTo>
                <a:lnTo>
                  <a:pt x="4113010" y="4165382"/>
                </a:lnTo>
                <a:lnTo>
                  <a:pt x="4101699" y="4103826"/>
                </a:lnTo>
                <a:lnTo>
                  <a:pt x="4116820" y="4043840"/>
                </a:lnTo>
                <a:lnTo>
                  <a:pt x="4116821" y="4043838"/>
                </a:lnTo>
                <a:lnTo>
                  <a:pt x="4130123" y="4002410"/>
                </a:lnTo>
                <a:lnTo>
                  <a:pt x="4132513" y="3962160"/>
                </a:lnTo>
                <a:lnTo>
                  <a:pt x="4132513" y="3962159"/>
                </a:lnTo>
                <a:cubicBezTo>
                  <a:pt x="4130251" y="3935727"/>
                  <a:pt x="4120060" y="3910104"/>
                  <a:pt x="4100628" y="3885338"/>
                </a:cubicBezTo>
                <a:close/>
                <a:moveTo>
                  <a:pt x="4115391" y="3670561"/>
                </a:moveTo>
                <a:lnTo>
                  <a:pt x="4117820" y="3680164"/>
                </a:lnTo>
                <a:lnTo>
                  <a:pt x="4113772" y="3734837"/>
                </a:lnTo>
                <a:lnTo>
                  <a:pt x="4113772" y="3734838"/>
                </a:lnTo>
                <a:cubicBezTo>
                  <a:pt x="4112820" y="3741316"/>
                  <a:pt x="4111486" y="3749126"/>
                  <a:pt x="4114154" y="3754653"/>
                </a:cubicBezTo>
                <a:lnTo>
                  <a:pt x="4120511" y="3789776"/>
                </a:lnTo>
                <a:lnTo>
                  <a:pt x="4105580" y="3822472"/>
                </a:lnTo>
                <a:cubicBezTo>
                  <a:pt x="4098532" y="3831902"/>
                  <a:pt x="4092912" y="3842046"/>
                  <a:pt x="4091245" y="3852619"/>
                </a:cubicBezTo>
                <a:lnTo>
                  <a:pt x="4091245" y="3852620"/>
                </a:lnTo>
                <a:lnTo>
                  <a:pt x="4092025" y="3868764"/>
                </a:lnTo>
                <a:lnTo>
                  <a:pt x="4100628" y="3885337"/>
                </a:lnTo>
                <a:lnTo>
                  <a:pt x="4091245" y="3852620"/>
                </a:lnTo>
                <a:lnTo>
                  <a:pt x="4105580" y="3822473"/>
                </a:lnTo>
                <a:cubicBezTo>
                  <a:pt x="4113772" y="3811614"/>
                  <a:pt x="4118916" y="3800897"/>
                  <a:pt x="4120511" y="3789777"/>
                </a:cubicBezTo>
                <a:lnTo>
                  <a:pt x="4120511" y="3789776"/>
                </a:lnTo>
                <a:cubicBezTo>
                  <a:pt x="4122107" y="3778655"/>
                  <a:pt x="4120154" y="3767130"/>
                  <a:pt x="4114154" y="3754652"/>
                </a:cubicBezTo>
                <a:lnTo>
                  <a:pt x="4113772" y="3734838"/>
                </a:lnTo>
                <a:lnTo>
                  <a:pt x="4117820" y="3680164"/>
                </a:lnTo>
                <a:lnTo>
                  <a:pt x="4117820" y="3680163"/>
                </a:lnTo>
                <a:close/>
                <a:moveTo>
                  <a:pt x="4185711" y="2836172"/>
                </a:moveTo>
                <a:lnTo>
                  <a:pt x="4177020" y="2848793"/>
                </a:lnTo>
                <a:cubicBezTo>
                  <a:pt x="4172020" y="2865010"/>
                  <a:pt x="4166162" y="2881307"/>
                  <a:pt x="4161416" y="2897785"/>
                </a:cubicBezTo>
                <a:lnTo>
                  <a:pt x="4160387" y="2903551"/>
                </a:lnTo>
                <a:lnTo>
                  <a:pt x="4157113" y="2914328"/>
                </a:lnTo>
                <a:lnTo>
                  <a:pt x="4152482" y="2947859"/>
                </a:lnTo>
                <a:lnTo>
                  <a:pt x="4152481" y="2947862"/>
                </a:lnTo>
                <a:lnTo>
                  <a:pt x="4152481" y="2947863"/>
                </a:lnTo>
                <a:cubicBezTo>
                  <a:pt x="4152112" y="2959157"/>
                  <a:pt x="4153112" y="2970576"/>
                  <a:pt x="4156065" y="2982149"/>
                </a:cubicBezTo>
                <a:lnTo>
                  <a:pt x="4167758" y="3077402"/>
                </a:lnTo>
                <a:lnTo>
                  <a:pt x="4155303" y="3172654"/>
                </a:lnTo>
                <a:cubicBezTo>
                  <a:pt x="4129394" y="3276480"/>
                  <a:pt x="4101962" y="3380305"/>
                  <a:pt x="4107676" y="3489467"/>
                </a:cubicBezTo>
                <a:cubicBezTo>
                  <a:pt x="4108628" y="3507563"/>
                  <a:pt x="4097007" y="3529090"/>
                  <a:pt x="4085577" y="3544713"/>
                </a:cubicBezTo>
                <a:cubicBezTo>
                  <a:pt x="4074719" y="3559668"/>
                  <a:pt x="4068860" y="3566811"/>
                  <a:pt x="4067955" y="3574408"/>
                </a:cubicBezTo>
                <a:lnTo>
                  <a:pt x="4067956" y="3574408"/>
                </a:lnTo>
                <a:lnTo>
                  <a:pt x="4067955" y="3574409"/>
                </a:lnTo>
                <a:cubicBezTo>
                  <a:pt x="4067050" y="3582005"/>
                  <a:pt x="4071099" y="3590054"/>
                  <a:pt x="4080053" y="3606818"/>
                </a:cubicBezTo>
                <a:cubicBezTo>
                  <a:pt x="4084435" y="3614820"/>
                  <a:pt x="4087101" y="3624726"/>
                  <a:pt x="4093579" y="3630633"/>
                </a:cubicBezTo>
                <a:lnTo>
                  <a:pt x="4109452" y="3651926"/>
                </a:lnTo>
                <a:lnTo>
                  <a:pt x="4093579" y="3630632"/>
                </a:lnTo>
                <a:cubicBezTo>
                  <a:pt x="4087101" y="3624725"/>
                  <a:pt x="4084435" y="3614819"/>
                  <a:pt x="4080053" y="3606817"/>
                </a:cubicBezTo>
                <a:cubicBezTo>
                  <a:pt x="4075576" y="3598435"/>
                  <a:pt x="4072325" y="3592232"/>
                  <a:pt x="4070307" y="3587174"/>
                </a:cubicBezTo>
                <a:lnTo>
                  <a:pt x="4067956" y="3574408"/>
                </a:lnTo>
                <a:lnTo>
                  <a:pt x="4073034" y="3562321"/>
                </a:lnTo>
                <a:cubicBezTo>
                  <a:pt x="4075969" y="3557716"/>
                  <a:pt x="4080148" y="3552191"/>
                  <a:pt x="4085577" y="3544714"/>
                </a:cubicBezTo>
                <a:cubicBezTo>
                  <a:pt x="4097007" y="3529091"/>
                  <a:pt x="4108628" y="3507564"/>
                  <a:pt x="4107676" y="3489468"/>
                </a:cubicBezTo>
                <a:cubicBezTo>
                  <a:pt x="4101962" y="3380306"/>
                  <a:pt x="4129394" y="3276481"/>
                  <a:pt x="4155303" y="3172655"/>
                </a:cubicBezTo>
                <a:cubicBezTo>
                  <a:pt x="4163305" y="3140650"/>
                  <a:pt x="4167543" y="3109026"/>
                  <a:pt x="4167758" y="3077402"/>
                </a:cubicBezTo>
                <a:lnTo>
                  <a:pt x="4167758" y="3077401"/>
                </a:lnTo>
                <a:cubicBezTo>
                  <a:pt x="4167972" y="3045777"/>
                  <a:pt x="4164162" y="3014153"/>
                  <a:pt x="4156065" y="2982148"/>
                </a:cubicBezTo>
                <a:lnTo>
                  <a:pt x="4152481" y="2947863"/>
                </a:lnTo>
                <a:lnTo>
                  <a:pt x="4152482" y="2947859"/>
                </a:lnTo>
                <a:lnTo>
                  <a:pt x="4160387" y="2903551"/>
                </a:lnTo>
                <a:lnTo>
                  <a:pt x="4177020" y="2848794"/>
                </a:lnTo>
                <a:cubicBezTo>
                  <a:pt x="4178353" y="2844317"/>
                  <a:pt x="4181639" y="2839983"/>
                  <a:pt x="4185711" y="2836173"/>
                </a:cubicBezTo>
                <a:close/>
                <a:moveTo>
                  <a:pt x="3701225" y="1508458"/>
                </a:moveTo>
                <a:lnTo>
                  <a:pt x="3673131" y="1596214"/>
                </a:lnTo>
                <a:cubicBezTo>
                  <a:pt x="3670654" y="1604979"/>
                  <a:pt x="3672179" y="1615837"/>
                  <a:pt x="3675036" y="1624981"/>
                </a:cubicBezTo>
                <a:cubicBezTo>
                  <a:pt x="3684752" y="1656224"/>
                  <a:pt x="3709137" y="1676037"/>
                  <a:pt x="3731617" y="1697754"/>
                </a:cubicBezTo>
                <a:cubicBezTo>
                  <a:pt x="3741524" y="1707280"/>
                  <a:pt x="3748572" y="1720424"/>
                  <a:pt x="3754286" y="1733189"/>
                </a:cubicBezTo>
                <a:cubicBezTo>
                  <a:pt x="3768957" y="1766336"/>
                  <a:pt x="3782101" y="1800247"/>
                  <a:pt x="3796007" y="1833776"/>
                </a:cubicBezTo>
                <a:cubicBezTo>
                  <a:pt x="3797341" y="1837014"/>
                  <a:pt x="3800770" y="1839680"/>
                  <a:pt x="3803628" y="1842159"/>
                </a:cubicBezTo>
                <a:cubicBezTo>
                  <a:pt x="3833729" y="1866923"/>
                  <a:pt x="3864018" y="1891498"/>
                  <a:pt x="3894119" y="1916455"/>
                </a:cubicBezTo>
                <a:cubicBezTo>
                  <a:pt x="3899833" y="1921217"/>
                  <a:pt x="3904025" y="1928077"/>
                  <a:pt x="3909549" y="1933220"/>
                </a:cubicBezTo>
                <a:cubicBezTo>
                  <a:pt x="3917169" y="1940460"/>
                  <a:pt x="3924410" y="1949604"/>
                  <a:pt x="3933554" y="1953414"/>
                </a:cubicBezTo>
                <a:cubicBezTo>
                  <a:pt x="3962319" y="1965225"/>
                  <a:pt x="3974703" y="1987895"/>
                  <a:pt x="3980037" y="2016470"/>
                </a:cubicBezTo>
                <a:cubicBezTo>
                  <a:pt x="3984990" y="2042571"/>
                  <a:pt x="3989182" y="2068670"/>
                  <a:pt x="3994896" y="2094579"/>
                </a:cubicBezTo>
                <a:cubicBezTo>
                  <a:pt x="4001754" y="2126202"/>
                  <a:pt x="4009184" y="2157637"/>
                  <a:pt x="4017567" y="2188880"/>
                </a:cubicBezTo>
                <a:cubicBezTo>
                  <a:pt x="4021187" y="2202405"/>
                  <a:pt x="4025377" y="2216693"/>
                  <a:pt x="4032807" y="2228315"/>
                </a:cubicBezTo>
                <a:cubicBezTo>
                  <a:pt x="4053382" y="2260891"/>
                  <a:pt x="4067288" y="2295754"/>
                  <a:pt x="4061764" y="2334045"/>
                </a:cubicBezTo>
                <a:cubicBezTo>
                  <a:pt x="4057382" y="2364716"/>
                  <a:pt x="4068622" y="2390435"/>
                  <a:pt x="4086149" y="2409486"/>
                </a:cubicBezTo>
                <a:cubicBezTo>
                  <a:pt x="4094103" y="2418155"/>
                  <a:pt x="4099616" y="2426977"/>
                  <a:pt x="4103250" y="2435913"/>
                </a:cubicBezTo>
                <a:lnTo>
                  <a:pt x="4109081" y="2463018"/>
                </a:lnTo>
                <a:lnTo>
                  <a:pt x="4109080" y="2463031"/>
                </a:lnTo>
                <a:lnTo>
                  <a:pt x="4100439" y="2518262"/>
                </a:lnTo>
                <a:lnTo>
                  <a:pt x="4100438" y="2518264"/>
                </a:lnTo>
                <a:cubicBezTo>
                  <a:pt x="4097771" y="2527790"/>
                  <a:pt x="4096627" y="2536458"/>
                  <a:pt x="4096794" y="2545006"/>
                </a:cubicBezTo>
                <a:lnTo>
                  <a:pt x="4096794" y="2545007"/>
                </a:lnTo>
                <a:cubicBezTo>
                  <a:pt x="4096960" y="2553556"/>
                  <a:pt x="4098437" y="2561986"/>
                  <a:pt x="4101008" y="2571035"/>
                </a:cubicBezTo>
                <a:cubicBezTo>
                  <a:pt x="4113010" y="2612946"/>
                  <a:pt x="4145587" y="2640951"/>
                  <a:pt x="4174162" y="2668002"/>
                </a:cubicBezTo>
                <a:cubicBezTo>
                  <a:pt x="4198547" y="2691055"/>
                  <a:pt x="4212264" y="2716964"/>
                  <a:pt x="4222552" y="2745349"/>
                </a:cubicBezTo>
                <a:lnTo>
                  <a:pt x="4222553" y="2745352"/>
                </a:lnTo>
                <a:lnTo>
                  <a:pt x="4228473" y="2778006"/>
                </a:lnTo>
                <a:lnTo>
                  <a:pt x="4228053" y="2785440"/>
                </a:lnTo>
                <a:lnTo>
                  <a:pt x="4217974" y="2811780"/>
                </a:lnTo>
                <a:lnTo>
                  <a:pt x="4217970" y="2811787"/>
                </a:lnTo>
                <a:lnTo>
                  <a:pt x="4217971" y="2811787"/>
                </a:lnTo>
                <a:lnTo>
                  <a:pt x="4217974" y="2811780"/>
                </a:lnTo>
                <a:lnTo>
                  <a:pt x="4227624" y="2793023"/>
                </a:lnTo>
                <a:lnTo>
                  <a:pt x="4228053" y="2785440"/>
                </a:lnTo>
                <a:lnTo>
                  <a:pt x="4229253" y="2782305"/>
                </a:lnTo>
                <a:lnTo>
                  <a:pt x="4228473" y="2778006"/>
                </a:lnTo>
                <a:lnTo>
                  <a:pt x="4228883" y="2770757"/>
                </a:lnTo>
                <a:lnTo>
                  <a:pt x="4222553" y="2745352"/>
                </a:lnTo>
                <a:lnTo>
                  <a:pt x="4222552" y="2745348"/>
                </a:lnTo>
                <a:cubicBezTo>
                  <a:pt x="4212264" y="2716963"/>
                  <a:pt x="4198547" y="2691054"/>
                  <a:pt x="4174162" y="2668001"/>
                </a:cubicBezTo>
                <a:cubicBezTo>
                  <a:pt x="4145587" y="2640950"/>
                  <a:pt x="4113010" y="2612945"/>
                  <a:pt x="4101008" y="2571034"/>
                </a:cubicBezTo>
                <a:lnTo>
                  <a:pt x="4096794" y="2545007"/>
                </a:lnTo>
                <a:lnTo>
                  <a:pt x="4100438" y="2518265"/>
                </a:lnTo>
                <a:lnTo>
                  <a:pt x="4100439" y="2518262"/>
                </a:lnTo>
                <a:lnTo>
                  <a:pt x="4107019" y="2490551"/>
                </a:lnTo>
                <a:lnTo>
                  <a:pt x="4109080" y="2463031"/>
                </a:lnTo>
                <a:lnTo>
                  <a:pt x="4109082" y="2463019"/>
                </a:lnTo>
                <a:lnTo>
                  <a:pt x="4109081" y="2463018"/>
                </a:lnTo>
                <a:lnTo>
                  <a:pt x="4109082" y="2463018"/>
                </a:lnTo>
                <a:cubicBezTo>
                  <a:pt x="4108200" y="2444777"/>
                  <a:pt x="4102057" y="2426822"/>
                  <a:pt x="4086149" y="2409485"/>
                </a:cubicBezTo>
                <a:cubicBezTo>
                  <a:pt x="4068622" y="2390434"/>
                  <a:pt x="4057382" y="2364715"/>
                  <a:pt x="4061764" y="2334044"/>
                </a:cubicBezTo>
                <a:cubicBezTo>
                  <a:pt x="4067288" y="2295753"/>
                  <a:pt x="4053382" y="2260890"/>
                  <a:pt x="4032807" y="2228314"/>
                </a:cubicBezTo>
                <a:cubicBezTo>
                  <a:pt x="4025377" y="2216692"/>
                  <a:pt x="4021187" y="2202404"/>
                  <a:pt x="4017567" y="2188879"/>
                </a:cubicBezTo>
                <a:cubicBezTo>
                  <a:pt x="4009184" y="2157636"/>
                  <a:pt x="4001754" y="2126201"/>
                  <a:pt x="3994896" y="2094578"/>
                </a:cubicBezTo>
                <a:cubicBezTo>
                  <a:pt x="3989182" y="2068669"/>
                  <a:pt x="3984990" y="2042570"/>
                  <a:pt x="3980037" y="2016469"/>
                </a:cubicBezTo>
                <a:cubicBezTo>
                  <a:pt x="3974703" y="1987894"/>
                  <a:pt x="3962319" y="1965224"/>
                  <a:pt x="3933554" y="1953413"/>
                </a:cubicBezTo>
                <a:cubicBezTo>
                  <a:pt x="3924410" y="1949603"/>
                  <a:pt x="3917169" y="1940459"/>
                  <a:pt x="3909549" y="1933219"/>
                </a:cubicBezTo>
                <a:cubicBezTo>
                  <a:pt x="3904025" y="1928076"/>
                  <a:pt x="3899833" y="1921216"/>
                  <a:pt x="3894119" y="1916454"/>
                </a:cubicBezTo>
                <a:cubicBezTo>
                  <a:pt x="3864018" y="1891497"/>
                  <a:pt x="3833729" y="1866922"/>
                  <a:pt x="3803628" y="1842158"/>
                </a:cubicBezTo>
                <a:cubicBezTo>
                  <a:pt x="3800770" y="1839679"/>
                  <a:pt x="3797341" y="1837013"/>
                  <a:pt x="3796007" y="1833775"/>
                </a:cubicBezTo>
                <a:cubicBezTo>
                  <a:pt x="3782101" y="1800246"/>
                  <a:pt x="3768958" y="1766335"/>
                  <a:pt x="3754286" y="1733188"/>
                </a:cubicBezTo>
                <a:cubicBezTo>
                  <a:pt x="3748572" y="1720423"/>
                  <a:pt x="3741524" y="1707279"/>
                  <a:pt x="3731618" y="1697753"/>
                </a:cubicBezTo>
                <a:cubicBezTo>
                  <a:pt x="3709138" y="1676036"/>
                  <a:pt x="3684752" y="1656223"/>
                  <a:pt x="3675036" y="1624980"/>
                </a:cubicBezTo>
                <a:cubicBezTo>
                  <a:pt x="3672180" y="1615836"/>
                  <a:pt x="3670655" y="1604978"/>
                  <a:pt x="3673132" y="1596213"/>
                </a:cubicBezTo>
                <a:close/>
                <a:moveTo>
                  <a:pt x="3719830" y="1459073"/>
                </a:moveTo>
                <a:lnTo>
                  <a:pt x="3719829" y="1459074"/>
                </a:lnTo>
                <a:lnTo>
                  <a:pt x="3710612" y="1481572"/>
                </a:lnTo>
                <a:close/>
                <a:moveTo>
                  <a:pt x="3739023" y="1268758"/>
                </a:moveTo>
                <a:cubicBezTo>
                  <a:pt x="3739475" y="1275402"/>
                  <a:pt x="3741047" y="1281689"/>
                  <a:pt x="3744190" y="1286070"/>
                </a:cubicBezTo>
                <a:cubicBezTo>
                  <a:pt x="3758763" y="1306930"/>
                  <a:pt x="3765003" y="1328553"/>
                  <a:pt x="3766527" y="1350628"/>
                </a:cubicBezTo>
                <a:lnTo>
                  <a:pt x="3760933" y="1413840"/>
                </a:lnTo>
                <a:lnTo>
                  <a:pt x="3766528" y="1350627"/>
                </a:lnTo>
                <a:cubicBezTo>
                  <a:pt x="3765003" y="1328552"/>
                  <a:pt x="3758764" y="1306930"/>
                  <a:pt x="3744190" y="1286069"/>
                </a:cubicBezTo>
                <a:close/>
                <a:moveTo>
                  <a:pt x="3680752" y="773035"/>
                </a:moveTo>
                <a:lnTo>
                  <a:pt x="3680752" y="773036"/>
                </a:lnTo>
                <a:cubicBezTo>
                  <a:pt x="3683038" y="800277"/>
                  <a:pt x="3686276" y="827330"/>
                  <a:pt x="3688752" y="854380"/>
                </a:cubicBezTo>
                <a:cubicBezTo>
                  <a:pt x="3691038" y="878957"/>
                  <a:pt x="3691800" y="903723"/>
                  <a:pt x="3719805" y="915344"/>
                </a:cubicBezTo>
                <a:cubicBezTo>
                  <a:pt x="3724187" y="917060"/>
                  <a:pt x="3727425" y="922774"/>
                  <a:pt x="3730283" y="927156"/>
                </a:cubicBezTo>
                <a:cubicBezTo>
                  <a:pt x="3774291" y="994786"/>
                  <a:pt x="3773147" y="1030981"/>
                  <a:pt x="3726663" y="1097088"/>
                </a:cubicBezTo>
                <a:cubicBezTo>
                  <a:pt x="3721901" y="1103946"/>
                  <a:pt x="3718471" y="1118614"/>
                  <a:pt x="3722281" y="1123186"/>
                </a:cubicBezTo>
                <a:cubicBezTo>
                  <a:pt x="3738093" y="1142618"/>
                  <a:pt x="3745142" y="1162954"/>
                  <a:pt x="3747000" y="1184029"/>
                </a:cubicBezTo>
                <a:cubicBezTo>
                  <a:pt x="3745142" y="1162954"/>
                  <a:pt x="3738094" y="1142617"/>
                  <a:pt x="3722282" y="1123185"/>
                </a:cubicBezTo>
                <a:cubicBezTo>
                  <a:pt x="3718472" y="1118613"/>
                  <a:pt x="3721902" y="1103945"/>
                  <a:pt x="3726664" y="1097087"/>
                </a:cubicBezTo>
                <a:cubicBezTo>
                  <a:pt x="3773148" y="1030980"/>
                  <a:pt x="3774292" y="994785"/>
                  <a:pt x="3730284" y="927155"/>
                </a:cubicBezTo>
                <a:cubicBezTo>
                  <a:pt x="3727426" y="922773"/>
                  <a:pt x="3724188" y="917059"/>
                  <a:pt x="3719806" y="915343"/>
                </a:cubicBezTo>
                <a:cubicBezTo>
                  <a:pt x="3691800" y="903722"/>
                  <a:pt x="3691038" y="878956"/>
                  <a:pt x="3688752" y="854379"/>
                </a:cubicBezTo>
                <a:close/>
                <a:moveTo>
                  <a:pt x="3736153" y="517851"/>
                </a:moveTo>
                <a:lnTo>
                  <a:pt x="3727235" y="556048"/>
                </a:lnTo>
                <a:cubicBezTo>
                  <a:pt x="3725139" y="564049"/>
                  <a:pt x="3719615" y="572623"/>
                  <a:pt x="3720757" y="580051"/>
                </a:cubicBezTo>
                <a:cubicBezTo>
                  <a:pt x="3724091" y="601579"/>
                  <a:pt x="3721662" y="622201"/>
                  <a:pt x="3717376" y="642538"/>
                </a:cubicBezTo>
                <a:lnTo>
                  <a:pt x="3704853" y="694928"/>
                </a:lnTo>
                <a:lnTo>
                  <a:pt x="3717377" y="642537"/>
                </a:lnTo>
                <a:cubicBezTo>
                  <a:pt x="3721663" y="622201"/>
                  <a:pt x="3724092" y="601578"/>
                  <a:pt x="3720758" y="580050"/>
                </a:cubicBezTo>
                <a:cubicBezTo>
                  <a:pt x="3719616" y="572622"/>
                  <a:pt x="3725140" y="564048"/>
                  <a:pt x="3727236" y="556047"/>
                </a:cubicBezTo>
                <a:close/>
                <a:moveTo>
                  <a:pt x="3749448" y="298169"/>
                </a:moveTo>
                <a:lnTo>
                  <a:pt x="3734666" y="313533"/>
                </a:lnTo>
                <a:lnTo>
                  <a:pt x="3734666" y="313533"/>
                </a:lnTo>
                <a:lnTo>
                  <a:pt x="3734665" y="313534"/>
                </a:lnTo>
                <a:cubicBezTo>
                  <a:pt x="3730473" y="316390"/>
                  <a:pt x="3732759" y="330299"/>
                  <a:pt x="3734093" y="338871"/>
                </a:cubicBezTo>
                <a:lnTo>
                  <a:pt x="3734100" y="338903"/>
                </a:lnTo>
                <a:lnTo>
                  <a:pt x="3744000" y="395640"/>
                </a:lnTo>
                <a:lnTo>
                  <a:pt x="3740190" y="367328"/>
                </a:lnTo>
                <a:lnTo>
                  <a:pt x="3734100" y="338903"/>
                </a:lnTo>
                <a:lnTo>
                  <a:pt x="3734094" y="338870"/>
                </a:lnTo>
                <a:cubicBezTo>
                  <a:pt x="3733427" y="334584"/>
                  <a:pt x="3732522" y="328964"/>
                  <a:pt x="3732308" y="324058"/>
                </a:cubicBezTo>
                <a:lnTo>
                  <a:pt x="3734666" y="313533"/>
                </a:lnTo>
                <a:close/>
                <a:moveTo>
                  <a:pt x="3756993" y="281568"/>
                </a:moveTo>
                <a:lnTo>
                  <a:pt x="3752098" y="295415"/>
                </a:lnTo>
                <a:lnTo>
                  <a:pt x="3752099" y="295415"/>
                </a:lnTo>
                <a:close/>
                <a:moveTo>
                  <a:pt x="3743673" y="24486"/>
                </a:moveTo>
                <a:lnTo>
                  <a:pt x="3741410" y="74129"/>
                </a:lnTo>
                <a:cubicBezTo>
                  <a:pt x="3742333" y="91492"/>
                  <a:pt x="3744643" y="108703"/>
                  <a:pt x="3747334" y="125861"/>
                </a:cubicBezTo>
                <a:lnTo>
                  <a:pt x="3751729" y="153388"/>
                </a:lnTo>
                <a:lnTo>
                  <a:pt x="3760002" y="228944"/>
                </a:lnTo>
                <a:lnTo>
                  <a:pt x="3755543" y="177271"/>
                </a:lnTo>
                <a:lnTo>
                  <a:pt x="3751729" y="153388"/>
                </a:lnTo>
                <a:lnTo>
                  <a:pt x="3751530" y="151569"/>
                </a:lnTo>
                <a:cubicBezTo>
                  <a:pt x="3747300" y="125876"/>
                  <a:pt x="3742795" y="100174"/>
                  <a:pt x="3741411" y="74129"/>
                </a:cubicBezTo>
                <a:close/>
                <a:moveTo>
                  <a:pt x="3741092" y="0"/>
                </a:moveTo>
                <a:lnTo>
                  <a:pt x="4205201" y="0"/>
                </a:lnTo>
                <a:lnTo>
                  <a:pt x="4204073" y="2817"/>
                </a:lnTo>
                <a:cubicBezTo>
                  <a:pt x="4195691" y="21486"/>
                  <a:pt x="4193023" y="43012"/>
                  <a:pt x="4189974" y="63587"/>
                </a:cubicBezTo>
                <a:cubicBezTo>
                  <a:pt x="4184450" y="101308"/>
                  <a:pt x="4181020" y="139219"/>
                  <a:pt x="4176068" y="176939"/>
                </a:cubicBezTo>
                <a:cubicBezTo>
                  <a:pt x="4174924" y="184941"/>
                  <a:pt x="4172830" y="194085"/>
                  <a:pt x="4168066" y="200182"/>
                </a:cubicBezTo>
                <a:cubicBezTo>
                  <a:pt x="4136061" y="241901"/>
                  <a:pt x="4127108" y="292579"/>
                  <a:pt x="4130154" y="340774"/>
                </a:cubicBezTo>
                <a:cubicBezTo>
                  <a:pt x="4132443" y="378686"/>
                  <a:pt x="4134157" y="415835"/>
                  <a:pt x="4130919" y="453364"/>
                </a:cubicBezTo>
                <a:cubicBezTo>
                  <a:pt x="4130727" y="456222"/>
                  <a:pt x="4131109" y="460032"/>
                  <a:pt x="4132633" y="462126"/>
                </a:cubicBezTo>
                <a:cubicBezTo>
                  <a:pt x="4142729" y="475081"/>
                  <a:pt x="4143491" y="488607"/>
                  <a:pt x="4145205" y="505182"/>
                </a:cubicBezTo>
                <a:cubicBezTo>
                  <a:pt x="4147683" y="528615"/>
                  <a:pt x="4145967" y="550141"/>
                  <a:pt x="4141777" y="571860"/>
                </a:cubicBezTo>
                <a:cubicBezTo>
                  <a:pt x="4138729" y="587672"/>
                  <a:pt x="4132443" y="603673"/>
                  <a:pt x="4124440" y="617772"/>
                </a:cubicBezTo>
                <a:cubicBezTo>
                  <a:pt x="4113200" y="637392"/>
                  <a:pt x="4108820" y="656255"/>
                  <a:pt x="4123678" y="674923"/>
                </a:cubicBezTo>
                <a:cubicBezTo>
                  <a:pt x="4139491" y="695116"/>
                  <a:pt x="4133967" y="717977"/>
                  <a:pt x="4134537" y="740268"/>
                </a:cubicBezTo>
                <a:cubicBezTo>
                  <a:pt x="4134729" y="749982"/>
                  <a:pt x="4134347" y="760270"/>
                  <a:pt x="4136823" y="769605"/>
                </a:cubicBezTo>
                <a:cubicBezTo>
                  <a:pt x="4143873" y="796655"/>
                  <a:pt x="4154541" y="822756"/>
                  <a:pt x="4159303" y="850189"/>
                </a:cubicBezTo>
                <a:cubicBezTo>
                  <a:pt x="4161970" y="865430"/>
                  <a:pt x="4157207" y="882384"/>
                  <a:pt x="4153779" y="898198"/>
                </a:cubicBezTo>
                <a:cubicBezTo>
                  <a:pt x="4150159" y="914200"/>
                  <a:pt x="4144635" y="930011"/>
                  <a:pt x="4138919" y="945444"/>
                </a:cubicBezTo>
                <a:cubicBezTo>
                  <a:pt x="4135109" y="955920"/>
                  <a:pt x="4131489" y="967350"/>
                  <a:pt x="4124630" y="975733"/>
                </a:cubicBezTo>
                <a:cubicBezTo>
                  <a:pt x="4109010" y="994785"/>
                  <a:pt x="4106342" y="1014406"/>
                  <a:pt x="4114534" y="1036887"/>
                </a:cubicBezTo>
                <a:cubicBezTo>
                  <a:pt x="4115868" y="1040315"/>
                  <a:pt x="4115868" y="1044315"/>
                  <a:pt x="4116058" y="1048125"/>
                </a:cubicBezTo>
                <a:cubicBezTo>
                  <a:pt x="4120058" y="1109091"/>
                  <a:pt x="4122536" y="1170051"/>
                  <a:pt x="4128632" y="1230633"/>
                </a:cubicBezTo>
                <a:cubicBezTo>
                  <a:pt x="4131109" y="1255206"/>
                  <a:pt x="4141967" y="1278829"/>
                  <a:pt x="4148825" y="1303024"/>
                </a:cubicBezTo>
                <a:cubicBezTo>
                  <a:pt x="4150159" y="1307978"/>
                  <a:pt x="4152255" y="1313504"/>
                  <a:pt x="4151301" y="1318456"/>
                </a:cubicBezTo>
                <a:cubicBezTo>
                  <a:pt x="4141777" y="1372368"/>
                  <a:pt x="4155683" y="1422854"/>
                  <a:pt x="4173972" y="1472575"/>
                </a:cubicBezTo>
                <a:cubicBezTo>
                  <a:pt x="4175878" y="1477717"/>
                  <a:pt x="4175306" y="1484004"/>
                  <a:pt x="4174924" y="1489720"/>
                </a:cubicBezTo>
                <a:cubicBezTo>
                  <a:pt x="4173592" y="1505724"/>
                  <a:pt x="4166924" y="1523059"/>
                  <a:pt x="4170924" y="1537537"/>
                </a:cubicBezTo>
                <a:cubicBezTo>
                  <a:pt x="4181974" y="1576019"/>
                  <a:pt x="4195309" y="1614120"/>
                  <a:pt x="4212073" y="1650317"/>
                </a:cubicBezTo>
                <a:cubicBezTo>
                  <a:pt x="4229028" y="1687086"/>
                  <a:pt x="4243316" y="1721185"/>
                  <a:pt x="4226173" y="1763287"/>
                </a:cubicBezTo>
                <a:cubicBezTo>
                  <a:pt x="4218932" y="1781194"/>
                  <a:pt x="4224076" y="1804816"/>
                  <a:pt x="4225981" y="1825393"/>
                </a:cubicBezTo>
                <a:cubicBezTo>
                  <a:pt x="4227504" y="1840441"/>
                  <a:pt x="4236078" y="1854920"/>
                  <a:pt x="4236078" y="1869780"/>
                </a:cubicBezTo>
                <a:cubicBezTo>
                  <a:pt x="4236078" y="1909408"/>
                  <a:pt x="4246174" y="1944649"/>
                  <a:pt x="4266749" y="1978940"/>
                </a:cubicBezTo>
                <a:cubicBezTo>
                  <a:pt x="4274749" y="1992279"/>
                  <a:pt x="4269416" y="2013043"/>
                  <a:pt x="4271512" y="2030378"/>
                </a:cubicBezTo>
                <a:cubicBezTo>
                  <a:pt x="4273987" y="2048668"/>
                  <a:pt x="4276274" y="2067525"/>
                  <a:pt x="4281800" y="2085054"/>
                </a:cubicBezTo>
                <a:cubicBezTo>
                  <a:pt x="4296278" y="2130393"/>
                  <a:pt x="4312661" y="2175163"/>
                  <a:pt x="4327901" y="2220312"/>
                </a:cubicBezTo>
                <a:cubicBezTo>
                  <a:pt x="4340476" y="2257459"/>
                  <a:pt x="4330569" y="2294039"/>
                  <a:pt x="4325236" y="2330806"/>
                </a:cubicBezTo>
                <a:cubicBezTo>
                  <a:pt x="4321805" y="2353859"/>
                  <a:pt x="4313613" y="2375383"/>
                  <a:pt x="4325807" y="2401292"/>
                </a:cubicBezTo>
                <a:cubicBezTo>
                  <a:pt x="4337427" y="2426059"/>
                  <a:pt x="4334759" y="2457492"/>
                  <a:pt x="4341047" y="2485307"/>
                </a:cubicBezTo>
                <a:cubicBezTo>
                  <a:pt x="4346380" y="2508742"/>
                  <a:pt x="4354954" y="2531409"/>
                  <a:pt x="4363336" y="2554079"/>
                </a:cubicBezTo>
                <a:cubicBezTo>
                  <a:pt x="4374768" y="2584942"/>
                  <a:pt x="4386767" y="2615421"/>
                  <a:pt x="4381054" y="2649143"/>
                </a:cubicBezTo>
                <a:cubicBezTo>
                  <a:pt x="4374575" y="2687436"/>
                  <a:pt x="4398960" y="2713723"/>
                  <a:pt x="4415154" y="2743826"/>
                </a:cubicBezTo>
                <a:cubicBezTo>
                  <a:pt x="4426202" y="2764590"/>
                  <a:pt x="4434395" y="2787259"/>
                  <a:pt x="4441254" y="2809930"/>
                </a:cubicBezTo>
                <a:cubicBezTo>
                  <a:pt x="4450207" y="2840219"/>
                  <a:pt x="4455542" y="2871462"/>
                  <a:pt x="4464304" y="2901943"/>
                </a:cubicBezTo>
                <a:cubicBezTo>
                  <a:pt x="4477448" y="2948047"/>
                  <a:pt x="4487736" y="2994722"/>
                  <a:pt x="4480497" y="3042728"/>
                </a:cubicBezTo>
                <a:cubicBezTo>
                  <a:pt x="4477259" y="3064827"/>
                  <a:pt x="4477448" y="3085403"/>
                  <a:pt x="4482212" y="3107500"/>
                </a:cubicBezTo>
                <a:cubicBezTo>
                  <a:pt x="4490023" y="3143695"/>
                  <a:pt x="4490976" y="3180844"/>
                  <a:pt x="4520122" y="3209993"/>
                </a:cubicBezTo>
                <a:cubicBezTo>
                  <a:pt x="4530410" y="3220280"/>
                  <a:pt x="4533076" y="3238758"/>
                  <a:pt x="4538410" y="3253809"/>
                </a:cubicBezTo>
                <a:cubicBezTo>
                  <a:pt x="4544699" y="3271145"/>
                  <a:pt x="4541459" y="3283908"/>
                  <a:pt x="4523170" y="3293244"/>
                </a:cubicBezTo>
                <a:cubicBezTo>
                  <a:pt x="4514979" y="3297434"/>
                  <a:pt x="4506978" y="3309437"/>
                  <a:pt x="4505643" y="3318771"/>
                </a:cubicBezTo>
                <a:cubicBezTo>
                  <a:pt x="4501643" y="3346776"/>
                  <a:pt x="4507549" y="3372495"/>
                  <a:pt x="4520504" y="3399546"/>
                </a:cubicBezTo>
                <a:cubicBezTo>
                  <a:pt x="4532697" y="3424883"/>
                  <a:pt x="4531362" y="3456508"/>
                  <a:pt x="4536124" y="3485275"/>
                </a:cubicBezTo>
                <a:cubicBezTo>
                  <a:pt x="4539554" y="3505657"/>
                  <a:pt x="4546602" y="3526042"/>
                  <a:pt x="4546602" y="3546617"/>
                </a:cubicBezTo>
                <a:cubicBezTo>
                  <a:pt x="4546602" y="3572146"/>
                  <a:pt x="4540506" y="3597482"/>
                  <a:pt x="4538221" y="3623201"/>
                </a:cubicBezTo>
                <a:cubicBezTo>
                  <a:pt x="4536316" y="3643204"/>
                  <a:pt x="4537079" y="3663589"/>
                  <a:pt x="4534792" y="3683591"/>
                </a:cubicBezTo>
                <a:cubicBezTo>
                  <a:pt x="4533076" y="3699976"/>
                  <a:pt x="4528696" y="3716168"/>
                  <a:pt x="4525077" y="3732361"/>
                </a:cubicBezTo>
                <a:cubicBezTo>
                  <a:pt x="4523742" y="3738267"/>
                  <a:pt x="4518597" y="3744173"/>
                  <a:pt x="4519359" y="3749506"/>
                </a:cubicBezTo>
                <a:cubicBezTo>
                  <a:pt x="4527552" y="3802467"/>
                  <a:pt x="4490976" y="3840569"/>
                  <a:pt x="4474782" y="3885338"/>
                </a:cubicBezTo>
                <a:cubicBezTo>
                  <a:pt x="4457636" y="3932394"/>
                  <a:pt x="4431347" y="3977925"/>
                  <a:pt x="4439157" y="4030503"/>
                </a:cubicBezTo>
                <a:cubicBezTo>
                  <a:pt x="4443919" y="4062318"/>
                  <a:pt x="4454971" y="4092989"/>
                  <a:pt x="4461639" y="4124614"/>
                </a:cubicBezTo>
                <a:cubicBezTo>
                  <a:pt x="4463924" y="4135854"/>
                  <a:pt x="4463542" y="4148427"/>
                  <a:pt x="4461256" y="4159667"/>
                </a:cubicBezTo>
                <a:cubicBezTo>
                  <a:pt x="4450777" y="4213961"/>
                  <a:pt x="4449253" y="4267493"/>
                  <a:pt x="4466400" y="4320837"/>
                </a:cubicBezTo>
                <a:cubicBezTo>
                  <a:pt x="4469259" y="4329979"/>
                  <a:pt x="4471924" y="4339695"/>
                  <a:pt x="4471924" y="4349222"/>
                </a:cubicBezTo>
                <a:cubicBezTo>
                  <a:pt x="4471924" y="4401419"/>
                  <a:pt x="4467924" y="4452665"/>
                  <a:pt x="4449253" y="4502579"/>
                </a:cubicBezTo>
                <a:cubicBezTo>
                  <a:pt x="4442967" y="4519343"/>
                  <a:pt x="4446967" y="4539728"/>
                  <a:pt x="4445443" y="4558207"/>
                </a:cubicBezTo>
                <a:cubicBezTo>
                  <a:pt x="4444111" y="4575351"/>
                  <a:pt x="4443539" y="4592878"/>
                  <a:pt x="4439157" y="4609452"/>
                </a:cubicBezTo>
                <a:cubicBezTo>
                  <a:pt x="4432681" y="4633647"/>
                  <a:pt x="4431919" y="4656126"/>
                  <a:pt x="4437633" y="4681083"/>
                </a:cubicBezTo>
                <a:cubicBezTo>
                  <a:pt x="4442967" y="4704895"/>
                  <a:pt x="4440301" y="4730614"/>
                  <a:pt x="4440491" y="4755381"/>
                </a:cubicBezTo>
                <a:cubicBezTo>
                  <a:pt x="4440681" y="4783004"/>
                  <a:pt x="4440871" y="4810627"/>
                  <a:pt x="4439919" y="4838250"/>
                </a:cubicBezTo>
                <a:cubicBezTo>
                  <a:pt x="4439539" y="4849300"/>
                  <a:pt x="4431919" y="4861873"/>
                  <a:pt x="4434967" y="4871019"/>
                </a:cubicBezTo>
                <a:cubicBezTo>
                  <a:pt x="4445254" y="4900546"/>
                  <a:pt x="4432872" y="4930075"/>
                  <a:pt x="4438395" y="4959602"/>
                </a:cubicBezTo>
                <a:cubicBezTo>
                  <a:pt x="4441254" y="4974082"/>
                  <a:pt x="4433444" y="4990465"/>
                  <a:pt x="4432681" y="5006086"/>
                </a:cubicBezTo>
                <a:cubicBezTo>
                  <a:pt x="4431347" y="5031614"/>
                  <a:pt x="4431919" y="5057141"/>
                  <a:pt x="4431537" y="5082670"/>
                </a:cubicBezTo>
                <a:cubicBezTo>
                  <a:pt x="4431347" y="5091052"/>
                  <a:pt x="4430585" y="5099245"/>
                  <a:pt x="4430202" y="5107627"/>
                </a:cubicBezTo>
                <a:cubicBezTo>
                  <a:pt x="4429823" y="5115057"/>
                  <a:pt x="4428108" y="5122867"/>
                  <a:pt x="4429440" y="5129916"/>
                </a:cubicBezTo>
                <a:cubicBezTo>
                  <a:pt x="4434205" y="5155445"/>
                  <a:pt x="4442016" y="5180591"/>
                  <a:pt x="4445063" y="5206308"/>
                </a:cubicBezTo>
                <a:cubicBezTo>
                  <a:pt x="4447729" y="5228597"/>
                  <a:pt x="4444111" y="5251650"/>
                  <a:pt x="4446015" y="5274129"/>
                </a:cubicBezTo>
                <a:cubicBezTo>
                  <a:pt x="4449253" y="5313754"/>
                  <a:pt x="4454971" y="5353379"/>
                  <a:pt x="4458589" y="5393005"/>
                </a:cubicBezTo>
                <a:cubicBezTo>
                  <a:pt x="4459351" y="5401579"/>
                  <a:pt x="4454587" y="5410531"/>
                  <a:pt x="4454207" y="5419295"/>
                </a:cubicBezTo>
                <a:cubicBezTo>
                  <a:pt x="4453255" y="5446728"/>
                  <a:pt x="4453063" y="5474161"/>
                  <a:pt x="4452493" y="5501594"/>
                </a:cubicBezTo>
                <a:cubicBezTo>
                  <a:pt x="4452301" y="5517215"/>
                  <a:pt x="4452873" y="5533027"/>
                  <a:pt x="4451160" y="5548460"/>
                </a:cubicBezTo>
                <a:cubicBezTo>
                  <a:pt x="4448873" y="5568842"/>
                  <a:pt x="4445443" y="5587321"/>
                  <a:pt x="4460304" y="5606372"/>
                </a:cubicBezTo>
                <a:cubicBezTo>
                  <a:pt x="4483354" y="5635711"/>
                  <a:pt x="4474400" y="5673050"/>
                  <a:pt x="4479734" y="5706959"/>
                </a:cubicBezTo>
                <a:cubicBezTo>
                  <a:pt x="4481069" y="5715723"/>
                  <a:pt x="4481259" y="5724678"/>
                  <a:pt x="4482782" y="5733440"/>
                </a:cubicBezTo>
                <a:cubicBezTo>
                  <a:pt x="4485641" y="5749634"/>
                  <a:pt x="4488879" y="5765635"/>
                  <a:pt x="4492119" y="5781830"/>
                </a:cubicBezTo>
                <a:cubicBezTo>
                  <a:pt x="4492690" y="5784686"/>
                  <a:pt x="4492881" y="5787924"/>
                  <a:pt x="4493834" y="5790592"/>
                </a:cubicBezTo>
                <a:cubicBezTo>
                  <a:pt x="4501833" y="5815169"/>
                  <a:pt x="4510977" y="5839361"/>
                  <a:pt x="4517455" y="5864318"/>
                </a:cubicBezTo>
                <a:cubicBezTo>
                  <a:pt x="4520695" y="5876511"/>
                  <a:pt x="4521076" y="5890037"/>
                  <a:pt x="4519359" y="5902610"/>
                </a:cubicBezTo>
                <a:cubicBezTo>
                  <a:pt x="4514407" y="5939377"/>
                  <a:pt x="4512311" y="5975764"/>
                  <a:pt x="4519551" y="6012723"/>
                </a:cubicBezTo>
                <a:cubicBezTo>
                  <a:pt x="4522408" y="6027392"/>
                  <a:pt x="4517645" y="6043776"/>
                  <a:pt x="4515931" y="6059397"/>
                </a:cubicBezTo>
                <a:cubicBezTo>
                  <a:pt x="4511360" y="6096736"/>
                  <a:pt x="4506405" y="6134075"/>
                  <a:pt x="4502025" y="6171605"/>
                </a:cubicBezTo>
                <a:cubicBezTo>
                  <a:pt x="4499358" y="6195037"/>
                  <a:pt x="4497833" y="6218660"/>
                  <a:pt x="4495167" y="6242093"/>
                </a:cubicBezTo>
                <a:cubicBezTo>
                  <a:pt x="4491927" y="6269144"/>
                  <a:pt x="4486975" y="6296005"/>
                  <a:pt x="4484306" y="6323058"/>
                </a:cubicBezTo>
                <a:cubicBezTo>
                  <a:pt x="4481259" y="6353919"/>
                  <a:pt x="4480688" y="6384972"/>
                  <a:pt x="4477448" y="6415833"/>
                </a:cubicBezTo>
                <a:cubicBezTo>
                  <a:pt x="4471162" y="6472225"/>
                  <a:pt x="4463733" y="6528424"/>
                  <a:pt x="4456683" y="6584812"/>
                </a:cubicBezTo>
                <a:cubicBezTo>
                  <a:pt x="4449825" y="6639488"/>
                  <a:pt x="4443729" y="6694164"/>
                  <a:pt x="4435157" y="6748458"/>
                </a:cubicBezTo>
                <a:cubicBezTo>
                  <a:pt x="4431537" y="6771319"/>
                  <a:pt x="4421630" y="6793035"/>
                  <a:pt x="4416106" y="6815516"/>
                </a:cubicBezTo>
                <a:lnTo>
                  <a:pt x="4406407" y="6858000"/>
                </a:lnTo>
                <a:lnTo>
                  <a:pt x="4234154" y="6858000"/>
                </a:lnTo>
                <a:lnTo>
                  <a:pt x="0" y="6858000"/>
                </a:lnTo>
                <a:lnTo>
                  <a:pt x="0" y="2"/>
                </a:lnTo>
                <a:lnTo>
                  <a:pt x="3741092" y="1"/>
                </a:lnTo>
                <a:lnTo>
                  <a:pt x="3743810" y="21486"/>
                </a:lnTo>
                <a:close/>
              </a:path>
            </a:pathLst>
          </a:cu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44" name="Group 1043">
            <a:extLst>
              <a:ext uri="{FF2B5EF4-FFF2-40B4-BE49-F238E27FC236}">
                <a16:creationId xmlns:a16="http://schemas.microsoft.com/office/drawing/2014/main" id="{54A1C8FD-E5B7-4BEC-A74A-A55FB8EA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97284" y="-1"/>
            <a:ext cx="884241" cy="6858001"/>
            <a:chOff x="3697284" y="-1"/>
            <a:chExt cx="884241" cy="6858001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B20D202D-5E48-4B15-9AF5-71BED4FCFF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05641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68D6A069-9380-4E59-A0DA-07053EE8E5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15166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4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9122A-9475-018B-FE38-23559EF76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1" y="3146400"/>
            <a:ext cx="6140449" cy="26820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Influenced by essentialism</a:t>
            </a:r>
          </a:p>
          <a:p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Focused on the “brain/body” connection</a:t>
            </a:r>
          </a:p>
          <a:p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Experimental (physiological)/Clinical (psychological)</a:t>
            </a:r>
          </a:p>
          <a:p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Contributions and concerns</a:t>
            </a:r>
          </a:p>
          <a:p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Construction of deviance</a:t>
            </a:r>
          </a:p>
        </p:txBody>
      </p:sp>
    </p:spTree>
    <p:extLst>
      <p:ext uri="{BB962C8B-B14F-4D97-AF65-F5344CB8AC3E}">
        <p14:creationId xmlns:p14="http://schemas.microsoft.com/office/powerpoint/2010/main" val="452481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AC6B35-712D-245A-45C6-BE6A09497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Descriptive and Social Bookkeeping Methods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03E6D-D6A3-8290-5310-5EA671D18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400" dirty="0"/>
              <a:t>More common in sociological research</a:t>
            </a:r>
          </a:p>
          <a:p>
            <a:r>
              <a:rPr lang="en-US" sz="2400" dirty="0"/>
              <a:t>Descriptive (ethnographic) – “narrow but deep”</a:t>
            </a:r>
          </a:p>
          <a:p>
            <a:r>
              <a:rPr lang="en-US" sz="2400" dirty="0"/>
              <a:t>Social Bookkeeping (surveys) – “wide but shallow”</a:t>
            </a:r>
          </a:p>
          <a:p>
            <a:r>
              <a:rPr lang="en-US" sz="2400" dirty="0"/>
              <a:t>Construction of deviance</a:t>
            </a:r>
          </a:p>
          <a:p>
            <a:endParaRPr lang="en-US" sz="2000" dirty="0"/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06AF8B1A-EE8A-22FF-F69E-64266A562A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7872" y="2984777"/>
            <a:ext cx="4284961" cy="321372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613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03FAFA-3010-621F-84FC-DE94646FB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 dirty="0"/>
              <a:t>Kinsey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1F14B-83BD-45BE-FC1B-B6A06926E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 lnSpcReduction="10000"/>
          </a:bodyPr>
          <a:lstStyle/>
          <a:p>
            <a:r>
              <a:rPr lang="en-US" sz="2500" dirty="0"/>
              <a:t>Population surveys in the 1940s – 1950s (interview-based)</a:t>
            </a:r>
          </a:p>
          <a:p>
            <a:r>
              <a:rPr lang="en-US" sz="2500" dirty="0"/>
              <a:t>Publications: “Sexual Behavior in the Human Male/Sexual Behavior in the Human Female” (1948/1953)</a:t>
            </a:r>
          </a:p>
          <a:p>
            <a:r>
              <a:rPr lang="en-US" sz="2500" dirty="0"/>
              <a:t>Contributions: demonstrated participant interest, added “respectability”, opens space for public discussion, additional research funding</a:t>
            </a:r>
          </a:p>
          <a:p>
            <a:r>
              <a:rPr lang="en-US" sz="2500" dirty="0"/>
              <a:t>Influence: sexuality as a continuum, ethic of “tolerance”, contributed to the Sexual Revolution, destabilized conceptions of “normal and abnormal” </a:t>
            </a:r>
          </a:p>
          <a:p>
            <a:r>
              <a:rPr lang="en-US" sz="2500" dirty="0"/>
              <a:t>Critiques: “laundry list”, biased sample, conflated behavior and identity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41496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Sex in America Study</a:t>
            </a:r>
            <a:endParaRPr lang="en-GB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ADE424C-B107-D4D8-89A7-7709E78DDE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5341631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Findings from the </a:t>
            </a:r>
            <a:br>
              <a:rPr lang="en-US" sz="3600" dirty="0">
                <a:solidFill>
                  <a:srgbClr val="FFFFFF"/>
                </a:solidFill>
              </a:rPr>
            </a:br>
            <a:r>
              <a:rPr lang="en-US" sz="3600" dirty="0">
                <a:solidFill>
                  <a:srgbClr val="FFFFFF"/>
                </a:solidFill>
              </a:rPr>
              <a:t>General Social Survey (GSS)and National Survey of Sexual Health and Behavior (NSSHB)*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EAF0891-88EF-3651-113F-9CDA81AE76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5460882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4124DC4-5E97-8580-CBFC-591D54B30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i="1" dirty="0"/>
              <a:t>Pluralistic ignorance:</a:t>
            </a:r>
            <a:r>
              <a:rPr lang="en-US" sz="3200" b="1" dirty="0"/>
              <a:t> </a:t>
            </a:r>
            <a:r>
              <a:rPr lang="en-US" sz="3200" dirty="0"/>
              <a:t>a belief that one’s own views/choices is different from the majority’s views/choices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A6A4CF-CDBA-A14C-2B6D-8BDC832D9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represents a gap in the </a:t>
            </a:r>
            <a:r>
              <a:rPr lang="en-US" i="1" dirty="0"/>
              <a:t>actual group norm </a:t>
            </a:r>
            <a:r>
              <a:rPr lang="en-US" dirty="0"/>
              <a:t>and the</a:t>
            </a:r>
            <a:r>
              <a:rPr lang="en-US" i="1" dirty="0"/>
              <a:t> perceived group norm</a:t>
            </a:r>
            <a:r>
              <a:rPr lang="en-US" dirty="0"/>
              <a:t> </a:t>
            </a:r>
          </a:p>
          <a:p>
            <a:r>
              <a:rPr lang="en-US" dirty="0"/>
              <a:t>Can lead to individuals suppressing their own beliefs and/or changing their desired behavior to conform to what they </a:t>
            </a:r>
            <a:r>
              <a:rPr lang="en-US" i="1" dirty="0"/>
              <a:t>perceive</a:t>
            </a:r>
            <a:r>
              <a:rPr lang="en-US" dirty="0"/>
              <a:t> as the group norm  </a:t>
            </a:r>
          </a:p>
          <a:p>
            <a:r>
              <a:rPr lang="en-US" dirty="0"/>
              <a:t>Can lead to groups collectively maintaining norms that in fact most group members privately/individually reject</a:t>
            </a:r>
          </a:p>
        </p:txBody>
      </p:sp>
    </p:spTree>
    <p:extLst>
      <p:ext uri="{BB962C8B-B14F-4D97-AF65-F5344CB8AC3E}">
        <p14:creationId xmlns:p14="http://schemas.microsoft.com/office/powerpoint/2010/main" val="1797243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1A6F7F-03A6-3E4D-0E96-BF9BA6B43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Autofit/>
          </a:bodyPr>
          <a:lstStyle/>
          <a:p>
            <a:r>
              <a:rPr lang="en-US" dirty="0"/>
              <a:t>Departing from Deviance: Sexual identities other than “straight”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E8E40-232D-6D51-1576-89DF858F8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800" dirty="0"/>
              <a:t>Majority support for same sex partnerships, legal marriage and parenting* </a:t>
            </a:r>
          </a:p>
          <a:p>
            <a:r>
              <a:rPr lang="en-US" sz="2800" dirty="0"/>
              <a:t>Increasing negative views of homophobia</a:t>
            </a:r>
          </a:p>
          <a:p>
            <a:r>
              <a:rPr lang="en-US" sz="2800" dirty="0"/>
              <a:t>Positive attitudes correlated with age, education, and (somewhat) religion</a:t>
            </a:r>
          </a:p>
        </p:txBody>
      </p:sp>
    </p:spTree>
    <p:extLst>
      <p:ext uri="{BB962C8B-B14F-4D97-AF65-F5344CB8AC3E}">
        <p14:creationId xmlns:p14="http://schemas.microsoft.com/office/powerpoint/2010/main" val="1299152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72D816-0EC8-3FBD-E100-0EAA9ED6F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Explaining Attitude Shifts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ADC31-686D-96D8-0476-62C09C062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800" dirty="0"/>
              <a:t>Institutionalization Support: decline in medicalization (ex. APA 1973), decriminalization (ex. Lawrence v. Texas 2003), expansion of rights (ex. Obergefell v. Hodges 2015, Bostock v. Clayton 2020)</a:t>
            </a:r>
            <a:endParaRPr lang="en-US" dirty="0"/>
          </a:p>
          <a:p>
            <a:r>
              <a:rPr lang="en-US" sz="2800" dirty="0"/>
              <a:t>Period Effects: changing visibility and representation in culture</a:t>
            </a:r>
          </a:p>
          <a:p>
            <a:r>
              <a:rPr lang="en-US" sz="2800" dirty="0"/>
              <a:t>Cohort Replacement: population changes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006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79598-820E-6C58-E450-F091EEEDD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Acceptance or tolerance?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7C7D9-B93F-FE3A-0366-A1F3374E8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Homonormativity: increased social acceptance of sexualities outside of heterosexuality that is dependent on the mirroring of (hetero) normative values and behaviors</a:t>
            </a:r>
          </a:p>
          <a:p>
            <a:r>
              <a:rPr lang="en-US" dirty="0"/>
              <a:t>Boundary Maintenance: the mechanisms and processes through which societies strengthen and enforce norms</a:t>
            </a:r>
          </a:p>
          <a:p>
            <a:r>
              <a:rPr lang="en-US" dirty="0"/>
              <a:t>The myth of inevitable progression</a:t>
            </a:r>
          </a:p>
        </p:txBody>
      </p:sp>
    </p:spTree>
    <p:extLst>
      <p:ext uri="{BB962C8B-B14F-4D97-AF65-F5344CB8AC3E}">
        <p14:creationId xmlns:p14="http://schemas.microsoft.com/office/powerpoint/2010/main" val="1876901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showing dropping support for LGBTQ issues.">
            <a:extLst>
              <a:ext uri="{FF2B5EF4-FFF2-40B4-BE49-F238E27FC236}">
                <a16:creationId xmlns:a16="http://schemas.microsoft.com/office/drawing/2014/main" id="{E32F4CBC-566D-9DC9-283A-7F5ECCB05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111" y="858078"/>
            <a:ext cx="8421778" cy="514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650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riven mostly by Republican collapse, support for LGBT rights is at a  decade low. Republicans are now about as accepting of gays than they were  in 2005 : r/YAPms">
            <a:extLst>
              <a:ext uri="{FF2B5EF4-FFF2-40B4-BE49-F238E27FC236}">
                <a16:creationId xmlns:a16="http://schemas.microsoft.com/office/drawing/2014/main" id="{B6EA82C0-03A8-8AA5-827A-9270BF6FA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5595" y="858078"/>
            <a:ext cx="4235005" cy="5390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733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United States Map">
            <a:extLst>
              <a:ext uri="{FF2B5EF4-FFF2-40B4-BE49-F238E27FC236}">
                <a16:creationId xmlns:a16="http://schemas.microsoft.com/office/drawing/2014/main" id="{3705517C-584A-A596-DA9A-1FCDFC1D8B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52400"/>
            <a:ext cx="9677400" cy="655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4871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1041</TotalTime>
  <Words>819</Words>
  <Application>Microsoft Office PowerPoint</Application>
  <PresentationFormat>Widescreen</PresentationFormat>
  <Paragraphs>80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Sex as Deviance</vt:lpstr>
      <vt:lpstr>Vice: a bad habit, a personal failing, or a character flaw</vt:lpstr>
      <vt:lpstr>Social control: the entire range of responses a society uses to address norm violations (review)</vt:lpstr>
      <vt:lpstr>Research Challenges</vt:lpstr>
      <vt:lpstr>Essentialism: the idea that certain traits, qualities or characteristics are innate and rooted in biology</vt:lpstr>
      <vt:lpstr>Medicalization and Criminalization</vt:lpstr>
      <vt:lpstr>Four Research Traditions</vt:lpstr>
      <vt:lpstr>Experimental and Clinical Traditions</vt:lpstr>
      <vt:lpstr>Descriptive and Social Bookkeeping Methods</vt:lpstr>
      <vt:lpstr>Kinsey</vt:lpstr>
      <vt:lpstr>Sex in America Study</vt:lpstr>
      <vt:lpstr>Findings from the  General Social Survey (GSS)and National Survey of Sexual Health and Behavior (NSSHB)*</vt:lpstr>
      <vt:lpstr>Pluralistic ignorance: a belief that one’s own views/choices is different from the majority’s views/choices </vt:lpstr>
      <vt:lpstr>Departing from Deviance: Sexual identities other than “straight”</vt:lpstr>
      <vt:lpstr>Explaining Attitude Shifts</vt:lpstr>
      <vt:lpstr>Acceptance or tolerance?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Alcohol and Drug Use and Abuse</dc:title>
  <dc:creator>Michael</dc:creator>
  <cp:lastModifiedBy>Linda McAllister</cp:lastModifiedBy>
  <cp:revision>69</cp:revision>
  <dcterms:created xsi:type="dcterms:W3CDTF">2006-08-16T00:00:00Z</dcterms:created>
  <dcterms:modified xsi:type="dcterms:W3CDTF">2026-10-01T04:25:17Z</dcterms:modified>
</cp:coreProperties>
</file>