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notesMasterIdLst>
    <p:notesMasterId r:id="rId21"/>
  </p:notesMasterIdLst>
  <p:sldIdLst>
    <p:sldId id="256" r:id="rId2"/>
    <p:sldId id="289" r:id="rId3"/>
    <p:sldId id="291" r:id="rId4"/>
    <p:sldId id="266" r:id="rId5"/>
    <p:sldId id="288" r:id="rId6"/>
    <p:sldId id="287" r:id="rId7"/>
    <p:sldId id="292" r:id="rId8"/>
    <p:sldId id="293" r:id="rId9"/>
    <p:sldId id="261" r:id="rId10"/>
    <p:sldId id="265" r:id="rId11"/>
    <p:sldId id="278" r:id="rId12"/>
    <p:sldId id="294" r:id="rId13"/>
    <p:sldId id="295" r:id="rId14"/>
    <p:sldId id="272" r:id="rId15"/>
    <p:sldId id="296" r:id="rId16"/>
    <p:sldId id="262" r:id="rId17"/>
    <p:sldId id="284" r:id="rId18"/>
    <p:sldId id="297" r:id="rId19"/>
    <p:sldId id="28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38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2F178A-C765-4987-A70F-3AB85CA17C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B32D89E-3CC9-4AB5-9E2B-73C8B4B30670}">
      <dgm:prSet/>
      <dgm:spPr/>
      <dgm:t>
        <a:bodyPr/>
        <a:lstStyle/>
        <a:p>
          <a:r>
            <a:rPr lang="en-US"/>
            <a:t>Criminal Homicide: ~40% </a:t>
          </a:r>
        </a:p>
      </dgm:t>
    </dgm:pt>
    <dgm:pt modelId="{83273187-5508-4474-9DEE-C2EF1EF52264}" type="parTrans" cxnId="{4FBF95EB-AD01-42A3-907E-E85C4369632A}">
      <dgm:prSet/>
      <dgm:spPr/>
      <dgm:t>
        <a:bodyPr/>
        <a:lstStyle/>
        <a:p>
          <a:endParaRPr lang="en-US"/>
        </a:p>
      </dgm:t>
    </dgm:pt>
    <dgm:pt modelId="{2A02247A-3323-494E-A880-49FD29A83445}" type="sibTrans" cxnId="{4FBF95EB-AD01-42A3-907E-E85C4369632A}">
      <dgm:prSet/>
      <dgm:spPr/>
      <dgm:t>
        <a:bodyPr/>
        <a:lstStyle/>
        <a:p>
          <a:endParaRPr lang="en-US"/>
        </a:p>
      </dgm:t>
    </dgm:pt>
    <dgm:pt modelId="{DFCFC8C2-0895-443F-9BC5-B1B4FD2D04B7}">
      <dgm:prSet/>
      <dgm:spPr/>
      <dgm:t>
        <a:bodyPr/>
        <a:lstStyle/>
        <a:p>
          <a:r>
            <a:rPr lang="en-US"/>
            <a:t>Sexual Violence: ~37% </a:t>
          </a:r>
        </a:p>
      </dgm:t>
    </dgm:pt>
    <dgm:pt modelId="{6A1DDC7A-49EC-41DE-B0A2-CC8E9B50EBF9}" type="parTrans" cxnId="{A39EC6D8-59C2-46F7-87E9-6326C5C8FA45}">
      <dgm:prSet/>
      <dgm:spPr/>
      <dgm:t>
        <a:bodyPr/>
        <a:lstStyle/>
        <a:p>
          <a:endParaRPr lang="en-US"/>
        </a:p>
      </dgm:t>
    </dgm:pt>
    <dgm:pt modelId="{CC3EABC6-D4B1-4476-B922-330B435D155B}" type="sibTrans" cxnId="{A39EC6D8-59C2-46F7-87E9-6326C5C8FA45}">
      <dgm:prSet/>
      <dgm:spPr/>
      <dgm:t>
        <a:bodyPr/>
        <a:lstStyle/>
        <a:p>
          <a:endParaRPr lang="en-US"/>
        </a:p>
      </dgm:t>
    </dgm:pt>
    <dgm:pt modelId="{C49BB0F5-5445-453E-AC25-C6C705F4A1B7}">
      <dgm:prSet/>
      <dgm:spPr/>
      <dgm:t>
        <a:bodyPr/>
        <a:lstStyle/>
        <a:p>
          <a:r>
            <a:rPr lang="en-US"/>
            <a:t>Intimate Partner Violence: ~65%</a:t>
          </a:r>
        </a:p>
      </dgm:t>
    </dgm:pt>
    <dgm:pt modelId="{C143E22F-51B9-465C-84C7-D10B64B94650}" type="parTrans" cxnId="{83460D69-1B60-478D-8B3E-A44FDAA9CF08}">
      <dgm:prSet/>
      <dgm:spPr/>
      <dgm:t>
        <a:bodyPr/>
        <a:lstStyle/>
        <a:p>
          <a:endParaRPr lang="en-US"/>
        </a:p>
      </dgm:t>
    </dgm:pt>
    <dgm:pt modelId="{B530735D-35CB-4421-9B4E-366EE7A31856}" type="sibTrans" cxnId="{83460D69-1B60-478D-8B3E-A44FDAA9CF08}">
      <dgm:prSet/>
      <dgm:spPr/>
      <dgm:t>
        <a:bodyPr/>
        <a:lstStyle/>
        <a:p>
          <a:endParaRPr lang="en-US"/>
        </a:p>
      </dgm:t>
    </dgm:pt>
    <dgm:pt modelId="{E2A2E348-DFFB-41FE-810E-9D1D2465922C}">
      <dgm:prSet/>
      <dgm:spPr/>
      <dgm:t>
        <a:bodyPr/>
        <a:lstStyle/>
        <a:p>
          <a:r>
            <a:rPr lang="en-US"/>
            <a:t>Child Abuse and Neglect: ~40%</a:t>
          </a:r>
        </a:p>
      </dgm:t>
    </dgm:pt>
    <dgm:pt modelId="{82F4FF7A-274A-482E-9BC7-BD34501CCDD3}" type="parTrans" cxnId="{CB7BAB28-5C5D-41E5-B265-2C5B0AD008E6}">
      <dgm:prSet/>
      <dgm:spPr/>
      <dgm:t>
        <a:bodyPr/>
        <a:lstStyle/>
        <a:p>
          <a:endParaRPr lang="en-US"/>
        </a:p>
      </dgm:t>
    </dgm:pt>
    <dgm:pt modelId="{C61EB06A-E8CF-4678-A5F0-78C527A66C55}" type="sibTrans" cxnId="{CB7BAB28-5C5D-41E5-B265-2C5B0AD008E6}">
      <dgm:prSet/>
      <dgm:spPr/>
      <dgm:t>
        <a:bodyPr/>
        <a:lstStyle/>
        <a:p>
          <a:endParaRPr lang="en-US"/>
        </a:p>
      </dgm:t>
    </dgm:pt>
    <dgm:pt modelId="{52C2707B-5920-4F32-B9B3-A64C009B5063}">
      <dgm:prSet/>
      <dgm:spPr/>
      <dgm:t>
        <a:bodyPr/>
        <a:lstStyle/>
        <a:p>
          <a:r>
            <a:rPr lang="en-US"/>
            <a:t>Robbery/Burglary: ~12%</a:t>
          </a:r>
        </a:p>
      </dgm:t>
    </dgm:pt>
    <dgm:pt modelId="{5152ECB3-1455-4590-B14A-510A326C73E2}" type="parTrans" cxnId="{15738C92-35D6-4422-8A96-E21CEB531958}">
      <dgm:prSet/>
      <dgm:spPr/>
      <dgm:t>
        <a:bodyPr/>
        <a:lstStyle/>
        <a:p>
          <a:endParaRPr lang="en-US"/>
        </a:p>
      </dgm:t>
    </dgm:pt>
    <dgm:pt modelId="{EA38E559-4047-4B4F-B9CD-BFBE66A15426}" type="sibTrans" cxnId="{15738C92-35D6-4422-8A96-E21CEB531958}">
      <dgm:prSet/>
      <dgm:spPr/>
      <dgm:t>
        <a:bodyPr/>
        <a:lstStyle/>
        <a:p>
          <a:endParaRPr lang="en-US"/>
        </a:p>
      </dgm:t>
    </dgm:pt>
    <dgm:pt modelId="{FF287741-EFE7-43F6-802C-27635F77CD5A}" type="pres">
      <dgm:prSet presAssocID="{712F178A-C765-4987-A70F-3AB85CA17C21}" presName="linear" presStyleCnt="0">
        <dgm:presLayoutVars>
          <dgm:animLvl val="lvl"/>
          <dgm:resizeHandles val="exact"/>
        </dgm:presLayoutVars>
      </dgm:prSet>
      <dgm:spPr/>
    </dgm:pt>
    <dgm:pt modelId="{88773083-549A-4FD9-B0BC-FF52500D40E4}" type="pres">
      <dgm:prSet presAssocID="{7B32D89E-3CC9-4AB5-9E2B-73C8B4B3067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2A2BA6E-79F1-4E46-BBCC-5211DB3E6C04}" type="pres">
      <dgm:prSet presAssocID="{2A02247A-3323-494E-A880-49FD29A83445}" presName="spacer" presStyleCnt="0"/>
      <dgm:spPr/>
    </dgm:pt>
    <dgm:pt modelId="{123FB9D3-A0CB-4260-A235-06B13EBE8498}" type="pres">
      <dgm:prSet presAssocID="{DFCFC8C2-0895-443F-9BC5-B1B4FD2D04B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FB74EA0-D6CD-499E-8590-60221C59BE31}" type="pres">
      <dgm:prSet presAssocID="{CC3EABC6-D4B1-4476-B922-330B435D155B}" presName="spacer" presStyleCnt="0"/>
      <dgm:spPr/>
    </dgm:pt>
    <dgm:pt modelId="{B655EEE1-EC13-4436-9F1F-75F1213454C0}" type="pres">
      <dgm:prSet presAssocID="{C49BB0F5-5445-453E-AC25-C6C705F4A1B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C07BB58-CED1-4BBC-864A-FFE29676F153}" type="pres">
      <dgm:prSet presAssocID="{B530735D-35CB-4421-9B4E-366EE7A31856}" presName="spacer" presStyleCnt="0"/>
      <dgm:spPr/>
    </dgm:pt>
    <dgm:pt modelId="{ECF2D309-686E-4646-9BE5-98E29474264A}" type="pres">
      <dgm:prSet presAssocID="{E2A2E348-DFFB-41FE-810E-9D1D2465922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2CE7575-0286-4BF8-9782-E2CA69732666}" type="pres">
      <dgm:prSet presAssocID="{C61EB06A-E8CF-4678-A5F0-78C527A66C55}" presName="spacer" presStyleCnt="0"/>
      <dgm:spPr/>
    </dgm:pt>
    <dgm:pt modelId="{384AA332-70C2-4D77-8A35-9FC3DC273042}" type="pres">
      <dgm:prSet presAssocID="{52C2707B-5920-4F32-B9B3-A64C009B506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0D8BE24-4AC5-4CEB-AF48-EA57A07969FB}" type="presOf" srcId="{DFCFC8C2-0895-443F-9BC5-B1B4FD2D04B7}" destId="{123FB9D3-A0CB-4260-A235-06B13EBE8498}" srcOrd="0" destOrd="0" presId="urn:microsoft.com/office/officeart/2005/8/layout/vList2"/>
    <dgm:cxn modelId="{CB7BAB28-5C5D-41E5-B265-2C5B0AD008E6}" srcId="{712F178A-C765-4987-A70F-3AB85CA17C21}" destId="{E2A2E348-DFFB-41FE-810E-9D1D2465922C}" srcOrd="3" destOrd="0" parTransId="{82F4FF7A-274A-482E-9BC7-BD34501CCDD3}" sibTransId="{C61EB06A-E8CF-4678-A5F0-78C527A66C55}"/>
    <dgm:cxn modelId="{0E2FE03B-46FB-4DDB-869B-B3B4BE7CC235}" type="presOf" srcId="{52C2707B-5920-4F32-B9B3-A64C009B5063}" destId="{384AA332-70C2-4D77-8A35-9FC3DC273042}" srcOrd="0" destOrd="0" presId="urn:microsoft.com/office/officeart/2005/8/layout/vList2"/>
    <dgm:cxn modelId="{83460D69-1B60-478D-8B3E-A44FDAA9CF08}" srcId="{712F178A-C765-4987-A70F-3AB85CA17C21}" destId="{C49BB0F5-5445-453E-AC25-C6C705F4A1B7}" srcOrd="2" destOrd="0" parTransId="{C143E22F-51B9-465C-84C7-D10B64B94650}" sibTransId="{B530735D-35CB-4421-9B4E-366EE7A31856}"/>
    <dgm:cxn modelId="{712CE774-F47F-484D-AAE5-6B3E45AABF99}" type="presOf" srcId="{7B32D89E-3CC9-4AB5-9E2B-73C8B4B30670}" destId="{88773083-549A-4FD9-B0BC-FF52500D40E4}" srcOrd="0" destOrd="0" presId="urn:microsoft.com/office/officeart/2005/8/layout/vList2"/>
    <dgm:cxn modelId="{C426F475-D8EF-4F66-97CE-D194A2E40543}" type="presOf" srcId="{E2A2E348-DFFB-41FE-810E-9D1D2465922C}" destId="{ECF2D309-686E-4646-9BE5-98E29474264A}" srcOrd="0" destOrd="0" presId="urn:microsoft.com/office/officeart/2005/8/layout/vList2"/>
    <dgm:cxn modelId="{15738C92-35D6-4422-8A96-E21CEB531958}" srcId="{712F178A-C765-4987-A70F-3AB85CA17C21}" destId="{52C2707B-5920-4F32-B9B3-A64C009B5063}" srcOrd="4" destOrd="0" parTransId="{5152ECB3-1455-4590-B14A-510A326C73E2}" sibTransId="{EA38E559-4047-4B4F-B9CD-BFBE66A15426}"/>
    <dgm:cxn modelId="{3B74F7A3-4B71-483F-AF5C-7D8590038132}" type="presOf" srcId="{712F178A-C765-4987-A70F-3AB85CA17C21}" destId="{FF287741-EFE7-43F6-802C-27635F77CD5A}" srcOrd="0" destOrd="0" presId="urn:microsoft.com/office/officeart/2005/8/layout/vList2"/>
    <dgm:cxn modelId="{A39EC6D8-59C2-46F7-87E9-6326C5C8FA45}" srcId="{712F178A-C765-4987-A70F-3AB85CA17C21}" destId="{DFCFC8C2-0895-443F-9BC5-B1B4FD2D04B7}" srcOrd="1" destOrd="0" parTransId="{6A1DDC7A-49EC-41DE-B0A2-CC8E9B50EBF9}" sibTransId="{CC3EABC6-D4B1-4476-B922-330B435D155B}"/>
    <dgm:cxn modelId="{6D0CBCE5-3B83-4581-90D6-0A749BC4D5C6}" type="presOf" srcId="{C49BB0F5-5445-453E-AC25-C6C705F4A1B7}" destId="{B655EEE1-EC13-4436-9F1F-75F1213454C0}" srcOrd="0" destOrd="0" presId="urn:microsoft.com/office/officeart/2005/8/layout/vList2"/>
    <dgm:cxn modelId="{4FBF95EB-AD01-42A3-907E-E85C4369632A}" srcId="{712F178A-C765-4987-A70F-3AB85CA17C21}" destId="{7B32D89E-3CC9-4AB5-9E2B-73C8B4B30670}" srcOrd="0" destOrd="0" parTransId="{83273187-5508-4474-9DEE-C2EF1EF52264}" sibTransId="{2A02247A-3323-494E-A880-49FD29A83445}"/>
    <dgm:cxn modelId="{D8335BF2-FFAE-41D5-A94A-D505C5EDCED1}" type="presParOf" srcId="{FF287741-EFE7-43F6-802C-27635F77CD5A}" destId="{88773083-549A-4FD9-B0BC-FF52500D40E4}" srcOrd="0" destOrd="0" presId="urn:microsoft.com/office/officeart/2005/8/layout/vList2"/>
    <dgm:cxn modelId="{0A687C32-6D51-4D77-ABF4-CC0B57699F74}" type="presParOf" srcId="{FF287741-EFE7-43F6-802C-27635F77CD5A}" destId="{22A2BA6E-79F1-4E46-BBCC-5211DB3E6C04}" srcOrd="1" destOrd="0" presId="urn:microsoft.com/office/officeart/2005/8/layout/vList2"/>
    <dgm:cxn modelId="{55A9050E-B24F-4E36-B7AE-DAF47B8AA687}" type="presParOf" srcId="{FF287741-EFE7-43F6-802C-27635F77CD5A}" destId="{123FB9D3-A0CB-4260-A235-06B13EBE8498}" srcOrd="2" destOrd="0" presId="urn:microsoft.com/office/officeart/2005/8/layout/vList2"/>
    <dgm:cxn modelId="{29CA9FBC-A374-492F-B0B4-6C7E5592B50E}" type="presParOf" srcId="{FF287741-EFE7-43F6-802C-27635F77CD5A}" destId="{8FB74EA0-D6CD-499E-8590-60221C59BE31}" srcOrd="3" destOrd="0" presId="urn:microsoft.com/office/officeart/2005/8/layout/vList2"/>
    <dgm:cxn modelId="{4F4BA875-D8BC-4D11-9F07-6F4758EFE476}" type="presParOf" srcId="{FF287741-EFE7-43F6-802C-27635F77CD5A}" destId="{B655EEE1-EC13-4436-9F1F-75F1213454C0}" srcOrd="4" destOrd="0" presId="urn:microsoft.com/office/officeart/2005/8/layout/vList2"/>
    <dgm:cxn modelId="{5B18B6D4-C079-4FDD-8750-C9EB337D9DA3}" type="presParOf" srcId="{FF287741-EFE7-43F6-802C-27635F77CD5A}" destId="{AC07BB58-CED1-4BBC-864A-FFE29676F153}" srcOrd="5" destOrd="0" presId="urn:microsoft.com/office/officeart/2005/8/layout/vList2"/>
    <dgm:cxn modelId="{EA0FE677-7488-47E5-B312-CBFD322B5AA0}" type="presParOf" srcId="{FF287741-EFE7-43F6-802C-27635F77CD5A}" destId="{ECF2D309-686E-4646-9BE5-98E29474264A}" srcOrd="6" destOrd="0" presId="urn:microsoft.com/office/officeart/2005/8/layout/vList2"/>
    <dgm:cxn modelId="{C9990F8A-CCA8-4249-B957-B4C06FEBFDF8}" type="presParOf" srcId="{FF287741-EFE7-43F6-802C-27635F77CD5A}" destId="{22CE7575-0286-4BF8-9782-E2CA69732666}" srcOrd="7" destOrd="0" presId="urn:microsoft.com/office/officeart/2005/8/layout/vList2"/>
    <dgm:cxn modelId="{1F786A10-36B3-449C-BE14-1FA01711404F}" type="presParOf" srcId="{FF287741-EFE7-43F6-802C-27635F77CD5A}" destId="{384AA332-70C2-4D77-8A35-9FC3DC27304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773083-549A-4FD9-B0BC-FF52500D40E4}">
      <dsp:nvSpPr>
        <dsp:cNvPr id="0" name=""/>
        <dsp:cNvSpPr/>
      </dsp:nvSpPr>
      <dsp:spPr>
        <a:xfrm>
          <a:off x="0" y="257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Criminal Homicide: ~40% </a:t>
          </a:r>
        </a:p>
      </dsp:txBody>
      <dsp:txXfrm>
        <a:off x="38381" y="64129"/>
        <a:ext cx="10438838" cy="709478"/>
      </dsp:txXfrm>
    </dsp:sp>
    <dsp:sp modelId="{123FB9D3-A0CB-4260-A235-06B13EBE8498}">
      <dsp:nvSpPr>
        <dsp:cNvPr id="0" name=""/>
        <dsp:cNvSpPr/>
      </dsp:nvSpPr>
      <dsp:spPr>
        <a:xfrm>
          <a:off x="0" y="9041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Sexual Violence: ~37% </a:t>
          </a:r>
        </a:p>
      </dsp:txBody>
      <dsp:txXfrm>
        <a:off x="38381" y="942529"/>
        <a:ext cx="10438838" cy="709478"/>
      </dsp:txXfrm>
    </dsp:sp>
    <dsp:sp modelId="{B655EEE1-EC13-4436-9F1F-75F1213454C0}">
      <dsp:nvSpPr>
        <dsp:cNvPr id="0" name=""/>
        <dsp:cNvSpPr/>
      </dsp:nvSpPr>
      <dsp:spPr>
        <a:xfrm>
          <a:off x="0" y="17825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Intimate Partner Violence: ~65%</a:t>
          </a:r>
        </a:p>
      </dsp:txBody>
      <dsp:txXfrm>
        <a:off x="38381" y="1820930"/>
        <a:ext cx="10438838" cy="709478"/>
      </dsp:txXfrm>
    </dsp:sp>
    <dsp:sp modelId="{ECF2D309-686E-4646-9BE5-98E29474264A}">
      <dsp:nvSpPr>
        <dsp:cNvPr id="0" name=""/>
        <dsp:cNvSpPr/>
      </dsp:nvSpPr>
      <dsp:spPr>
        <a:xfrm>
          <a:off x="0" y="26609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Child Abuse and Neglect: ~40%</a:t>
          </a:r>
        </a:p>
      </dsp:txBody>
      <dsp:txXfrm>
        <a:off x="38381" y="2699330"/>
        <a:ext cx="10438838" cy="709478"/>
      </dsp:txXfrm>
    </dsp:sp>
    <dsp:sp modelId="{384AA332-70C2-4D77-8A35-9FC3DC273042}">
      <dsp:nvSpPr>
        <dsp:cNvPr id="0" name=""/>
        <dsp:cNvSpPr/>
      </dsp:nvSpPr>
      <dsp:spPr>
        <a:xfrm>
          <a:off x="0" y="35393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Robbery/Burglary: ~12%</a:t>
          </a:r>
        </a:p>
      </dsp:txBody>
      <dsp:txXfrm>
        <a:off x="38381" y="3577730"/>
        <a:ext cx="10438838" cy="7094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BF0F0-000B-4BC4-9104-6069CCE4F36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04FE6F-CF44-4479-80D4-D0FB8F757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16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Police Officer by a D.A.R.E. car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FE6F-CF44-4479-80D4-D0FB8F757F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0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FE6F-CF44-4479-80D4-D0FB8F757F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15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FE6F-CF44-4479-80D4-D0FB8F757F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1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1949 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FE6F-CF44-4479-80D4-D0FB8F757F2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510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 light “up for whatever” campaign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FE6F-CF44-4479-80D4-D0FB8F757F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82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Ist</a:t>
            </a:r>
            <a:r>
              <a:rPr lang="en-US" dirty="0"/>
              <a:t> ad </a:t>
            </a:r>
            <a:r>
              <a:rPr lang="en-US" dirty="0" err="1"/>
              <a:t>Calderdall</a:t>
            </a:r>
            <a:r>
              <a:rPr lang="en-US" dirty="0"/>
              <a:t> Council, England, “promise” PSA: USA, Keep an eye on the drink New Zealand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FE6F-CF44-4479-80D4-D0FB8F757F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860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 on police incident logging, national victim surveys, and offender self-reporting, only required testing for homicides/DUIs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FE6F-CF44-4479-80D4-D0FB8F757F2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50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French and Munro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FE6F-CF44-4479-80D4-D0FB8F757F2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73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graph is consumed alcohol in last 30 days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FE6F-CF44-4479-80D4-D0FB8F757F2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96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4B56E-F91C-A997-485B-5C3D9086E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36CE19-742B-2EAC-4712-82999E69D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D9DF9-8F09-78B9-2DBC-D91E8EE7B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531B5-1EFC-CB27-D1CB-FB08EE059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8F8A5-8CB0-B96F-A700-37A420E1C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03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E77AB-EDEA-4784-3571-65F0D1AAC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A270A-8BA5-99E4-EF24-7C60D7FA2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22875-DD9C-89BA-55F6-6A3414AD4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1E855-4A41-23E3-FF83-E51D78B0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01E22-5F0B-9729-8607-88EAE66E7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0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F5290-68F1-1162-C892-BF70D7F4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C5588-A8AB-8637-E387-E31BCD0E8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32A57-E2E8-E675-5198-AB2097F10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77FA1-0E95-A699-7E01-6D6351C92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3B957-3A6E-4542-DEDA-6B5368140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52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276AB-6A13-CA8D-78D0-A614DFE2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4015-A364-B619-E5F7-590EED1D0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CB24C-09C6-8082-E6AC-8301DF4D4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A1393-3C64-3602-0568-3C90E31C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D4868-8CA9-97AD-E374-A635E56B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785A6-CBDA-AD4D-87A4-56993707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95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9BEC1-3E20-C121-DE2D-266F8355A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F6DAF-5659-3A90-5840-B0F94684F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F7917-3C68-244F-6D14-3C63442F1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05B42A-B588-0F1A-4BA1-7427A0689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C43D96-94E7-3EF8-4F72-F55A8A976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24799-4E08-1A62-9AF7-E5C071B9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00F02-F8E6-84C7-7EF3-44A247507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36116-3E39-F23A-6811-0E7B7D560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21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1E121-1ADB-7FBB-CF0E-BCB04EAB4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B67C6-6EA8-AD5D-51D6-E42002852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590EA-5B34-A17D-CD4F-FC5B69BE6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7D9226-C27A-92C4-DAE8-976C1EF46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11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0E66C7-7B29-CB73-9CD1-F5AB1003E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D29CD-08DA-F5B4-0DE7-4321916EE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7FD52-0A74-2B5A-35BF-4C6EB44B7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50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F2D7-C19B-1354-960B-2DBD7F1B4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6780D-2949-9666-B0CE-5EE4CABB1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101EA-ED6B-561E-1A60-03D7DEA84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B1446-9648-94E4-10FA-E4544CD73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54AE5-25B7-2917-BCCE-A8EF411FB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4DC60-904D-D28A-20C1-216D00C5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33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34F1-2DDC-691C-976A-322AC2488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05C38D-8342-5B7B-6175-75D79EB9A5C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FF266-3054-87EE-DD90-4673BC3A0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931AC1-D716-4A65-ABF6-C07B9CD94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EE0F7-291E-908F-95A9-227258675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D59B7-52FC-08F7-2EC9-5B88A9D4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993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88017-71D6-4B86-2017-31FB7AB0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D17B7F-6E07-E837-C38D-6B6FB3C9D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34B79-6A40-C5E5-FE26-A6F2C49F1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12223-4007-C6BA-A282-7DB75BCC0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E9D45-7BF1-5878-CB3C-3B656F08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56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4071B4-933D-12DF-3E49-BB9B5DE311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20991-D175-8BAD-9958-650FF3CA4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7E612-F3AE-2927-9640-FF72198A3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760C2-876F-62D8-DB24-498E09EDD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0703D-6AE1-6DC9-4D37-39800991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15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109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A1BCFA-4964-D364-A84D-D84CA8464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92858-7322-388D-6DD4-B0E7F3BB9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307D5-AFCE-7E48-AB83-5135D8BE10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EDF5C-03B5-0588-D2E0-24DCF5664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7A918-8033-D926-B05C-F98F60C47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6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arecar.jpg"/>
          <p:cNvPicPr>
            <a:picLocks noChangeAspect="1"/>
          </p:cNvPicPr>
          <p:nvPr/>
        </p:nvPicPr>
        <p:blipFill rotWithShape="1">
          <a:blip r:embed="rId3" cstate="print"/>
          <a:srcRect b="1604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Drug Use as Deviance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24EAC-4BC2-D7E0-9001-41DA66E77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Inquiry Spaces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55233-310E-73C5-90ED-E6DAA1D64CA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478024"/>
            <a:ext cx="10515600" cy="369417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What is there to know about drug use among individuals and groups in the society? </a:t>
            </a:r>
          </a:p>
          <a:p>
            <a:r>
              <a:rPr lang="en-US" sz="2200" dirty="0"/>
              <a:t>	Aligned with a normative approach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r>
              <a:rPr lang="en-US" sz="2200" dirty="0"/>
              <a:t> </a:t>
            </a:r>
            <a:r>
              <a:rPr lang="en-US" sz="2400" dirty="0"/>
              <a:t>How does the society “frame” and respond to drug use?</a:t>
            </a:r>
          </a:p>
          <a:p>
            <a:r>
              <a:rPr lang="en-US" sz="2200" dirty="0"/>
              <a:t>	Aligned with the reactive approach</a:t>
            </a:r>
          </a:p>
          <a:p>
            <a:pPr lvl="1"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0" lvl="1"/>
            <a:r>
              <a:rPr lang="en-US" sz="2200" dirty="0"/>
              <a:t>	Frame: perception, interpretation or communication about social 	phenomena</a:t>
            </a:r>
          </a:p>
        </p:txBody>
      </p:sp>
    </p:spTree>
    <p:extLst>
      <p:ext uri="{BB962C8B-B14F-4D97-AF65-F5344CB8AC3E}">
        <p14:creationId xmlns:p14="http://schemas.microsoft.com/office/powerpoint/2010/main" val="209081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441352E-E609-316D-3459-BF0B13632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Normative and Reactive Approach (review)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26C9B9-CBC5-A298-FA3E-34610636C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Normative Approach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i="1" dirty="0">
                <a:solidFill>
                  <a:schemeClr val="bg1"/>
                </a:solidFill>
              </a:rPr>
              <a:t>Deviance is the violation of widely held norms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Norms have degrees of seriousness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Focus is on rule breakers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Deviance must be managed as a matter of social stability</a:t>
            </a:r>
            <a:endParaRPr lang="en-US" sz="2000" i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Reactive Approach: </a:t>
            </a:r>
            <a:r>
              <a:rPr lang="en-US" sz="2000" i="1" dirty="0">
                <a:solidFill>
                  <a:schemeClr val="bg1"/>
                </a:solidFill>
              </a:rPr>
              <a:t>Deviance is created when there is a negative evaluation or social response to attitudes, behaviors or characteristics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Focus is on rule makers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Deviant is a meaningful social status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Deviant statuses are connected to social inequalities </a:t>
            </a:r>
          </a:p>
          <a:p>
            <a:endParaRPr lang="en-US" sz="2000" i="1" dirty="0">
              <a:solidFill>
                <a:schemeClr val="bg1"/>
              </a:solidFill>
            </a:endParaRPr>
          </a:p>
          <a:p>
            <a:endParaRPr lang="en-US" sz="1800" i="1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797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30936"/>
            <a:ext cx="2340864" cy="5626947"/>
          </a:xfrm>
          <a:noFill/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Moral Panics: widespread fear or concern that there is a direct and immediate threat to the collective interest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0543" y="630936"/>
            <a:ext cx="7870201" cy="5626957"/>
          </a:xfrm>
          <a:noFill/>
        </p:spPr>
        <p:txBody>
          <a:bodyPr anchor="ctr">
            <a:norm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bg1"/>
                </a:solidFill>
              </a:rPr>
              <a:t>Elements: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1) Group of persons identified as a threat and/or victim</a:t>
            </a:r>
          </a:p>
          <a:p>
            <a:pPr marL="457200" indent="-457200">
              <a:buAutoNum type="arabicParenR"/>
            </a:pPr>
            <a:endParaRPr lang="en-GB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2) Misrepresentation/distortion</a:t>
            </a:r>
          </a:p>
          <a:p>
            <a:pPr marL="400050" lvl="1" indent="0">
              <a:buNone/>
            </a:pPr>
            <a:r>
              <a:rPr lang="en-GB" dirty="0">
                <a:solidFill>
                  <a:schemeClr val="bg1"/>
                </a:solidFill>
              </a:rPr>
              <a:t>	</a:t>
            </a:r>
          </a:p>
          <a:p>
            <a:pPr>
              <a:buNone/>
            </a:pPr>
            <a:r>
              <a:rPr lang="en-GB" sz="2400" dirty="0">
                <a:solidFill>
                  <a:schemeClr val="bg1"/>
                </a:solidFill>
              </a:rPr>
              <a:t>﻿3) Oversimplification</a:t>
            </a:r>
          </a:p>
          <a:p>
            <a:pPr>
              <a:buNone/>
            </a:pPr>
            <a:r>
              <a:rPr lang="en-GB" sz="2400" dirty="0">
                <a:solidFill>
                  <a:schemeClr val="bg1"/>
                </a:solidFill>
              </a:rPr>
              <a:t>		</a:t>
            </a:r>
          </a:p>
          <a:p>
            <a:pPr>
              <a:buNone/>
            </a:pPr>
            <a:r>
              <a:rPr lang="en-GB" sz="2400" dirty="0">
                <a:solidFill>
                  <a:schemeClr val="bg1"/>
                </a:solidFill>
              </a:rPr>
              <a:t>﻿4) Urgency/call to action</a:t>
            </a:r>
          </a:p>
          <a:p>
            <a:pPr>
              <a:buNone/>
            </a:pPr>
            <a:r>
              <a:rPr lang="en-GB" sz="2400" dirty="0">
                <a:solidFill>
                  <a:schemeClr val="bg1"/>
                </a:solidFill>
              </a:rPr>
              <a:t>		</a:t>
            </a:r>
          </a:p>
          <a:p>
            <a:pPr>
              <a:buNone/>
            </a:pPr>
            <a:r>
              <a:rPr lang="en-GB" sz="2400" dirty="0">
                <a:solidFill>
                  <a:schemeClr val="bg1"/>
                </a:solidFill>
              </a:rPr>
              <a:t>﻿5) Organizational and institutional response </a:t>
            </a:r>
          </a:p>
          <a:p>
            <a:pPr>
              <a:buNone/>
            </a:pPr>
            <a:endParaRPr lang="en-GB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fer to caption">
            <a:extLst>
              <a:ext uri="{FF2B5EF4-FFF2-40B4-BE49-F238E27FC236}">
                <a16:creationId xmlns:a16="http://schemas.microsoft.com/office/drawing/2014/main" id="{DB96535B-3DE3-D18D-5435-0F344DA5A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5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5648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6827C3C-D52F-46CE-A441-3CD6A1A6A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2A8B51-0A89-497B-B882-6658E029A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rack-kids.jpeg">
            <a:extLst>
              <a:ext uri="{FF2B5EF4-FFF2-40B4-BE49-F238E27FC236}">
                <a16:creationId xmlns:a16="http://schemas.microsoft.com/office/drawing/2014/main" id="{734F0DAE-FE29-A212-A321-5E77DCE83EF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11141" r="1" b="1"/>
          <a:stretch>
            <a:fillRect/>
          </a:stretch>
        </p:blipFill>
        <p:spPr>
          <a:xfrm>
            <a:off x="965200" y="1296510"/>
            <a:ext cx="2879083" cy="426497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B1CEFBF-6F09-4052-862B-E219DA157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6882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LSD moral panic.jpg">
            <a:extLst>
              <a:ext uri="{FF2B5EF4-FFF2-40B4-BE49-F238E27FC236}">
                <a16:creationId xmlns:a16="http://schemas.microsoft.com/office/drawing/2014/main" id="{EC578BD2-F575-5C12-74F4-DF91D6E8FE4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r="4" b="25301"/>
          <a:stretch>
            <a:fillRect/>
          </a:stretch>
        </p:blipFill>
        <p:spPr>
          <a:xfrm>
            <a:off x="4647976" y="2018565"/>
            <a:ext cx="2880360" cy="282188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CB5D417-2A71-445D-B4C7-9E814D633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2847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Newsweek_Meth.gif"/>
          <p:cNvPicPr>
            <a:picLocks noChangeAspect="1"/>
          </p:cNvPicPr>
          <p:nvPr/>
        </p:nvPicPr>
        <p:blipFill>
          <a:blip r:embed="rId4" cstate="print"/>
          <a:srcRect r="1" b="16322"/>
          <a:stretch>
            <a:fillRect/>
          </a:stretch>
        </p:blipFill>
        <p:spPr>
          <a:xfrm>
            <a:off x="8343941" y="2128011"/>
            <a:ext cx="2880360" cy="260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903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1949 Beer Ad: Vintage Bar Decor, Douglas Crockwell Americana Art, Magazine  Print Advertisement - Etsy">
            <a:extLst>
              <a:ext uri="{FF2B5EF4-FFF2-40B4-BE49-F238E27FC236}">
                <a16:creationId xmlns:a16="http://schemas.microsoft.com/office/drawing/2014/main" id="{E55D4C86-11A3-3CF9-F78E-7E8A70C3AB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89" b="1341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0AA9E-0005-5000-15B9-5B9ACB965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/>
              <a:t>Why Study Alcohol?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B12F5-BC64-E3A0-3E56-9D221A3E9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dirty="0"/>
              <a:t>Conventionality</a:t>
            </a:r>
          </a:p>
          <a:p>
            <a:r>
              <a:rPr lang="en-US" dirty="0"/>
              <a:t>Long use history</a:t>
            </a:r>
          </a:p>
          <a:p>
            <a:r>
              <a:rPr lang="en-US" dirty="0"/>
              <a:t>Familiarity</a:t>
            </a:r>
          </a:p>
          <a:p>
            <a:r>
              <a:rPr lang="en-US" dirty="0"/>
              <a:t>Declining use</a:t>
            </a:r>
          </a:p>
        </p:txBody>
      </p:sp>
    </p:spTree>
    <p:extLst>
      <p:ext uri="{BB962C8B-B14F-4D97-AF65-F5344CB8AC3E}">
        <p14:creationId xmlns:p14="http://schemas.microsoft.com/office/powerpoint/2010/main" val="2068763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040EF5-8E67-4B4B-0B7E-0442E21B6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8592" y="762001"/>
            <a:ext cx="5571329" cy="1708244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/>
              <a:t>From conformity to deviance</a:t>
            </a:r>
          </a:p>
        </p:txBody>
      </p:sp>
      <p:pic>
        <p:nvPicPr>
          <p:cNvPr id="5" name="Picture 4" descr="school bus dwi.jpg">
            <a:extLst>
              <a:ext uri="{FF2B5EF4-FFF2-40B4-BE49-F238E27FC236}">
                <a16:creationId xmlns:a16="http://schemas.microsoft.com/office/drawing/2014/main" id="{8E6E64E2-2AF8-F342-8581-16016DD819F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30652" r="1569" b="-1"/>
          <a:stretch>
            <a:fillRect/>
          </a:stretch>
        </p:blipFill>
        <p:spPr>
          <a:xfrm>
            <a:off x="-1" y="-2"/>
            <a:ext cx="4876801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43F5C-08A3-A943-47AD-3B478ADDE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anchor="ctr">
            <a:normAutofit/>
          </a:bodyPr>
          <a:lstStyle/>
          <a:p>
            <a:r>
              <a:rPr lang="en-US" sz="2400" dirty="0"/>
              <a:t>Gets in the way of fulfilling social roles</a:t>
            </a:r>
          </a:p>
          <a:p>
            <a:r>
              <a:rPr lang="en-US" sz="2400" dirty="0"/>
              <a:t>When examined for comparative harms</a:t>
            </a:r>
          </a:p>
          <a:p>
            <a:r>
              <a:rPr lang="en-US" sz="2400" dirty="0"/>
              <a:t>Based on contingencies</a:t>
            </a:r>
          </a:p>
          <a:p>
            <a:r>
              <a:rPr lang="en-US" sz="2400" dirty="0"/>
              <a:t>When correlated with other forms of rule breaking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13252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algn="ctr"/>
            <a:r>
              <a:rPr lang="en-US" sz="3700" dirty="0"/>
              <a:t>Explaining the co-occurrence of alcohol use and risk taking/rule breaking</a:t>
            </a:r>
            <a:endParaRPr lang="en-GB" sz="3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b="1" dirty="0"/>
              <a:t>Disinhibition: alcohol impairs perceptual and cognitive skills needed for decision making </a:t>
            </a:r>
          </a:p>
          <a:p>
            <a:endParaRPr lang="en-US" sz="2200" b="1" dirty="0"/>
          </a:p>
          <a:p>
            <a:r>
              <a:rPr lang="en-US" sz="2200" b="1" dirty="0"/>
              <a:t>Susceptibility: alcohol abuse and deviant behavior share a (third) common cause</a:t>
            </a:r>
          </a:p>
          <a:p>
            <a:endParaRPr lang="en-US" sz="2200" b="1" dirty="0"/>
          </a:p>
          <a:p>
            <a:r>
              <a:rPr lang="en-US" sz="2200" b="1" dirty="0"/>
              <a:t>Reciprocal: individuals wishing to engage in deviance use alcohol to reduce their inhibitions </a:t>
            </a:r>
          </a:p>
          <a:p>
            <a:endParaRPr lang="en-GB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699EBD07-7968-467C-82EE-7283E4651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italian-family-party-drinking-wine_orig.jpg"/>
          <p:cNvPicPr>
            <a:picLocks noChangeAspect="1"/>
          </p:cNvPicPr>
          <p:nvPr/>
        </p:nvPicPr>
        <p:blipFill rotWithShape="1">
          <a:blip r:embed="rId2" cstate="print"/>
          <a:srcRect l="12963" r="12963"/>
          <a:stretch>
            <a:fillRect/>
          </a:stretch>
        </p:blipFill>
        <p:spPr>
          <a:xfrm>
            <a:off x="20" y="10"/>
            <a:ext cx="6095979" cy="5143487"/>
          </a:xfrm>
          <a:prstGeom prst="rect">
            <a:avLst/>
          </a:prstGeom>
        </p:spPr>
      </p:pic>
      <p:pic>
        <p:nvPicPr>
          <p:cNvPr id="6" name="Picture 5" descr="keg-party.jpg"/>
          <p:cNvPicPr>
            <a:picLocks noChangeAspect="1"/>
          </p:cNvPicPr>
          <p:nvPr/>
        </p:nvPicPr>
        <p:blipFill rotWithShape="1">
          <a:blip r:embed="rId3" cstate="print"/>
          <a:srcRect l="1547" r="19342"/>
          <a:stretch>
            <a:fillRect/>
          </a:stretch>
        </p:blipFill>
        <p:spPr>
          <a:xfrm>
            <a:off x="6096000" y="10"/>
            <a:ext cx="6095999" cy="5143487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143498"/>
            <a:ext cx="12192000" cy="1714502"/>
          </a:xfrm>
          <a:prstGeom prst="rect">
            <a:avLst/>
          </a:prstGeom>
          <a:ln>
            <a:noFill/>
          </a:ln>
          <a:effectLst>
            <a:outerShdw blurRad="596900" dist="330200" dir="10800000" sx="87000" sy="87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89554" y="5405955"/>
            <a:ext cx="10916645" cy="1171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Drinking, Rule breaking, and Socio-Cultural Conditions:  what, where and with who matters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lcohol rape adj.jpg"/>
          <p:cNvPicPr>
            <a:picLocks noChangeAspect="1"/>
          </p:cNvPicPr>
          <p:nvPr/>
        </p:nvPicPr>
        <p:blipFill rotWithShape="1">
          <a:blip r:embed="rId2" cstate="print"/>
          <a:srcRect t="11803" b="45505"/>
          <a:stretch/>
        </p:blipFill>
        <p:spPr>
          <a:xfrm>
            <a:off x="4724400" y="10"/>
            <a:ext cx="5943600" cy="3383270"/>
          </a:xfrm>
          <a:prstGeom prst="rect">
            <a:avLst/>
          </a:prstGeom>
        </p:spPr>
      </p:pic>
      <p:pic>
        <p:nvPicPr>
          <p:cNvPr id="1026" name="Picture 2" descr="Disorderly svg, png, Dxf | Funny ...">
            <a:extLst>
              <a:ext uri="{FF2B5EF4-FFF2-40B4-BE49-F238E27FC236}">
                <a16:creationId xmlns:a16="http://schemas.microsoft.com/office/drawing/2014/main" id="{C51FCFF1-3D7B-784A-B2BE-DB4676A4F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83" r="1" b="1"/>
          <a:stretch/>
        </p:blipFill>
        <p:spPr bwMode="auto">
          <a:xfrm>
            <a:off x="5012187" y="3474720"/>
            <a:ext cx="5666874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006602" y="609601"/>
            <a:ext cx="2994525" cy="38771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800" dirty="0"/>
              <a:t>The Drunken Comportment</a:t>
            </a:r>
          </a:p>
        </p:txBody>
      </p:sp>
    </p:spTree>
    <p:extLst>
      <p:ext uri="{BB962C8B-B14F-4D97-AF65-F5344CB8AC3E}">
        <p14:creationId xmlns:p14="http://schemas.microsoft.com/office/powerpoint/2010/main" val="3328693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FC9A6-5A4A-2680-BF44-AA22B9395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/>
              <a:t>Drunken comportment: behavior that is culturally understood as “normative” for intoxicated people</a:t>
            </a:r>
          </a:p>
        </p:txBody>
      </p:sp>
      <p:pic>
        <p:nvPicPr>
          <p:cNvPr id="7" name="Picture 6" descr="I Didn't Text You Vodka Did College Party Humor Short-Sleeve Unisex T-Shirt  | eBay">
            <a:extLst>
              <a:ext uri="{FF2B5EF4-FFF2-40B4-BE49-F238E27FC236}">
                <a16:creationId xmlns:a16="http://schemas.microsoft.com/office/drawing/2014/main" id="{6D3C6679-F24A-A413-77AA-90439E6F3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320040"/>
            <a:ext cx="3895344" cy="3895344"/>
          </a:xfrm>
          <a:prstGeom prst="rect">
            <a:avLst/>
          </a:prstGeom>
        </p:spPr>
      </p:pic>
      <p:pic>
        <p:nvPicPr>
          <p:cNvPr id="6" name="Picture 2" descr="Disorderly svg, png, Dxf | Funny ...">
            <a:extLst>
              <a:ext uri="{FF2B5EF4-FFF2-40B4-BE49-F238E27FC236}">
                <a16:creationId xmlns:a16="http://schemas.microsoft.com/office/drawing/2014/main" id="{B621B6FC-F541-8E2F-525D-16BE47227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83" r="1" b="1"/>
          <a:stretch/>
        </p:blipFill>
        <p:spPr bwMode="auto">
          <a:xfrm>
            <a:off x="6254496" y="591738"/>
            <a:ext cx="5614416" cy="33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69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lcohol rape adj.jpg">
            <a:extLst>
              <a:ext uri="{FF2B5EF4-FFF2-40B4-BE49-F238E27FC236}">
                <a16:creationId xmlns:a16="http://schemas.microsoft.com/office/drawing/2014/main" id="{430578FF-5798-98FD-63B1-F3BBF00DCC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t="11803" b="45505"/>
          <a:stretch/>
        </p:blipFill>
        <p:spPr>
          <a:xfrm>
            <a:off x="875226" y="457200"/>
            <a:ext cx="1044154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96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3CC463-F933-4AC4-86E1-5AC14B0C3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25D2DB-A12A-44DB-B00E-F4D622329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rgbClr val="9BA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drunk victim blaming.jpg">
            <a:extLst>
              <a:ext uri="{FF2B5EF4-FFF2-40B4-BE49-F238E27FC236}">
                <a16:creationId xmlns:a16="http://schemas.microsoft.com/office/drawing/2014/main" id="{7A58792C-9742-9CE7-99AE-21689CE5FD1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t="2381" r="1" b="27344"/>
          <a:stretch/>
        </p:blipFill>
        <p:spPr>
          <a:xfrm>
            <a:off x="1295034" y="643467"/>
            <a:ext cx="2509975" cy="247565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E7E7877-F64E-4EEA-B778-138031EFF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rgbClr val="9BA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victim blame.jpg">
            <a:extLst>
              <a:ext uri="{FF2B5EF4-FFF2-40B4-BE49-F238E27FC236}">
                <a16:creationId xmlns:a16="http://schemas.microsoft.com/office/drawing/2014/main" id="{C4060FB5-A54A-61CD-86C8-F8E7395BB0D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2549" y="4020273"/>
            <a:ext cx="3854945" cy="192747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D6C4F3-70FD-4F13-919C-702EE4886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0596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lcohol victim blamejpg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86005" y="650497"/>
            <a:ext cx="3927601" cy="55710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0083-D6FC-A49D-0358-A414374BC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Alcohol and Criminal Violence Connection</a:t>
            </a:r>
            <a:br>
              <a:rPr lang="en-US" dirty="0"/>
            </a:br>
            <a:r>
              <a:rPr lang="en-US" sz="3600" i="1" dirty="0"/>
              <a:t>(correlation is not causation!)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5F406A-23AB-A805-EDF7-03BB53A0D0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31046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Alcohol, Criminal Violence and Perceptions of Victimization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Intoxicated people may be viewed and selected as vulnerable targets</a:t>
            </a:r>
          </a:p>
          <a:p>
            <a:r>
              <a:rPr lang="en-US" sz="2000"/>
              <a:t>Intoxicated people, when victimized, are more likely to be held responsible for their victimization</a:t>
            </a:r>
          </a:p>
          <a:p>
            <a:r>
              <a:rPr lang="en-US" sz="2000"/>
              <a:t>Mock Trials:</a:t>
            </a:r>
          </a:p>
          <a:p>
            <a:pPr lvl="1"/>
            <a:r>
              <a:rPr lang="en-US" sz="2000"/>
              <a:t>SP/SV = outcome favorable to victim</a:t>
            </a:r>
          </a:p>
          <a:p>
            <a:pPr lvl="1"/>
            <a:r>
              <a:rPr lang="en-US" sz="2000"/>
              <a:t>SP/IV = outcome more favorable to perpetrator</a:t>
            </a:r>
          </a:p>
          <a:p>
            <a:pPr lvl="1"/>
            <a:r>
              <a:rPr lang="en-US" sz="2000"/>
              <a:t>IP/SV = outcome more favorable to perpetrator</a:t>
            </a:r>
          </a:p>
          <a:p>
            <a:pPr lvl="1"/>
            <a:r>
              <a:rPr lang="en-US" sz="2000"/>
              <a:t>IP/IV = outcome more favorable to perpetrator</a:t>
            </a:r>
          </a:p>
          <a:p>
            <a:pPr lvl="1">
              <a:buNone/>
            </a:pPr>
            <a:endParaRPr lang="en-US" sz="2000"/>
          </a:p>
          <a:p>
            <a:pPr lvl="1">
              <a:buNone/>
            </a:pPr>
            <a:r>
              <a:rPr lang="en-US" sz="2000"/>
              <a:t>S= Sober, P=Perpetrator, I=Intoxicated, V=Victim</a:t>
            </a:r>
          </a:p>
          <a:p>
            <a:endParaRPr 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6F4E0-5187-52AF-B12D-BF767FE49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Alcohol Use in Decline</a:t>
            </a:r>
          </a:p>
        </p:txBody>
      </p:sp>
      <p:pic>
        <p:nvPicPr>
          <p:cNvPr id="3" name="Picture 2" descr="Underage Drinking Statistics: What the Data Shows - Responsibility.org -  Promoting Responsible Alcohol Decisions">
            <a:extLst>
              <a:ext uri="{FF2B5EF4-FFF2-40B4-BE49-F238E27FC236}">
                <a16:creationId xmlns:a16="http://schemas.microsoft.com/office/drawing/2014/main" id="{155C391B-81E0-C127-CC46-48CAF4155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316" y="1520764"/>
            <a:ext cx="6780700" cy="381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738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Underage Drinking Statistics: What the Data Shows - Responsibility.org -  Promoting Responsible Alcohol Decisions">
            <a:extLst>
              <a:ext uri="{FF2B5EF4-FFF2-40B4-BE49-F238E27FC236}">
                <a16:creationId xmlns:a16="http://schemas.microsoft.com/office/drawing/2014/main" id="{94072AD8-8700-BCBD-F3F2-F3FA7045B7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5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80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FFB60-83E4-09A4-F930-838041C73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Explaining the Decline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228D2-31FD-2286-B37F-AC030665E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3200" dirty="0"/>
              <a:t>Increased general social awareness of harm/risk</a:t>
            </a:r>
          </a:p>
          <a:p>
            <a:r>
              <a:rPr lang="en-US" sz="3200" dirty="0"/>
              <a:t>Social media influence focused on “wellness”</a:t>
            </a:r>
          </a:p>
          <a:p>
            <a:r>
              <a:rPr lang="en-US" sz="3200" dirty="0"/>
              <a:t>Increased educational campaigns that include alcohol</a:t>
            </a:r>
          </a:p>
          <a:p>
            <a:r>
              <a:rPr lang="en-US" sz="3200" dirty="0"/>
              <a:t>Less parental/familial use (socialization)</a:t>
            </a:r>
          </a:p>
          <a:p>
            <a:r>
              <a:rPr lang="en-US" sz="3200" dirty="0"/>
              <a:t>Policy changes</a:t>
            </a:r>
          </a:p>
          <a:p>
            <a:r>
              <a:rPr lang="en-US" sz="3200" dirty="0"/>
              <a:t>Displacement by other drugs </a:t>
            </a:r>
            <a:r>
              <a:rPr lang="en-US" sz="3200"/>
              <a:t>(substitution effect)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69226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</TotalTime>
  <Words>593</Words>
  <Application>Microsoft Office PowerPoint</Application>
  <PresentationFormat>Widescreen</PresentationFormat>
  <Paragraphs>91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Drug Use as Deviance</vt:lpstr>
      <vt:lpstr>Inquiry Spaces</vt:lpstr>
      <vt:lpstr>Normative and Reactive Approach (review)</vt:lpstr>
      <vt:lpstr>Moral Panics: widespread fear or concern that there is a direct and immediate threat to the collective interest</vt:lpstr>
      <vt:lpstr>PowerPoint Presentation</vt:lpstr>
      <vt:lpstr>PowerPoint Presentation</vt:lpstr>
      <vt:lpstr>Why Study Alcohol?</vt:lpstr>
      <vt:lpstr>From conformity to deviance</vt:lpstr>
      <vt:lpstr>Explaining the co-occurrence of alcohol use and risk taking/rule breaking</vt:lpstr>
      <vt:lpstr>Drinking, Rule breaking, and Socio-Cultural Conditions:  what, where and with who matters</vt:lpstr>
      <vt:lpstr>The Drunken Comportment</vt:lpstr>
      <vt:lpstr>Drunken comportment: behavior that is culturally understood as “normative” for intoxicated people</vt:lpstr>
      <vt:lpstr>PowerPoint Presentation</vt:lpstr>
      <vt:lpstr>PowerPoint Presentation</vt:lpstr>
      <vt:lpstr>Alcohol and Criminal Violence Connection (correlation is not causation!)</vt:lpstr>
      <vt:lpstr>Alcohol, Criminal Violence and Perceptions of Victimization</vt:lpstr>
      <vt:lpstr>Alcohol Use in Decline</vt:lpstr>
      <vt:lpstr>PowerPoint Presentation</vt:lpstr>
      <vt:lpstr>Explaining the Decline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Alcohol and Drug Use and Abuse</dc:title>
  <dc:creator>Michael</dc:creator>
  <cp:lastModifiedBy>Linda McAllister</cp:lastModifiedBy>
  <cp:revision>65</cp:revision>
  <dcterms:created xsi:type="dcterms:W3CDTF">2006-08-16T00:00:00Z</dcterms:created>
  <dcterms:modified xsi:type="dcterms:W3CDTF">2026-10-04T23:50:33Z</dcterms:modified>
</cp:coreProperties>
</file>