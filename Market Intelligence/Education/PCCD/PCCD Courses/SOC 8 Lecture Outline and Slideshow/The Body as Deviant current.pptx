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1" r:id="rId1"/>
  </p:sldMasterIdLst>
  <p:notesMasterIdLst>
    <p:notesMasterId r:id="rId23"/>
  </p:notesMasterIdLst>
  <p:sldIdLst>
    <p:sldId id="256" r:id="rId2"/>
    <p:sldId id="282" r:id="rId3"/>
    <p:sldId id="294" r:id="rId4"/>
    <p:sldId id="283" r:id="rId5"/>
    <p:sldId id="284" r:id="rId6"/>
    <p:sldId id="285" r:id="rId7"/>
    <p:sldId id="286" r:id="rId8"/>
    <p:sldId id="287" r:id="rId9"/>
    <p:sldId id="266" r:id="rId10"/>
    <p:sldId id="288" r:id="rId11"/>
    <p:sldId id="279" r:id="rId12"/>
    <p:sldId id="290" r:id="rId13"/>
    <p:sldId id="260" r:id="rId14"/>
    <p:sldId id="291" r:id="rId15"/>
    <p:sldId id="273" r:id="rId16"/>
    <p:sldId id="274" r:id="rId17"/>
    <p:sldId id="265" r:id="rId18"/>
    <p:sldId id="272" r:id="rId19"/>
    <p:sldId id="292" r:id="rId20"/>
    <p:sldId id="264" r:id="rId21"/>
    <p:sldId id="293" r:id="rId22"/>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65"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65"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65"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65"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65" charset="-128"/>
        <a:cs typeface="+mn-cs"/>
      </a:defRPr>
    </a:lvl5pPr>
    <a:lvl6pPr marL="2286000" algn="l" defTabSz="914400" rtl="0" eaLnBrk="1" latinLnBrk="0" hangingPunct="1">
      <a:defRPr sz="2400" kern="1200">
        <a:solidFill>
          <a:schemeClr val="tx1"/>
        </a:solidFill>
        <a:latin typeface="Arial" charset="0"/>
        <a:ea typeface="ＭＳ Ｐゴシック" pitchFamily="-65" charset="-128"/>
        <a:cs typeface="+mn-cs"/>
      </a:defRPr>
    </a:lvl6pPr>
    <a:lvl7pPr marL="2743200" algn="l" defTabSz="914400" rtl="0" eaLnBrk="1" latinLnBrk="0" hangingPunct="1">
      <a:defRPr sz="2400" kern="1200">
        <a:solidFill>
          <a:schemeClr val="tx1"/>
        </a:solidFill>
        <a:latin typeface="Arial" charset="0"/>
        <a:ea typeface="ＭＳ Ｐゴシック" pitchFamily="-65" charset="-128"/>
        <a:cs typeface="+mn-cs"/>
      </a:defRPr>
    </a:lvl7pPr>
    <a:lvl8pPr marL="3200400" algn="l" defTabSz="914400" rtl="0" eaLnBrk="1" latinLnBrk="0" hangingPunct="1">
      <a:defRPr sz="2400" kern="1200">
        <a:solidFill>
          <a:schemeClr val="tx1"/>
        </a:solidFill>
        <a:latin typeface="Arial" charset="0"/>
        <a:ea typeface="ＭＳ Ｐゴシック" pitchFamily="-65" charset="-128"/>
        <a:cs typeface="+mn-cs"/>
      </a:defRPr>
    </a:lvl8pPr>
    <a:lvl9pPr marL="3657600" algn="l" defTabSz="914400" rtl="0" eaLnBrk="1" latinLnBrk="0" hangingPunct="1">
      <a:defRPr sz="2400" kern="1200">
        <a:solidFill>
          <a:schemeClr val="tx1"/>
        </a:solidFill>
        <a:latin typeface="Arial" charset="0"/>
        <a:ea typeface="ＭＳ Ｐゴシック" pitchFamily="-65"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40" autoAdjust="0"/>
    <p:restoredTop sz="94660"/>
  </p:normalViewPr>
  <p:slideViewPr>
    <p:cSldViewPr>
      <p:cViewPr varScale="1">
        <p:scale>
          <a:sx n="70" d="100"/>
          <a:sy n="70" d="100"/>
        </p:scale>
        <p:origin x="72" y="1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99A37B-3B93-4266-82B7-682A992AFCA9}"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5672DC98-0622-4B0D-9FFB-0E7C08C148F9}">
      <dgm:prSet/>
      <dgm:spPr/>
      <dgm:t>
        <a:bodyPr/>
        <a:lstStyle/>
        <a:p>
          <a:r>
            <a:rPr lang="en-US"/>
            <a:t>Why study bodies?</a:t>
          </a:r>
        </a:p>
      </dgm:t>
    </dgm:pt>
    <dgm:pt modelId="{34B78C95-0512-4602-8B3E-87A4C42B03AF}" type="parTrans" cxnId="{567DF411-5EED-4090-9B6E-767EBD30D11D}">
      <dgm:prSet/>
      <dgm:spPr/>
      <dgm:t>
        <a:bodyPr/>
        <a:lstStyle/>
        <a:p>
          <a:endParaRPr lang="en-US"/>
        </a:p>
      </dgm:t>
    </dgm:pt>
    <dgm:pt modelId="{C731ACFB-A687-4766-A991-1ACFE55135BD}" type="sibTrans" cxnId="{567DF411-5EED-4090-9B6E-767EBD30D11D}">
      <dgm:prSet/>
      <dgm:spPr/>
      <dgm:t>
        <a:bodyPr/>
        <a:lstStyle/>
        <a:p>
          <a:endParaRPr lang="en-US"/>
        </a:p>
      </dgm:t>
    </dgm:pt>
    <dgm:pt modelId="{15206037-3E13-41E5-85E0-C42658C9EA57}">
      <dgm:prSet/>
      <dgm:spPr/>
      <dgm:t>
        <a:bodyPr/>
        <a:lstStyle/>
        <a:p>
          <a:r>
            <a:rPr lang="en-US"/>
            <a:t>Keeping it sociological</a:t>
          </a:r>
        </a:p>
      </dgm:t>
    </dgm:pt>
    <dgm:pt modelId="{1F8EA78E-91E8-49A1-8E31-6FD13F8122B6}" type="parTrans" cxnId="{0FC8EB9F-A731-4518-B540-58D1376679B4}">
      <dgm:prSet/>
      <dgm:spPr/>
      <dgm:t>
        <a:bodyPr/>
        <a:lstStyle/>
        <a:p>
          <a:endParaRPr lang="en-US"/>
        </a:p>
      </dgm:t>
    </dgm:pt>
    <dgm:pt modelId="{7F7F9D0B-32E4-4880-8906-CBD314530CD0}" type="sibTrans" cxnId="{0FC8EB9F-A731-4518-B540-58D1376679B4}">
      <dgm:prSet/>
      <dgm:spPr/>
      <dgm:t>
        <a:bodyPr/>
        <a:lstStyle/>
        <a:p>
          <a:endParaRPr lang="en-US"/>
        </a:p>
      </dgm:t>
    </dgm:pt>
    <dgm:pt modelId="{289B7B07-D40D-4AA9-B01D-713CFB65E349}">
      <dgm:prSet/>
      <dgm:spPr/>
      <dgm:t>
        <a:bodyPr/>
        <a:lstStyle/>
        <a:p>
          <a:r>
            <a:rPr lang="en-US"/>
            <a:t>“Deviant” as non-perjorative</a:t>
          </a:r>
        </a:p>
      </dgm:t>
    </dgm:pt>
    <dgm:pt modelId="{0B90BC0E-CF26-4754-BAD5-56EDB0B28519}" type="parTrans" cxnId="{F6C708BA-DD4C-443F-A2FD-5EDE7BE63162}">
      <dgm:prSet/>
      <dgm:spPr/>
      <dgm:t>
        <a:bodyPr/>
        <a:lstStyle/>
        <a:p>
          <a:endParaRPr lang="en-US"/>
        </a:p>
      </dgm:t>
    </dgm:pt>
    <dgm:pt modelId="{400CD6E4-BC5B-4269-B0B5-40E8898DE44A}" type="sibTrans" cxnId="{F6C708BA-DD4C-443F-A2FD-5EDE7BE63162}">
      <dgm:prSet/>
      <dgm:spPr/>
      <dgm:t>
        <a:bodyPr/>
        <a:lstStyle/>
        <a:p>
          <a:endParaRPr lang="en-US"/>
        </a:p>
      </dgm:t>
    </dgm:pt>
    <dgm:pt modelId="{777F39A1-32AF-4AA6-9EF2-A377102D3BBE}" type="pres">
      <dgm:prSet presAssocID="{FA99A37B-3B93-4266-82B7-682A992AFCA9}" presName="Name0" presStyleCnt="0">
        <dgm:presLayoutVars>
          <dgm:dir/>
          <dgm:animLvl val="lvl"/>
          <dgm:resizeHandles val="exact"/>
        </dgm:presLayoutVars>
      </dgm:prSet>
      <dgm:spPr/>
    </dgm:pt>
    <dgm:pt modelId="{4B421889-2360-4BEA-9FEE-F22AC10E5BE4}" type="pres">
      <dgm:prSet presAssocID="{5672DC98-0622-4B0D-9FFB-0E7C08C148F9}" presName="linNode" presStyleCnt="0"/>
      <dgm:spPr/>
    </dgm:pt>
    <dgm:pt modelId="{98797AA6-5A65-4354-86F3-67E8171A3EE1}" type="pres">
      <dgm:prSet presAssocID="{5672DC98-0622-4B0D-9FFB-0E7C08C148F9}" presName="parentText" presStyleLbl="node1" presStyleIdx="0" presStyleCnt="3">
        <dgm:presLayoutVars>
          <dgm:chMax val="1"/>
          <dgm:bulletEnabled val="1"/>
        </dgm:presLayoutVars>
      </dgm:prSet>
      <dgm:spPr/>
    </dgm:pt>
    <dgm:pt modelId="{64842FE0-018A-4837-B922-51D871F2AAE5}" type="pres">
      <dgm:prSet presAssocID="{C731ACFB-A687-4766-A991-1ACFE55135BD}" presName="sp" presStyleCnt="0"/>
      <dgm:spPr/>
    </dgm:pt>
    <dgm:pt modelId="{982C1B94-0D17-4FDD-9B95-1810CE98A3CB}" type="pres">
      <dgm:prSet presAssocID="{15206037-3E13-41E5-85E0-C42658C9EA57}" presName="linNode" presStyleCnt="0"/>
      <dgm:spPr/>
    </dgm:pt>
    <dgm:pt modelId="{064D92B7-7763-4FC8-8B62-BC19247D00EB}" type="pres">
      <dgm:prSet presAssocID="{15206037-3E13-41E5-85E0-C42658C9EA57}" presName="parentText" presStyleLbl="node1" presStyleIdx="1" presStyleCnt="3">
        <dgm:presLayoutVars>
          <dgm:chMax val="1"/>
          <dgm:bulletEnabled val="1"/>
        </dgm:presLayoutVars>
      </dgm:prSet>
      <dgm:spPr/>
    </dgm:pt>
    <dgm:pt modelId="{974EA9CD-558A-4D0D-B90B-E06DF7646ADC}" type="pres">
      <dgm:prSet presAssocID="{7F7F9D0B-32E4-4880-8906-CBD314530CD0}" presName="sp" presStyleCnt="0"/>
      <dgm:spPr/>
    </dgm:pt>
    <dgm:pt modelId="{9C9BB644-33D8-43A9-9D2D-3504487B7D7D}" type="pres">
      <dgm:prSet presAssocID="{289B7B07-D40D-4AA9-B01D-713CFB65E349}" presName="linNode" presStyleCnt="0"/>
      <dgm:spPr/>
    </dgm:pt>
    <dgm:pt modelId="{5FC85509-E7E3-4F1F-A360-C6850D120F8A}" type="pres">
      <dgm:prSet presAssocID="{289B7B07-D40D-4AA9-B01D-713CFB65E349}" presName="parentText" presStyleLbl="node1" presStyleIdx="2" presStyleCnt="3">
        <dgm:presLayoutVars>
          <dgm:chMax val="1"/>
          <dgm:bulletEnabled val="1"/>
        </dgm:presLayoutVars>
      </dgm:prSet>
      <dgm:spPr/>
    </dgm:pt>
  </dgm:ptLst>
  <dgm:cxnLst>
    <dgm:cxn modelId="{567DF411-5EED-4090-9B6E-767EBD30D11D}" srcId="{FA99A37B-3B93-4266-82B7-682A992AFCA9}" destId="{5672DC98-0622-4B0D-9FFB-0E7C08C148F9}" srcOrd="0" destOrd="0" parTransId="{34B78C95-0512-4602-8B3E-87A4C42B03AF}" sibTransId="{C731ACFB-A687-4766-A991-1ACFE55135BD}"/>
    <dgm:cxn modelId="{C1512814-19BF-4BA5-ADCA-F2EF0B226084}" type="presOf" srcId="{15206037-3E13-41E5-85E0-C42658C9EA57}" destId="{064D92B7-7763-4FC8-8B62-BC19247D00EB}" srcOrd="0" destOrd="0" presId="urn:microsoft.com/office/officeart/2005/8/layout/vList5"/>
    <dgm:cxn modelId="{E23A5E20-895E-4CC9-8B18-D139CC394179}" type="presOf" srcId="{FA99A37B-3B93-4266-82B7-682A992AFCA9}" destId="{777F39A1-32AF-4AA6-9EF2-A377102D3BBE}" srcOrd="0" destOrd="0" presId="urn:microsoft.com/office/officeart/2005/8/layout/vList5"/>
    <dgm:cxn modelId="{0FC8EB9F-A731-4518-B540-58D1376679B4}" srcId="{FA99A37B-3B93-4266-82B7-682A992AFCA9}" destId="{15206037-3E13-41E5-85E0-C42658C9EA57}" srcOrd="1" destOrd="0" parTransId="{1F8EA78E-91E8-49A1-8E31-6FD13F8122B6}" sibTransId="{7F7F9D0B-32E4-4880-8906-CBD314530CD0}"/>
    <dgm:cxn modelId="{F6C708BA-DD4C-443F-A2FD-5EDE7BE63162}" srcId="{FA99A37B-3B93-4266-82B7-682A992AFCA9}" destId="{289B7B07-D40D-4AA9-B01D-713CFB65E349}" srcOrd="2" destOrd="0" parTransId="{0B90BC0E-CF26-4754-BAD5-56EDB0B28519}" sibTransId="{400CD6E4-BC5B-4269-B0B5-40E8898DE44A}"/>
    <dgm:cxn modelId="{B55F2BBD-7A33-4029-8195-45B439C57A41}" type="presOf" srcId="{5672DC98-0622-4B0D-9FFB-0E7C08C148F9}" destId="{98797AA6-5A65-4354-86F3-67E8171A3EE1}" srcOrd="0" destOrd="0" presId="urn:microsoft.com/office/officeart/2005/8/layout/vList5"/>
    <dgm:cxn modelId="{A0A0EBC3-7A2D-4781-BD22-1234AE3C055B}" type="presOf" srcId="{289B7B07-D40D-4AA9-B01D-713CFB65E349}" destId="{5FC85509-E7E3-4F1F-A360-C6850D120F8A}" srcOrd="0" destOrd="0" presId="urn:microsoft.com/office/officeart/2005/8/layout/vList5"/>
    <dgm:cxn modelId="{0E15D283-0172-4325-AD5C-2294DCF70C41}" type="presParOf" srcId="{777F39A1-32AF-4AA6-9EF2-A377102D3BBE}" destId="{4B421889-2360-4BEA-9FEE-F22AC10E5BE4}" srcOrd="0" destOrd="0" presId="urn:microsoft.com/office/officeart/2005/8/layout/vList5"/>
    <dgm:cxn modelId="{B640905B-FE1B-455C-850C-82C981FFF826}" type="presParOf" srcId="{4B421889-2360-4BEA-9FEE-F22AC10E5BE4}" destId="{98797AA6-5A65-4354-86F3-67E8171A3EE1}" srcOrd="0" destOrd="0" presId="urn:microsoft.com/office/officeart/2005/8/layout/vList5"/>
    <dgm:cxn modelId="{0925DBEB-B857-42D3-853F-D20090C0B409}" type="presParOf" srcId="{777F39A1-32AF-4AA6-9EF2-A377102D3BBE}" destId="{64842FE0-018A-4837-B922-51D871F2AAE5}" srcOrd="1" destOrd="0" presId="urn:microsoft.com/office/officeart/2005/8/layout/vList5"/>
    <dgm:cxn modelId="{E0B318D8-872E-4528-A8C5-8FB085BBAD97}" type="presParOf" srcId="{777F39A1-32AF-4AA6-9EF2-A377102D3BBE}" destId="{982C1B94-0D17-4FDD-9B95-1810CE98A3CB}" srcOrd="2" destOrd="0" presId="urn:microsoft.com/office/officeart/2005/8/layout/vList5"/>
    <dgm:cxn modelId="{EDAC45BA-AED1-4A5A-B3D8-7760E77C8AE4}" type="presParOf" srcId="{982C1B94-0D17-4FDD-9B95-1810CE98A3CB}" destId="{064D92B7-7763-4FC8-8B62-BC19247D00EB}" srcOrd="0" destOrd="0" presId="urn:microsoft.com/office/officeart/2005/8/layout/vList5"/>
    <dgm:cxn modelId="{4DAC2175-E8B9-4775-A79E-EF23C4F6EB66}" type="presParOf" srcId="{777F39A1-32AF-4AA6-9EF2-A377102D3BBE}" destId="{974EA9CD-558A-4D0D-B90B-E06DF7646ADC}" srcOrd="3" destOrd="0" presId="urn:microsoft.com/office/officeart/2005/8/layout/vList5"/>
    <dgm:cxn modelId="{39233E1E-68EB-410D-9AD7-192111829BEB}" type="presParOf" srcId="{777F39A1-32AF-4AA6-9EF2-A377102D3BBE}" destId="{9C9BB644-33D8-43A9-9D2D-3504487B7D7D}" srcOrd="4" destOrd="0" presId="urn:microsoft.com/office/officeart/2005/8/layout/vList5"/>
    <dgm:cxn modelId="{15A3CE5A-25AE-4B7A-8AA8-74A94BA68358}" type="presParOf" srcId="{9C9BB644-33D8-43A9-9D2D-3504487B7D7D}" destId="{5FC85509-E7E3-4F1F-A360-C6850D120F8A}"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D3EA62-A6D1-4AED-9C97-A89A9F0D126F}" type="doc">
      <dgm:prSet loTypeId="urn:microsoft.com/office/officeart/2008/layout/LinedList" loCatId="list" qsTypeId="urn:microsoft.com/office/officeart/2005/8/quickstyle/simple5" qsCatId="simple" csTypeId="urn:microsoft.com/office/officeart/2005/8/colors/accent2_2" csCatId="accent2"/>
      <dgm:spPr/>
      <dgm:t>
        <a:bodyPr/>
        <a:lstStyle/>
        <a:p>
          <a:endParaRPr lang="en-US"/>
        </a:p>
      </dgm:t>
    </dgm:pt>
    <dgm:pt modelId="{DEE46F9C-110C-4820-AECC-F62228CB2597}">
      <dgm:prSet/>
      <dgm:spPr/>
      <dgm:t>
        <a:bodyPr/>
        <a:lstStyle/>
        <a:p>
          <a:r>
            <a:rPr lang="en-US" dirty="0"/>
            <a:t>Bodies that don’t meet the collective’s </a:t>
          </a:r>
          <a:r>
            <a:rPr lang="en-US" i="1" dirty="0"/>
            <a:t>Aesthetic Ideals</a:t>
          </a:r>
        </a:p>
      </dgm:t>
    </dgm:pt>
    <dgm:pt modelId="{1DCF4A75-8C9A-42AC-8DDB-3837E31031FB}" type="parTrans" cxnId="{BFA5D478-3EAA-406A-80C7-77B137B734F6}">
      <dgm:prSet/>
      <dgm:spPr/>
      <dgm:t>
        <a:bodyPr/>
        <a:lstStyle/>
        <a:p>
          <a:endParaRPr lang="en-US"/>
        </a:p>
      </dgm:t>
    </dgm:pt>
    <dgm:pt modelId="{1F3E8017-3F33-4B05-A6C9-128AB75831B1}" type="sibTrans" cxnId="{BFA5D478-3EAA-406A-80C7-77B137B734F6}">
      <dgm:prSet/>
      <dgm:spPr/>
      <dgm:t>
        <a:bodyPr/>
        <a:lstStyle/>
        <a:p>
          <a:endParaRPr lang="en-US"/>
        </a:p>
      </dgm:t>
    </dgm:pt>
    <dgm:pt modelId="{57E1C0F9-659B-4C51-9476-EAA407D04CEC}">
      <dgm:prSet/>
      <dgm:spPr/>
      <dgm:t>
        <a:bodyPr/>
        <a:lstStyle/>
        <a:p>
          <a:r>
            <a:rPr lang="en-US" dirty="0"/>
            <a:t>Bodies that don’t meet the collective’s conceptions of </a:t>
          </a:r>
          <a:r>
            <a:rPr lang="en-US" i="1" dirty="0"/>
            <a:t>Physical Capacity</a:t>
          </a:r>
        </a:p>
      </dgm:t>
    </dgm:pt>
    <dgm:pt modelId="{DB5408E7-CF83-4F21-AEAA-7BB5EFA5A72B}" type="parTrans" cxnId="{1F6DF1DA-A6E0-4F59-B695-994957B79870}">
      <dgm:prSet/>
      <dgm:spPr/>
      <dgm:t>
        <a:bodyPr/>
        <a:lstStyle/>
        <a:p>
          <a:endParaRPr lang="en-US"/>
        </a:p>
      </dgm:t>
    </dgm:pt>
    <dgm:pt modelId="{6A300FB9-52A0-41CC-ABCF-FA6B66518430}" type="sibTrans" cxnId="{1F6DF1DA-A6E0-4F59-B695-994957B79870}">
      <dgm:prSet/>
      <dgm:spPr/>
      <dgm:t>
        <a:bodyPr/>
        <a:lstStyle/>
        <a:p>
          <a:endParaRPr lang="en-US"/>
        </a:p>
      </dgm:t>
    </dgm:pt>
    <dgm:pt modelId="{AB6B84DA-2A22-4F46-9213-1009F3B317AC}">
      <dgm:prSet/>
      <dgm:spPr/>
      <dgm:t>
        <a:bodyPr/>
        <a:lstStyle/>
        <a:p>
          <a:r>
            <a:rPr lang="en-US" dirty="0"/>
            <a:t>Bodies that challenge strongly held </a:t>
          </a:r>
          <a:r>
            <a:rPr lang="en-US" i="1" dirty="0"/>
            <a:t>social constructs about personhood</a:t>
          </a:r>
        </a:p>
      </dgm:t>
    </dgm:pt>
    <dgm:pt modelId="{466F90BD-C19B-4F88-AEE2-B995B075CE98}" type="parTrans" cxnId="{9B04139E-C128-41A1-8D0B-FF4E8490FD1F}">
      <dgm:prSet/>
      <dgm:spPr/>
      <dgm:t>
        <a:bodyPr/>
        <a:lstStyle/>
        <a:p>
          <a:endParaRPr lang="en-US"/>
        </a:p>
      </dgm:t>
    </dgm:pt>
    <dgm:pt modelId="{B3E9403E-391D-4C65-A2C9-AED687CAF61E}" type="sibTrans" cxnId="{9B04139E-C128-41A1-8D0B-FF4E8490FD1F}">
      <dgm:prSet/>
      <dgm:spPr/>
      <dgm:t>
        <a:bodyPr/>
        <a:lstStyle/>
        <a:p>
          <a:endParaRPr lang="en-US"/>
        </a:p>
      </dgm:t>
    </dgm:pt>
    <dgm:pt modelId="{B4A40C78-443A-443D-A7ED-6E0754A8624F}" type="pres">
      <dgm:prSet presAssocID="{A0D3EA62-A6D1-4AED-9C97-A89A9F0D126F}" presName="vert0" presStyleCnt="0">
        <dgm:presLayoutVars>
          <dgm:dir/>
          <dgm:animOne val="branch"/>
          <dgm:animLvl val="lvl"/>
        </dgm:presLayoutVars>
      </dgm:prSet>
      <dgm:spPr/>
    </dgm:pt>
    <dgm:pt modelId="{2223B1CA-CA17-46FF-8626-4AA8C77A3C08}" type="pres">
      <dgm:prSet presAssocID="{DEE46F9C-110C-4820-AECC-F62228CB2597}" presName="thickLine" presStyleLbl="alignNode1" presStyleIdx="0" presStyleCnt="3"/>
      <dgm:spPr/>
    </dgm:pt>
    <dgm:pt modelId="{26D85947-3584-4D1A-AE10-496F44BE1E67}" type="pres">
      <dgm:prSet presAssocID="{DEE46F9C-110C-4820-AECC-F62228CB2597}" presName="horz1" presStyleCnt="0"/>
      <dgm:spPr/>
    </dgm:pt>
    <dgm:pt modelId="{A137C510-1113-4362-8679-8A637F550EE8}" type="pres">
      <dgm:prSet presAssocID="{DEE46F9C-110C-4820-AECC-F62228CB2597}" presName="tx1" presStyleLbl="revTx" presStyleIdx="0" presStyleCnt="3"/>
      <dgm:spPr/>
    </dgm:pt>
    <dgm:pt modelId="{F426A397-4594-4D2D-BF30-82BDCF6F893D}" type="pres">
      <dgm:prSet presAssocID="{DEE46F9C-110C-4820-AECC-F62228CB2597}" presName="vert1" presStyleCnt="0"/>
      <dgm:spPr/>
    </dgm:pt>
    <dgm:pt modelId="{5C24AACA-443C-45BC-ADB5-60AFDFB82A74}" type="pres">
      <dgm:prSet presAssocID="{57E1C0F9-659B-4C51-9476-EAA407D04CEC}" presName="thickLine" presStyleLbl="alignNode1" presStyleIdx="1" presStyleCnt="3"/>
      <dgm:spPr/>
    </dgm:pt>
    <dgm:pt modelId="{6F557BF1-FEEB-40C1-A14B-79E739D3C5C6}" type="pres">
      <dgm:prSet presAssocID="{57E1C0F9-659B-4C51-9476-EAA407D04CEC}" presName="horz1" presStyleCnt="0"/>
      <dgm:spPr/>
    </dgm:pt>
    <dgm:pt modelId="{C5E33352-BC42-40BB-83F4-238335C6C8D9}" type="pres">
      <dgm:prSet presAssocID="{57E1C0F9-659B-4C51-9476-EAA407D04CEC}" presName="tx1" presStyleLbl="revTx" presStyleIdx="1" presStyleCnt="3"/>
      <dgm:spPr/>
    </dgm:pt>
    <dgm:pt modelId="{17A909E1-2D94-4E08-94C2-BCCA33CD3323}" type="pres">
      <dgm:prSet presAssocID="{57E1C0F9-659B-4C51-9476-EAA407D04CEC}" presName="vert1" presStyleCnt="0"/>
      <dgm:spPr/>
    </dgm:pt>
    <dgm:pt modelId="{F3C4AF62-7FE4-47D9-B72E-62DA351ABB76}" type="pres">
      <dgm:prSet presAssocID="{AB6B84DA-2A22-4F46-9213-1009F3B317AC}" presName="thickLine" presStyleLbl="alignNode1" presStyleIdx="2" presStyleCnt="3"/>
      <dgm:spPr/>
    </dgm:pt>
    <dgm:pt modelId="{DCB4C0E4-D416-4D38-911E-5E6C47F4B5E9}" type="pres">
      <dgm:prSet presAssocID="{AB6B84DA-2A22-4F46-9213-1009F3B317AC}" presName="horz1" presStyleCnt="0"/>
      <dgm:spPr/>
    </dgm:pt>
    <dgm:pt modelId="{E05E4E42-1036-4050-8E81-0991B60F2D29}" type="pres">
      <dgm:prSet presAssocID="{AB6B84DA-2A22-4F46-9213-1009F3B317AC}" presName="tx1" presStyleLbl="revTx" presStyleIdx="2" presStyleCnt="3"/>
      <dgm:spPr/>
    </dgm:pt>
    <dgm:pt modelId="{7A8D7C2B-67E6-449C-9058-AA78BBA97CC1}" type="pres">
      <dgm:prSet presAssocID="{AB6B84DA-2A22-4F46-9213-1009F3B317AC}" presName="vert1" presStyleCnt="0"/>
      <dgm:spPr/>
    </dgm:pt>
  </dgm:ptLst>
  <dgm:cxnLst>
    <dgm:cxn modelId="{467AC528-C43B-4107-BE7F-3A9133679773}" type="presOf" srcId="{57E1C0F9-659B-4C51-9476-EAA407D04CEC}" destId="{C5E33352-BC42-40BB-83F4-238335C6C8D9}" srcOrd="0" destOrd="0" presId="urn:microsoft.com/office/officeart/2008/layout/LinedList"/>
    <dgm:cxn modelId="{BFA5D478-3EAA-406A-80C7-77B137B734F6}" srcId="{A0D3EA62-A6D1-4AED-9C97-A89A9F0D126F}" destId="{DEE46F9C-110C-4820-AECC-F62228CB2597}" srcOrd="0" destOrd="0" parTransId="{1DCF4A75-8C9A-42AC-8DDB-3837E31031FB}" sibTransId="{1F3E8017-3F33-4B05-A6C9-128AB75831B1}"/>
    <dgm:cxn modelId="{9B04139E-C128-41A1-8D0B-FF4E8490FD1F}" srcId="{A0D3EA62-A6D1-4AED-9C97-A89A9F0D126F}" destId="{AB6B84DA-2A22-4F46-9213-1009F3B317AC}" srcOrd="2" destOrd="0" parTransId="{466F90BD-C19B-4F88-AEE2-B995B075CE98}" sibTransId="{B3E9403E-391D-4C65-A2C9-AED687CAF61E}"/>
    <dgm:cxn modelId="{8EDFA5D9-5997-4010-AE97-48559C2C0DC4}" type="presOf" srcId="{A0D3EA62-A6D1-4AED-9C97-A89A9F0D126F}" destId="{B4A40C78-443A-443D-A7ED-6E0754A8624F}" srcOrd="0" destOrd="0" presId="urn:microsoft.com/office/officeart/2008/layout/LinedList"/>
    <dgm:cxn modelId="{1F6DF1DA-A6E0-4F59-B695-994957B79870}" srcId="{A0D3EA62-A6D1-4AED-9C97-A89A9F0D126F}" destId="{57E1C0F9-659B-4C51-9476-EAA407D04CEC}" srcOrd="1" destOrd="0" parTransId="{DB5408E7-CF83-4F21-AEAA-7BB5EFA5A72B}" sibTransId="{6A300FB9-52A0-41CC-ABCF-FA6B66518430}"/>
    <dgm:cxn modelId="{BC1699DB-3FBB-4A4B-BBC6-042124AE98DF}" type="presOf" srcId="{DEE46F9C-110C-4820-AECC-F62228CB2597}" destId="{A137C510-1113-4362-8679-8A637F550EE8}" srcOrd="0" destOrd="0" presId="urn:microsoft.com/office/officeart/2008/layout/LinedList"/>
    <dgm:cxn modelId="{701E54F6-F876-4AD3-A0EF-0FE019BF74A1}" type="presOf" srcId="{AB6B84DA-2A22-4F46-9213-1009F3B317AC}" destId="{E05E4E42-1036-4050-8E81-0991B60F2D29}" srcOrd="0" destOrd="0" presId="urn:microsoft.com/office/officeart/2008/layout/LinedList"/>
    <dgm:cxn modelId="{D2BE146A-95AF-4AF3-8600-B75D73691997}" type="presParOf" srcId="{B4A40C78-443A-443D-A7ED-6E0754A8624F}" destId="{2223B1CA-CA17-46FF-8626-4AA8C77A3C08}" srcOrd="0" destOrd="0" presId="urn:microsoft.com/office/officeart/2008/layout/LinedList"/>
    <dgm:cxn modelId="{25E1D559-ECC2-448B-8068-92E2346CBA41}" type="presParOf" srcId="{B4A40C78-443A-443D-A7ED-6E0754A8624F}" destId="{26D85947-3584-4D1A-AE10-496F44BE1E67}" srcOrd="1" destOrd="0" presId="urn:microsoft.com/office/officeart/2008/layout/LinedList"/>
    <dgm:cxn modelId="{C7FA992E-0230-41B4-98A8-4FD61269A3E8}" type="presParOf" srcId="{26D85947-3584-4D1A-AE10-496F44BE1E67}" destId="{A137C510-1113-4362-8679-8A637F550EE8}" srcOrd="0" destOrd="0" presId="urn:microsoft.com/office/officeart/2008/layout/LinedList"/>
    <dgm:cxn modelId="{EE62FFFC-F997-45C0-9D00-BC375EB2CA12}" type="presParOf" srcId="{26D85947-3584-4D1A-AE10-496F44BE1E67}" destId="{F426A397-4594-4D2D-BF30-82BDCF6F893D}" srcOrd="1" destOrd="0" presId="urn:microsoft.com/office/officeart/2008/layout/LinedList"/>
    <dgm:cxn modelId="{E3628BE0-550F-42EB-B56A-4E503D0F0B19}" type="presParOf" srcId="{B4A40C78-443A-443D-A7ED-6E0754A8624F}" destId="{5C24AACA-443C-45BC-ADB5-60AFDFB82A74}" srcOrd="2" destOrd="0" presId="urn:microsoft.com/office/officeart/2008/layout/LinedList"/>
    <dgm:cxn modelId="{A9911557-4DFE-4B87-A4AA-3B4C870F19AF}" type="presParOf" srcId="{B4A40C78-443A-443D-A7ED-6E0754A8624F}" destId="{6F557BF1-FEEB-40C1-A14B-79E739D3C5C6}" srcOrd="3" destOrd="0" presId="urn:microsoft.com/office/officeart/2008/layout/LinedList"/>
    <dgm:cxn modelId="{A69D5C33-5E99-4712-AD3D-8622DFA1FA1E}" type="presParOf" srcId="{6F557BF1-FEEB-40C1-A14B-79E739D3C5C6}" destId="{C5E33352-BC42-40BB-83F4-238335C6C8D9}" srcOrd="0" destOrd="0" presId="urn:microsoft.com/office/officeart/2008/layout/LinedList"/>
    <dgm:cxn modelId="{EA06E7EC-8970-49DA-9D12-8E6D47078C27}" type="presParOf" srcId="{6F557BF1-FEEB-40C1-A14B-79E739D3C5C6}" destId="{17A909E1-2D94-4E08-94C2-BCCA33CD3323}" srcOrd="1" destOrd="0" presId="urn:microsoft.com/office/officeart/2008/layout/LinedList"/>
    <dgm:cxn modelId="{02DB9898-9A20-4FE2-B823-55F692C342BA}" type="presParOf" srcId="{B4A40C78-443A-443D-A7ED-6E0754A8624F}" destId="{F3C4AF62-7FE4-47D9-B72E-62DA351ABB76}" srcOrd="4" destOrd="0" presId="urn:microsoft.com/office/officeart/2008/layout/LinedList"/>
    <dgm:cxn modelId="{0E8403B5-949B-4182-AB9A-EEE73C4E51D9}" type="presParOf" srcId="{B4A40C78-443A-443D-A7ED-6E0754A8624F}" destId="{DCB4C0E4-D416-4D38-911E-5E6C47F4B5E9}" srcOrd="5" destOrd="0" presId="urn:microsoft.com/office/officeart/2008/layout/LinedList"/>
    <dgm:cxn modelId="{1C4401FA-88AF-4B17-813C-729472AAC003}" type="presParOf" srcId="{DCB4C0E4-D416-4D38-911E-5E6C47F4B5E9}" destId="{E05E4E42-1036-4050-8E81-0991B60F2D29}" srcOrd="0" destOrd="0" presId="urn:microsoft.com/office/officeart/2008/layout/LinedList"/>
    <dgm:cxn modelId="{1BDEB6B0-0B53-47D7-A974-986287CC1900}" type="presParOf" srcId="{DCB4C0E4-D416-4D38-911E-5E6C47F4B5E9}" destId="{7A8D7C2B-67E6-449C-9058-AA78BBA97CC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2D96CE-080F-4A87-94CE-AFA5C6BF364E}"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2EC50DF0-E54F-4D07-B845-25DED33128C5}">
      <dgm:prSet/>
      <dgm:spPr/>
      <dgm:t>
        <a:bodyPr/>
        <a:lstStyle/>
        <a:p>
          <a:r>
            <a:rPr lang="en-US" b="1" dirty="0"/>
            <a:t>Ascribed statuses</a:t>
          </a:r>
          <a:r>
            <a:rPr lang="en-US" dirty="0"/>
            <a:t>: Social positions that are believed to be acquired at birth, involuntarily, or imposed outside of the individual’s will.</a:t>
          </a:r>
        </a:p>
      </dgm:t>
    </dgm:pt>
    <dgm:pt modelId="{B5FE7ABD-991D-45C4-BE64-D798394C1284}" type="parTrans" cxnId="{8E9E2F6B-9C18-40A8-A972-CB9DAE3599C8}">
      <dgm:prSet/>
      <dgm:spPr/>
      <dgm:t>
        <a:bodyPr/>
        <a:lstStyle/>
        <a:p>
          <a:endParaRPr lang="en-US"/>
        </a:p>
      </dgm:t>
    </dgm:pt>
    <dgm:pt modelId="{0CC8E74B-F733-4666-9767-30F1B97F74BD}" type="sibTrans" cxnId="{8E9E2F6B-9C18-40A8-A972-CB9DAE3599C8}">
      <dgm:prSet/>
      <dgm:spPr/>
      <dgm:t>
        <a:bodyPr/>
        <a:lstStyle/>
        <a:p>
          <a:endParaRPr lang="en-US"/>
        </a:p>
      </dgm:t>
    </dgm:pt>
    <dgm:pt modelId="{6D792292-E1E9-4650-A274-515FE1698C9C}">
      <dgm:prSet/>
      <dgm:spPr/>
      <dgm:t>
        <a:bodyPr/>
        <a:lstStyle/>
        <a:p>
          <a:r>
            <a:rPr lang="en-US" b="1" dirty="0"/>
            <a:t>Achieved statuses</a:t>
          </a:r>
          <a:r>
            <a:rPr lang="en-US" dirty="0"/>
            <a:t>: Social positions that are believed to be acquired through an individual’s own efforts, actions, or choices.</a:t>
          </a:r>
        </a:p>
      </dgm:t>
    </dgm:pt>
    <dgm:pt modelId="{8065B243-6CD8-47C9-B256-CFA8A98E24E4}" type="parTrans" cxnId="{BB846578-E381-4723-9FA8-AC874068CD57}">
      <dgm:prSet/>
      <dgm:spPr/>
      <dgm:t>
        <a:bodyPr/>
        <a:lstStyle/>
        <a:p>
          <a:endParaRPr lang="en-US"/>
        </a:p>
      </dgm:t>
    </dgm:pt>
    <dgm:pt modelId="{DE7128E6-14E8-47E8-AF03-3CD62686FC51}" type="sibTrans" cxnId="{BB846578-E381-4723-9FA8-AC874068CD57}">
      <dgm:prSet/>
      <dgm:spPr/>
      <dgm:t>
        <a:bodyPr/>
        <a:lstStyle/>
        <a:p>
          <a:endParaRPr lang="en-US"/>
        </a:p>
      </dgm:t>
    </dgm:pt>
    <dgm:pt modelId="{A37F914F-733E-41C4-87FF-F4520BC4B68C}" type="pres">
      <dgm:prSet presAssocID="{E62D96CE-080F-4A87-94CE-AFA5C6BF364E}" presName="vert0" presStyleCnt="0">
        <dgm:presLayoutVars>
          <dgm:dir/>
          <dgm:animOne val="branch"/>
          <dgm:animLvl val="lvl"/>
        </dgm:presLayoutVars>
      </dgm:prSet>
      <dgm:spPr/>
    </dgm:pt>
    <dgm:pt modelId="{3F39E399-6807-4DD8-88D1-94DDC36FFEDE}" type="pres">
      <dgm:prSet presAssocID="{2EC50DF0-E54F-4D07-B845-25DED33128C5}" presName="thickLine" presStyleLbl="alignNode1" presStyleIdx="0" presStyleCnt="2"/>
      <dgm:spPr/>
    </dgm:pt>
    <dgm:pt modelId="{17ED331A-4B80-4E48-A712-8018AFED4B29}" type="pres">
      <dgm:prSet presAssocID="{2EC50DF0-E54F-4D07-B845-25DED33128C5}" presName="horz1" presStyleCnt="0"/>
      <dgm:spPr/>
    </dgm:pt>
    <dgm:pt modelId="{8907CC6C-4F17-4FF2-A9D0-B3D4D33DC80B}" type="pres">
      <dgm:prSet presAssocID="{2EC50DF0-E54F-4D07-B845-25DED33128C5}" presName="tx1" presStyleLbl="revTx" presStyleIdx="0" presStyleCnt="2"/>
      <dgm:spPr/>
    </dgm:pt>
    <dgm:pt modelId="{999B8119-F83F-426A-9A16-00002277054E}" type="pres">
      <dgm:prSet presAssocID="{2EC50DF0-E54F-4D07-B845-25DED33128C5}" presName="vert1" presStyleCnt="0"/>
      <dgm:spPr/>
    </dgm:pt>
    <dgm:pt modelId="{5B5F7C58-0A93-4035-95BF-7D129C724A25}" type="pres">
      <dgm:prSet presAssocID="{6D792292-E1E9-4650-A274-515FE1698C9C}" presName="thickLine" presStyleLbl="alignNode1" presStyleIdx="1" presStyleCnt="2"/>
      <dgm:spPr/>
    </dgm:pt>
    <dgm:pt modelId="{E5AF5FE5-C389-430C-9822-1BD62AEC0590}" type="pres">
      <dgm:prSet presAssocID="{6D792292-E1E9-4650-A274-515FE1698C9C}" presName="horz1" presStyleCnt="0"/>
      <dgm:spPr/>
    </dgm:pt>
    <dgm:pt modelId="{D824648D-19F3-4D60-8902-465B5AB6A60C}" type="pres">
      <dgm:prSet presAssocID="{6D792292-E1E9-4650-A274-515FE1698C9C}" presName="tx1" presStyleLbl="revTx" presStyleIdx="1" presStyleCnt="2"/>
      <dgm:spPr/>
    </dgm:pt>
    <dgm:pt modelId="{24870516-DC8F-4638-ABC5-F4999927DC3E}" type="pres">
      <dgm:prSet presAssocID="{6D792292-E1E9-4650-A274-515FE1698C9C}" presName="vert1" presStyleCnt="0"/>
      <dgm:spPr/>
    </dgm:pt>
  </dgm:ptLst>
  <dgm:cxnLst>
    <dgm:cxn modelId="{19CB5012-F2CA-495C-B4F1-90EC7D005E93}" type="presOf" srcId="{6D792292-E1E9-4650-A274-515FE1698C9C}" destId="{D824648D-19F3-4D60-8902-465B5AB6A60C}" srcOrd="0" destOrd="0" presId="urn:microsoft.com/office/officeart/2008/layout/LinedList"/>
    <dgm:cxn modelId="{8E9E2F6B-9C18-40A8-A972-CB9DAE3599C8}" srcId="{E62D96CE-080F-4A87-94CE-AFA5C6BF364E}" destId="{2EC50DF0-E54F-4D07-B845-25DED33128C5}" srcOrd="0" destOrd="0" parTransId="{B5FE7ABD-991D-45C4-BE64-D798394C1284}" sibTransId="{0CC8E74B-F733-4666-9767-30F1B97F74BD}"/>
    <dgm:cxn modelId="{BB846578-E381-4723-9FA8-AC874068CD57}" srcId="{E62D96CE-080F-4A87-94CE-AFA5C6BF364E}" destId="{6D792292-E1E9-4650-A274-515FE1698C9C}" srcOrd="1" destOrd="0" parTransId="{8065B243-6CD8-47C9-B256-CFA8A98E24E4}" sibTransId="{DE7128E6-14E8-47E8-AF03-3CD62686FC51}"/>
    <dgm:cxn modelId="{0BEE997A-DE3A-4CBD-AE9E-A3CE93FFDA08}" type="presOf" srcId="{2EC50DF0-E54F-4D07-B845-25DED33128C5}" destId="{8907CC6C-4F17-4FF2-A9D0-B3D4D33DC80B}" srcOrd="0" destOrd="0" presId="urn:microsoft.com/office/officeart/2008/layout/LinedList"/>
    <dgm:cxn modelId="{E2F733B8-9B88-42CF-BBCB-823B5C2A117C}" type="presOf" srcId="{E62D96CE-080F-4A87-94CE-AFA5C6BF364E}" destId="{A37F914F-733E-41C4-87FF-F4520BC4B68C}" srcOrd="0" destOrd="0" presId="urn:microsoft.com/office/officeart/2008/layout/LinedList"/>
    <dgm:cxn modelId="{06BAFF89-6784-4D93-8D28-3AD1D42B253A}" type="presParOf" srcId="{A37F914F-733E-41C4-87FF-F4520BC4B68C}" destId="{3F39E399-6807-4DD8-88D1-94DDC36FFEDE}" srcOrd="0" destOrd="0" presId="urn:microsoft.com/office/officeart/2008/layout/LinedList"/>
    <dgm:cxn modelId="{6EB10AEC-FCCC-4DB0-B0AF-477A877E447F}" type="presParOf" srcId="{A37F914F-733E-41C4-87FF-F4520BC4B68C}" destId="{17ED331A-4B80-4E48-A712-8018AFED4B29}" srcOrd="1" destOrd="0" presId="urn:microsoft.com/office/officeart/2008/layout/LinedList"/>
    <dgm:cxn modelId="{F4B3ADA2-8388-4A17-84CF-088C029F1F99}" type="presParOf" srcId="{17ED331A-4B80-4E48-A712-8018AFED4B29}" destId="{8907CC6C-4F17-4FF2-A9D0-B3D4D33DC80B}" srcOrd="0" destOrd="0" presId="urn:microsoft.com/office/officeart/2008/layout/LinedList"/>
    <dgm:cxn modelId="{AA846D04-C84E-431C-AD79-C82CA59FCCD1}" type="presParOf" srcId="{17ED331A-4B80-4E48-A712-8018AFED4B29}" destId="{999B8119-F83F-426A-9A16-00002277054E}" srcOrd="1" destOrd="0" presId="urn:microsoft.com/office/officeart/2008/layout/LinedList"/>
    <dgm:cxn modelId="{B34202C2-E338-46FC-917B-CC6CF53B2C16}" type="presParOf" srcId="{A37F914F-733E-41C4-87FF-F4520BC4B68C}" destId="{5B5F7C58-0A93-4035-95BF-7D129C724A25}" srcOrd="2" destOrd="0" presId="urn:microsoft.com/office/officeart/2008/layout/LinedList"/>
    <dgm:cxn modelId="{A2CBCEF8-499C-4F5A-84B6-63AFA53DCBDF}" type="presParOf" srcId="{A37F914F-733E-41C4-87FF-F4520BC4B68C}" destId="{E5AF5FE5-C389-430C-9822-1BD62AEC0590}" srcOrd="3" destOrd="0" presId="urn:microsoft.com/office/officeart/2008/layout/LinedList"/>
    <dgm:cxn modelId="{5C4C3B0F-3F87-4F4A-BDAC-C2142625F134}" type="presParOf" srcId="{E5AF5FE5-C389-430C-9822-1BD62AEC0590}" destId="{D824648D-19F3-4D60-8902-465B5AB6A60C}" srcOrd="0" destOrd="0" presId="urn:microsoft.com/office/officeart/2008/layout/LinedList"/>
    <dgm:cxn modelId="{750EA3FC-E989-4C9F-90F0-B3C7B4F29E4E}" type="presParOf" srcId="{E5AF5FE5-C389-430C-9822-1BD62AEC0590}" destId="{24870516-DC8F-4638-ABC5-F4999927DC3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B812698-0E2B-4093-90A7-C3900E057A27}"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F0124257-282C-4FE6-8150-E4E97BDF6A8E}">
      <dgm:prSet/>
      <dgm:spPr/>
      <dgm:t>
        <a:bodyPr/>
        <a:lstStyle/>
        <a:p>
          <a:r>
            <a:rPr lang="en-US"/>
            <a:t>Being seen as an “open body”</a:t>
          </a:r>
        </a:p>
      </dgm:t>
    </dgm:pt>
    <dgm:pt modelId="{0367592B-D817-4CFB-9859-CBCF9BAEE2AB}" type="parTrans" cxnId="{652A0A73-35E0-4D70-BDCE-E7C3FCC99A7E}">
      <dgm:prSet/>
      <dgm:spPr/>
      <dgm:t>
        <a:bodyPr/>
        <a:lstStyle/>
        <a:p>
          <a:endParaRPr lang="en-US"/>
        </a:p>
      </dgm:t>
    </dgm:pt>
    <dgm:pt modelId="{06877A25-45DE-4DE1-9FD8-B29CF32D5667}" type="sibTrans" cxnId="{652A0A73-35E0-4D70-BDCE-E7C3FCC99A7E}">
      <dgm:prSet/>
      <dgm:spPr/>
      <dgm:t>
        <a:bodyPr/>
        <a:lstStyle/>
        <a:p>
          <a:endParaRPr lang="en-US"/>
        </a:p>
      </dgm:t>
    </dgm:pt>
    <dgm:pt modelId="{19548078-F072-4C37-A558-0A911873B5B0}">
      <dgm:prSet/>
      <dgm:spPr/>
      <dgm:t>
        <a:bodyPr/>
        <a:lstStyle/>
        <a:p>
          <a:r>
            <a:rPr lang="en-US"/>
            <a:t>Invisibility</a:t>
          </a:r>
        </a:p>
      </dgm:t>
    </dgm:pt>
    <dgm:pt modelId="{09B07817-D1DF-4BF8-80E5-F41482B2966E}" type="parTrans" cxnId="{E3D845A4-37EF-40B1-9D1B-4B0A29F831FC}">
      <dgm:prSet/>
      <dgm:spPr/>
      <dgm:t>
        <a:bodyPr/>
        <a:lstStyle/>
        <a:p>
          <a:endParaRPr lang="en-US"/>
        </a:p>
      </dgm:t>
    </dgm:pt>
    <dgm:pt modelId="{47AE7B3E-9648-449C-B0FD-50B863A16FD9}" type="sibTrans" cxnId="{E3D845A4-37EF-40B1-9D1B-4B0A29F831FC}">
      <dgm:prSet/>
      <dgm:spPr/>
      <dgm:t>
        <a:bodyPr/>
        <a:lstStyle/>
        <a:p>
          <a:endParaRPr lang="en-US"/>
        </a:p>
      </dgm:t>
    </dgm:pt>
    <dgm:pt modelId="{F44D73A5-9BCC-4C2F-A709-DD203D4B0C70}">
      <dgm:prSet/>
      <dgm:spPr/>
      <dgm:t>
        <a:bodyPr/>
        <a:lstStyle/>
        <a:p>
          <a:r>
            <a:rPr lang="en-US"/>
            <a:t>Courtesy Stigma: stigma that is extended to associates</a:t>
          </a:r>
        </a:p>
      </dgm:t>
    </dgm:pt>
    <dgm:pt modelId="{D080CFCF-46FA-4A9D-9FEA-945117C4E8CB}" type="parTrans" cxnId="{8019EB25-6C71-4A61-B5EB-7DD4B27D041F}">
      <dgm:prSet/>
      <dgm:spPr/>
      <dgm:t>
        <a:bodyPr/>
        <a:lstStyle/>
        <a:p>
          <a:endParaRPr lang="en-US"/>
        </a:p>
      </dgm:t>
    </dgm:pt>
    <dgm:pt modelId="{B61E5FAE-5E61-4638-A88E-17F150D1C418}" type="sibTrans" cxnId="{8019EB25-6C71-4A61-B5EB-7DD4B27D041F}">
      <dgm:prSet/>
      <dgm:spPr/>
      <dgm:t>
        <a:bodyPr/>
        <a:lstStyle/>
        <a:p>
          <a:endParaRPr lang="en-US"/>
        </a:p>
      </dgm:t>
    </dgm:pt>
    <dgm:pt modelId="{28BB40AB-176F-4B93-BDD0-1DC7E6809917}">
      <dgm:prSet/>
      <dgm:spPr/>
      <dgm:t>
        <a:bodyPr/>
        <a:lstStyle/>
        <a:p>
          <a:r>
            <a:rPr lang="en-US"/>
            <a:t>Avoidance</a:t>
          </a:r>
        </a:p>
      </dgm:t>
    </dgm:pt>
    <dgm:pt modelId="{86B95276-39B3-4F33-A110-9F1E4D98D905}" type="parTrans" cxnId="{E9AFAEAD-EAA5-4080-91E1-AEEC22816695}">
      <dgm:prSet/>
      <dgm:spPr/>
      <dgm:t>
        <a:bodyPr/>
        <a:lstStyle/>
        <a:p>
          <a:endParaRPr lang="en-US"/>
        </a:p>
      </dgm:t>
    </dgm:pt>
    <dgm:pt modelId="{49B69FCA-7258-4156-ABBA-C96B62351422}" type="sibTrans" cxnId="{E9AFAEAD-EAA5-4080-91E1-AEEC22816695}">
      <dgm:prSet/>
      <dgm:spPr/>
      <dgm:t>
        <a:bodyPr/>
        <a:lstStyle/>
        <a:p>
          <a:endParaRPr lang="en-US"/>
        </a:p>
      </dgm:t>
    </dgm:pt>
    <dgm:pt modelId="{01425A1C-3756-47E3-BDA3-890BE0A3206C}" type="pres">
      <dgm:prSet presAssocID="{7B812698-0E2B-4093-90A7-C3900E057A27}" presName="vert0" presStyleCnt="0">
        <dgm:presLayoutVars>
          <dgm:dir/>
          <dgm:animOne val="branch"/>
          <dgm:animLvl val="lvl"/>
        </dgm:presLayoutVars>
      </dgm:prSet>
      <dgm:spPr/>
    </dgm:pt>
    <dgm:pt modelId="{7B835EB3-382B-4C06-95F9-2BCA9A85089D}" type="pres">
      <dgm:prSet presAssocID="{F0124257-282C-4FE6-8150-E4E97BDF6A8E}" presName="thickLine" presStyleLbl="alignNode1" presStyleIdx="0" presStyleCnt="4"/>
      <dgm:spPr/>
    </dgm:pt>
    <dgm:pt modelId="{EEE2CAE5-E2D8-43D6-ACFC-BCA72B130D71}" type="pres">
      <dgm:prSet presAssocID="{F0124257-282C-4FE6-8150-E4E97BDF6A8E}" presName="horz1" presStyleCnt="0"/>
      <dgm:spPr/>
    </dgm:pt>
    <dgm:pt modelId="{839D1DAB-7F0C-49FD-9E19-376C38DD9B0C}" type="pres">
      <dgm:prSet presAssocID="{F0124257-282C-4FE6-8150-E4E97BDF6A8E}" presName="tx1" presStyleLbl="revTx" presStyleIdx="0" presStyleCnt="4"/>
      <dgm:spPr/>
    </dgm:pt>
    <dgm:pt modelId="{A8176AA3-BDF0-4D27-BFC1-06619F6BDE12}" type="pres">
      <dgm:prSet presAssocID="{F0124257-282C-4FE6-8150-E4E97BDF6A8E}" presName="vert1" presStyleCnt="0"/>
      <dgm:spPr/>
    </dgm:pt>
    <dgm:pt modelId="{3D2F7AB5-62B9-4A2F-8FEE-D35D65589D2D}" type="pres">
      <dgm:prSet presAssocID="{19548078-F072-4C37-A558-0A911873B5B0}" presName="thickLine" presStyleLbl="alignNode1" presStyleIdx="1" presStyleCnt="4"/>
      <dgm:spPr/>
    </dgm:pt>
    <dgm:pt modelId="{C76537EA-E6F7-4A84-9EC3-8DEBB375E8E7}" type="pres">
      <dgm:prSet presAssocID="{19548078-F072-4C37-A558-0A911873B5B0}" presName="horz1" presStyleCnt="0"/>
      <dgm:spPr/>
    </dgm:pt>
    <dgm:pt modelId="{7706990B-A7B8-486D-BC7E-16AF4DBEAC75}" type="pres">
      <dgm:prSet presAssocID="{19548078-F072-4C37-A558-0A911873B5B0}" presName="tx1" presStyleLbl="revTx" presStyleIdx="1" presStyleCnt="4"/>
      <dgm:spPr/>
    </dgm:pt>
    <dgm:pt modelId="{A3B97848-B41B-4977-B0AE-5CAA6087AE3E}" type="pres">
      <dgm:prSet presAssocID="{19548078-F072-4C37-A558-0A911873B5B0}" presName="vert1" presStyleCnt="0"/>
      <dgm:spPr/>
    </dgm:pt>
    <dgm:pt modelId="{44B1B2E4-56D7-4773-B4D0-C7D44CE795E4}" type="pres">
      <dgm:prSet presAssocID="{F44D73A5-9BCC-4C2F-A709-DD203D4B0C70}" presName="thickLine" presStyleLbl="alignNode1" presStyleIdx="2" presStyleCnt="4"/>
      <dgm:spPr/>
    </dgm:pt>
    <dgm:pt modelId="{5105F2E2-8F2B-4602-AFB9-B6863A1598FB}" type="pres">
      <dgm:prSet presAssocID="{F44D73A5-9BCC-4C2F-A709-DD203D4B0C70}" presName="horz1" presStyleCnt="0"/>
      <dgm:spPr/>
    </dgm:pt>
    <dgm:pt modelId="{1AD87656-A8F7-4925-A7ED-D987CDEBDEF9}" type="pres">
      <dgm:prSet presAssocID="{F44D73A5-9BCC-4C2F-A709-DD203D4B0C70}" presName="tx1" presStyleLbl="revTx" presStyleIdx="2" presStyleCnt="4"/>
      <dgm:spPr/>
    </dgm:pt>
    <dgm:pt modelId="{A08D541B-A1A4-480F-9014-360D9347704B}" type="pres">
      <dgm:prSet presAssocID="{F44D73A5-9BCC-4C2F-A709-DD203D4B0C70}" presName="vert1" presStyleCnt="0"/>
      <dgm:spPr/>
    </dgm:pt>
    <dgm:pt modelId="{B9AF0079-D678-41F6-A063-0D36E50BA857}" type="pres">
      <dgm:prSet presAssocID="{28BB40AB-176F-4B93-BDD0-1DC7E6809917}" presName="thickLine" presStyleLbl="alignNode1" presStyleIdx="3" presStyleCnt="4"/>
      <dgm:spPr/>
    </dgm:pt>
    <dgm:pt modelId="{9ED9524D-6D13-431B-8FAD-FC35C6CB92A2}" type="pres">
      <dgm:prSet presAssocID="{28BB40AB-176F-4B93-BDD0-1DC7E6809917}" presName="horz1" presStyleCnt="0"/>
      <dgm:spPr/>
    </dgm:pt>
    <dgm:pt modelId="{9A121055-9C18-45C6-9266-776587C7EDB7}" type="pres">
      <dgm:prSet presAssocID="{28BB40AB-176F-4B93-BDD0-1DC7E6809917}" presName="tx1" presStyleLbl="revTx" presStyleIdx="3" presStyleCnt="4"/>
      <dgm:spPr/>
    </dgm:pt>
    <dgm:pt modelId="{C9328298-A50D-4A2E-BCDF-834D4E4E6BBA}" type="pres">
      <dgm:prSet presAssocID="{28BB40AB-176F-4B93-BDD0-1DC7E6809917}" presName="vert1" presStyleCnt="0"/>
      <dgm:spPr/>
    </dgm:pt>
  </dgm:ptLst>
  <dgm:cxnLst>
    <dgm:cxn modelId="{8019EB25-6C71-4A61-B5EB-7DD4B27D041F}" srcId="{7B812698-0E2B-4093-90A7-C3900E057A27}" destId="{F44D73A5-9BCC-4C2F-A709-DD203D4B0C70}" srcOrd="2" destOrd="0" parTransId="{D080CFCF-46FA-4A9D-9FEA-945117C4E8CB}" sibTransId="{B61E5FAE-5E61-4638-A88E-17F150D1C418}"/>
    <dgm:cxn modelId="{BDFE295F-7907-4274-9974-C03F37B991B8}" type="presOf" srcId="{28BB40AB-176F-4B93-BDD0-1DC7E6809917}" destId="{9A121055-9C18-45C6-9266-776587C7EDB7}" srcOrd="0" destOrd="0" presId="urn:microsoft.com/office/officeart/2008/layout/LinedList"/>
    <dgm:cxn modelId="{93D19265-3C6F-48A4-87C3-A13198E916DC}" type="presOf" srcId="{F44D73A5-9BCC-4C2F-A709-DD203D4B0C70}" destId="{1AD87656-A8F7-4925-A7ED-D987CDEBDEF9}" srcOrd="0" destOrd="0" presId="urn:microsoft.com/office/officeart/2008/layout/LinedList"/>
    <dgm:cxn modelId="{652A0A73-35E0-4D70-BDCE-E7C3FCC99A7E}" srcId="{7B812698-0E2B-4093-90A7-C3900E057A27}" destId="{F0124257-282C-4FE6-8150-E4E97BDF6A8E}" srcOrd="0" destOrd="0" parTransId="{0367592B-D817-4CFB-9859-CBCF9BAEE2AB}" sibTransId="{06877A25-45DE-4DE1-9FD8-B29CF32D5667}"/>
    <dgm:cxn modelId="{B0266E8B-5758-48A5-B3FA-0AED1ECFC015}" type="presOf" srcId="{19548078-F072-4C37-A558-0A911873B5B0}" destId="{7706990B-A7B8-486D-BC7E-16AF4DBEAC75}" srcOrd="0" destOrd="0" presId="urn:microsoft.com/office/officeart/2008/layout/LinedList"/>
    <dgm:cxn modelId="{E3D845A4-37EF-40B1-9D1B-4B0A29F831FC}" srcId="{7B812698-0E2B-4093-90A7-C3900E057A27}" destId="{19548078-F072-4C37-A558-0A911873B5B0}" srcOrd="1" destOrd="0" parTransId="{09B07817-D1DF-4BF8-80E5-F41482B2966E}" sibTransId="{47AE7B3E-9648-449C-B0FD-50B863A16FD9}"/>
    <dgm:cxn modelId="{E9AFAEAD-EAA5-4080-91E1-AEEC22816695}" srcId="{7B812698-0E2B-4093-90A7-C3900E057A27}" destId="{28BB40AB-176F-4B93-BDD0-1DC7E6809917}" srcOrd="3" destOrd="0" parTransId="{86B95276-39B3-4F33-A110-9F1E4D98D905}" sibTransId="{49B69FCA-7258-4156-ABBA-C96B62351422}"/>
    <dgm:cxn modelId="{F3BEC9AF-A28B-4F4C-BD50-9147657A56A0}" type="presOf" srcId="{F0124257-282C-4FE6-8150-E4E97BDF6A8E}" destId="{839D1DAB-7F0C-49FD-9E19-376C38DD9B0C}" srcOrd="0" destOrd="0" presId="urn:microsoft.com/office/officeart/2008/layout/LinedList"/>
    <dgm:cxn modelId="{A89CF3E2-1FC1-4894-BB09-8911F078BAAC}" type="presOf" srcId="{7B812698-0E2B-4093-90A7-C3900E057A27}" destId="{01425A1C-3756-47E3-BDA3-890BE0A3206C}" srcOrd="0" destOrd="0" presId="urn:microsoft.com/office/officeart/2008/layout/LinedList"/>
    <dgm:cxn modelId="{8DE37AF7-CCB0-4AAD-B652-A6C0A69E3594}" type="presParOf" srcId="{01425A1C-3756-47E3-BDA3-890BE0A3206C}" destId="{7B835EB3-382B-4C06-95F9-2BCA9A85089D}" srcOrd="0" destOrd="0" presId="urn:microsoft.com/office/officeart/2008/layout/LinedList"/>
    <dgm:cxn modelId="{ADAAA8B6-F7F1-408B-9B6C-8891CC50C7AA}" type="presParOf" srcId="{01425A1C-3756-47E3-BDA3-890BE0A3206C}" destId="{EEE2CAE5-E2D8-43D6-ACFC-BCA72B130D71}" srcOrd="1" destOrd="0" presId="urn:microsoft.com/office/officeart/2008/layout/LinedList"/>
    <dgm:cxn modelId="{CCD67CCB-A6B6-4630-97D4-6C75759F9744}" type="presParOf" srcId="{EEE2CAE5-E2D8-43D6-ACFC-BCA72B130D71}" destId="{839D1DAB-7F0C-49FD-9E19-376C38DD9B0C}" srcOrd="0" destOrd="0" presId="urn:microsoft.com/office/officeart/2008/layout/LinedList"/>
    <dgm:cxn modelId="{A9ABB4FE-4D54-4016-BD04-0EC94143B5B3}" type="presParOf" srcId="{EEE2CAE5-E2D8-43D6-ACFC-BCA72B130D71}" destId="{A8176AA3-BDF0-4D27-BFC1-06619F6BDE12}" srcOrd="1" destOrd="0" presId="urn:microsoft.com/office/officeart/2008/layout/LinedList"/>
    <dgm:cxn modelId="{00FD4CD4-302C-4AC4-ACB0-250CA4DDCA15}" type="presParOf" srcId="{01425A1C-3756-47E3-BDA3-890BE0A3206C}" destId="{3D2F7AB5-62B9-4A2F-8FEE-D35D65589D2D}" srcOrd="2" destOrd="0" presId="urn:microsoft.com/office/officeart/2008/layout/LinedList"/>
    <dgm:cxn modelId="{F6C06A16-2FD2-41FA-81AF-205A7672DE53}" type="presParOf" srcId="{01425A1C-3756-47E3-BDA3-890BE0A3206C}" destId="{C76537EA-E6F7-4A84-9EC3-8DEBB375E8E7}" srcOrd="3" destOrd="0" presId="urn:microsoft.com/office/officeart/2008/layout/LinedList"/>
    <dgm:cxn modelId="{8B47E0A7-09D9-48F9-8DD4-CE0CCD3C2D01}" type="presParOf" srcId="{C76537EA-E6F7-4A84-9EC3-8DEBB375E8E7}" destId="{7706990B-A7B8-486D-BC7E-16AF4DBEAC75}" srcOrd="0" destOrd="0" presId="urn:microsoft.com/office/officeart/2008/layout/LinedList"/>
    <dgm:cxn modelId="{033A32AC-0A01-4CE2-B0DE-D4BF3F15E5E8}" type="presParOf" srcId="{C76537EA-E6F7-4A84-9EC3-8DEBB375E8E7}" destId="{A3B97848-B41B-4977-B0AE-5CAA6087AE3E}" srcOrd="1" destOrd="0" presId="urn:microsoft.com/office/officeart/2008/layout/LinedList"/>
    <dgm:cxn modelId="{61250BF2-3205-4F33-A4D5-8E404141BFA4}" type="presParOf" srcId="{01425A1C-3756-47E3-BDA3-890BE0A3206C}" destId="{44B1B2E4-56D7-4773-B4D0-C7D44CE795E4}" srcOrd="4" destOrd="0" presId="urn:microsoft.com/office/officeart/2008/layout/LinedList"/>
    <dgm:cxn modelId="{61A7C0C8-9D25-4DA1-9232-06A31CA4993E}" type="presParOf" srcId="{01425A1C-3756-47E3-BDA3-890BE0A3206C}" destId="{5105F2E2-8F2B-4602-AFB9-B6863A1598FB}" srcOrd="5" destOrd="0" presId="urn:microsoft.com/office/officeart/2008/layout/LinedList"/>
    <dgm:cxn modelId="{1C2FAB5C-C250-4436-95C8-37BF83DB21BD}" type="presParOf" srcId="{5105F2E2-8F2B-4602-AFB9-B6863A1598FB}" destId="{1AD87656-A8F7-4925-A7ED-D987CDEBDEF9}" srcOrd="0" destOrd="0" presId="urn:microsoft.com/office/officeart/2008/layout/LinedList"/>
    <dgm:cxn modelId="{1C9D1427-E8B7-4466-8A0A-3B3C8197E3FD}" type="presParOf" srcId="{5105F2E2-8F2B-4602-AFB9-B6863A1598FB}" destId="{A08D541B-A1A4-480F-9014-360D9347704B}" srcOrd="1" destOrd="0" presId="urn:microsoft.com/office/officeart/2008/layout/LinedList"/>
    <dgm:cxn modelId="{E3F5AC1F-F6A3-4A40-8E4A-0A7D3232C895}" type="presParOf" srcId="{01425A1C-3756-47E3-BDA3-890BE0A3206C}" destId="{B9AF0079-D678-41F6-A063-0D36E50BA857}" srcOrd="6" destOrd="0" presId="urn:microsoft.com/office/officeart/2008/layout/LinedList"/>
    <dgm:cxn modelId="{0038C8D8-EAFA-4BB8-B5CE-182EF4ED06E8}" type="presParOf" srcId="{01425A1C-3756-47E3-BDA3-890BE0A3206C}" destId="{9ED9524D-6D13-431B-8FAD-FC35C6CB92A2}" srcOrd="7" destOrd="0" presId="urn:microsoft.com/office/officeart/2008/layout/LinedList"/>
    <dgm:cxn modelId="{E4039B9F-A03B-452D-A9AA-604E03E3EE4F}" type="presParOf" srcId="{9ED9524D-6D13-431B-8FAD-FC35C6CB92A2}" destId="{9A121055-9C18-45C6-9266-776587C7EDB7}" srcOrd="0" destOrd="0" presId="urn:microsoft.com/office/officeart/2008/layout/LinedList"/>
    <dgm:cxn modelId="{1E43832E-EB49-441C-9F80-36CC1B96171B}" type="presParOf" srcId="{9ED9524D-6D13-431B-8FAD-FC35C6CB92A2}" destId="{C9328298-A50D-4A2E-BCDF-834D4E4E6BB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797AA6-5A65-4354-86F3-67E8171A3EE1}">
      <dsp:nvSpPr>
        <dsp:cNvPr id="0" name=""/>
        <dsp:cNvSpPr/>
      </dsp:nvSpPr>
      <dsp:spPr>
        <a:xfrm>
          <a:off x="3364992" y="1928"/>
          <a:ext cx="3785616" cy="127258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a:t>Why study bodies?</a:t>
          </a:r>
        </a:p>
      </dsp:txBody>
      <dsp:txXfrm>
        <a:off x="3427115" y="64051"/>
        <a:ext cx="3661370" cy="1148340"/>
      </dsp:txXfrm>
    </dsp:sp>
    <dsp:sp modelId="{064D92B7-7763-4FC8-8B62-BC19247D00EB}">
      <dsp:nvSpPr>
        <dsp:cNvPr id="0" name=""/>
        <dsp:cNvSpPr/>
      </dsp:nvSpPr>
      <dsp:spPr>
        <a:xfrm>
          <a:off x="3364992" y="1338144"/>
          <a:ext cx="3785616" cy="1272586"/>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a:t>Keeping it sociological</a:t>
          </a:r>
        </a:p>
      </dsp:txBody>
      <dsp:txXfrm>
        <a:off x="3427115" y="1400267"/>
        <a:ext cx="3661370" cy="1148340"/>
      </dsp:txXfrm>
    </dsp:sp>
    <dsp:sp modelId="{5FC85509-E7E3-4F1F-A360-C6850D120F8A}">
      <dsp:nvSpPr>
        <dsp:cNvPr id="0" name=""/>
        <dsp:cNvSpPr/>
      </dsp:nvSpPr>
      <dsp:spPr>
        <a:xfrm>
          <a:off x="3364992" y="2674360"/>
          <a:ext cx="3785616" cy="1272586"/>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a:t>“Deviant” as non-perjorative</a:t>
          </a:r>
        </a:p>
      </dsp:txBody>
      <dsp:txXfrm>
        <a:off x="3427115" y="2736483"/>
        <a:ext cx="3661370" cy="11483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23B1CA-CA17-46FF-8626-4AA8C77A3C08}">
      <dsp:nvSpPr>
        <dsp:cNvPr id="0" name=""/>
        <dsp:cNvSpPr/>
      </dsp:nvSpPr>
      <dsp:spPr>
        <a:xfrm>
          <a:off x="0" y="2124"/>
          <a:ext cx="10515600"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A137C510-1113-4362-8679-8A637F550EE8}">
      <dsp:nvSpPr>
        <dsp:cNvPr id="0" name=""/>
        <dsp:cNvSpPr/>
      </dsp:nvSpPr>
      <dsp:spPr>
        <a:xfrm>
          <a:off x="0" y="212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t>Bodies that don’t meet the collective’s </a:t>
          </a:r>
          <a:r>
            <a:rPr lang="en-US" sz="4000" i="1" kern="1200" dirty="0"/>
            <a:t>Aesthetic Ideals</a:t>
          </a:r>
        </a:p>
      </dsp:txBody>
      <dsp:txXfrm>
        <a:off x="0" y="2124"/>
        <a:ext cx="10515600" cy="1449029"/>
      </dsp:txXfrm>
    </dsp:sp>
    <dsp:sp modelId="{5C24AACA-443C-45BC-ADB5-60AFDFB82A74}">
      <dsp:nvSpPr>
        <dsp:cNvPr id="0" name=""/>
        <dsp:cNvSpPr/>
      </dsp:nvSpPr>
      <dsp:spPr>
        <a:xfrm>
          <a:off x="0" y="1451154"/>
          <a:ext cx="10515600"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C5E33352-BC42-40BB-83F4-238335C6C8D9}">
      <dsp:nvSpPr>
        <dsp:cNvPr id="0" name=""/>
        <dsp:cNvSpPr/>
      </dsp:nvSpPr>
      <dsp:spPr>
        <a:xfrm>
          <a:off x="0" y="145115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t>Bodies that don’t meet the collective’s conceptions of </a:t>
          </a:r>
          <a:r>
            <a:rPr lang="en-US" sz="4000" i="1" kern="1200" dirty="0"/>
            <a:t>Physical Capacity</a:t>
          </a:r>
        </a:p>
      </dsp:txBody>
      <dsp:txXfrm>
        <a:off x="0" y="1451154"/>
        <a:ext cx="10515600" cy="1449029"/>
      </dsp:txXfrm>
    </dsp:sp>
    <dsp:sp modelId="{F3C4AF62-7FE4-47D9-B72E-62DA351ABB76}">
      <dsp:nvSpPr>
        <dsp:cNvPr id="0" name=""/>
        <dsp:cNvSpPr/>
      </dsp:nvSpPr>
      <dsp:spPr>
        <a:xfrm>
          <a:off x="0" y="2900183"/>
          <a:ext cx="10515600"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E05E4E42-1036-4050-8E81-0991B60F2D29}">
      <dsp:nvSpPr>
        <dsp:cNvPr id="0" name=""/>
        <dsp:cNvSpPr/>
      </dsp:nvSpPr>
      <dsp:spPr>
        <a:xfrm>
          <a:off x="0" y="2900183"/>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t>Bodies that challenge strongly held </a:t>
          </a:r>
          <a:r>
            <a:rPr lang="en-US" sz="4000" i="1" kern="1200" dirty="0"/>
            <a:t>social constructs about personhood</a:t>
          </a:r>
        </a:p>
      </dsp:txBody>
      <dsp:txXfrm>
        <a:off x="0" y="2900183"/>
        <a:ext cx="10515600" cy="14490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39E399-6807-4DD8-88D1-94DDC36FFEDE}">
      <dsp:nvSpPr>
        <dsp:cNvPr id="0" name=""/>
        <dsp:cNvSpPr/>
      </dsp:nvSpPr>
      <dsp:spPr>
        <a:xfrm>
          <a:off x="0" y="0"/>
          <a:ext cx="6263640"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07CC6C-4F17-4FF2-A9D0-B3D4D33DC80B}">
      <dsp:nvSpPr>
        <dsp:cNvPr id="0" name=""/>
        <dsp:cNvSpPr/>
      </dsp:nvSpPr>
      <dsp:spPr>
        <a:xfrm>
          <a:off x="0" y="0"/>
          <a:ext cx="6263640" cy="275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dirty="0"/>
            <a:t>Ascribed statuses</a:t>
          </a:r>
          <a:r>
            <a:rPr lang="en-US" sz="3500" kern="1200" dirty="0"/>
            <a:t>: Social positions that are believed to be acquired at birth, involuntarily, or imposed outside of the individual’s will.</a:t>
          </a:r>
        </a:p>
      </dsp:txBody>
      <dsp:txXfrm>
        <a:off x="0" y="0"/>
        <a:ext cx="6263640" cy="2752343"/>
      </dsp:txXfrm>
    </dsp:sp>
    <dsp:sp modelId="{5B5F7C58-0A93-4035-95BF-7D129C724A25}">
      <dsp:nvSpPr>
        <dsp:cNvPr id="0" name=""/>
        <dsp:cNvSpPr/>
      </dsp:nvSpPr>
      <dsp:spPr>
        <a:xfrm>
          <a:off x="0" y="2752343"/>
          <a:ext cx="6263640"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24648D-19F3-4D60-8902-465B5AB6A60C}">
      <dsp:nvSpPr>
        <dsp:cNvPr id="0" name=""/>
        <dsp:cNvSpPr/>
      </dsp:nvSpPr>
      <dsp:spPr>
        <a:xfrm>
          <a:off x="0" y="2752343"/>
          <a:ext cx="6263640" cy="275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dirty="0"/>
            <a:t>Achieved statuses</a:t>
          </a:r>
          <a:r>
            <a:rPr lang="en-US" sz="3500" kern="1200" dirty="0"/>
            <a:t>: Social positions that are believed to be acquired through an individual’s own efforts, actions, or choices.</a:t>
          </a:r>
        </a:p>
      </dsp:txBody>
      <dsp:txXfrm>
        <a:off x="0" y="2752343"/>
        <a:ext cx="6263640" cy="27523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835EB3-382B-4C06-95F9-2BCA9A85089D}">
      <dsp:nvSpPr>
        <dsp:cNvPr id="0" name=""/>
        <dsp:cNvSpPr/>
      </dsp:nvSpPr>
      <dsp:spPr>
        <a:xfrm>
          <a:off x="0" y="0"/>
          <a:ext cx="626364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9D1DAB-7F0C-49FD-9E19-376C38DD9B0C}">
      <dsp:nvSpPr>
        <dsp:cNvPr id="0" name=""/>
        <dsp:cNvSpPr/>
      </dsp:nvSpPr>
      <dsp:spPr>
        <a:xfrm>
          <a:off x="0" y="0"/>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Being seen as an “open body”</a:t>
          </a:r>
        </a:p>
      </dsp:txBody>
      <dsp:txXfrm>
        <a:off x="0" y="0"/>
        <a:ext cx="6263640" cy="1376171"/>
      </dsp:txXfrm>
    </dsp:sp>
    <dsp:sp modelId="{3D2F7AB5-62B9-4A2F-8FEE-D35D65589D2D}">
      <dsp:nvSpPr>
        <dsp:cNvPr id="0" name=""/>
        <dsp:cNvSpPr/>
      </dsp:nvSpPr>
      <dsp:spPr>
        <a:xfrm>
          <a:off x="0" y="1376171"/>
          <a:ext cx="626364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06990B-A7B8-486D-BC7E-16AF4DBEAC75}">
      <dsp:nvSpPr>
        <dsp:cNvPr id="0" name=""/>
        <dsp:cNvSpPr/>
      </dsp:nvSpPr>
      <dsp:spPr>
        <a:xfrm>
          <a:off x="0" y="1376171"/>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Invisibility</a:t>
          </a:r>
        </a:p>
      </dsp:txBody>
      <dsp:txXfrm>
        <a:off x="0" y="1376171"/>
        <a:ext cx="6263640" cy="1376171"/>
      </dsp:txXfrm>
    </dsp:sp>
    <dsp:sp modelId="{44B1B2E4-56D7-4773-B4D0-C7D44CE795E4}">
      <dsp:nvSpPr>
        <dsp:cNvPr id="0" name=""/>
        <dsp:cNvSpPr/>
      </dsp:nvSpPr>
      <dsp:spPr>
        <a:xfrm>
          <a:off x="0" y="2752343"/>
          <a:ext cx="6263640"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D87656-A8F7-4925-A7ED-D987CDEBDEF9}">
      <dsp:nvSpPr>
        <dsp:cNvPr id="0" name=""/>
        <dsp:cNvSpPr/>
      </dsp:nvSpPr>
      <dsp:spPr>
        <a:xfrm>
          <a:off x="0" y="2752343"/>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Courtesy Stigma: stigma that is extended to associates</a:t>
          </a:r>
        </a:p>
      </dsp:txBody>
      <dsp:txXfrm>
        <a:off x="0" y="2752343"/>
        <a:ext cx="6263640" cy="1376171"/>
      </dsp:txXfrm>
    </dsp:sp>
    <dsp:sp modelId="{B9AF0079-D678-41F6-A063-0D36E50BA857}">
      <dsp:nvSpPr>
        <dsp:cNvPr id="0" name=""/>
        <dsp:cNvSpPr/>
      </dsp:nvSpPr>
      <dsp:spPr>
        <a:xfrm>
          <a:off x="0" y="4128515"/>
          <a:ext cx="626364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121055-9C18-45C6-9266-776587C7EDB7}">
      <dsp:nvSpPr>
        <dsp:cNvPr id="0" name=""/>
        <dsp:cNvSpPr/>
      </dsp:nvSpPr>
      <dsp:spPr>
        <a:xfrm>
          <a:off x="0" y="4128515"/>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Avoidance</a:t>
          </a:r>
        </a:p>
      </dsp:txBody>
      <dsp:txXfrm>
        <a:off x="0" y="4128515"/>
        <a:ext cx="6263640" cy="137617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00953B-F108-45FE-8AA6-462FF6986892}" type="datetimeFigureOut">
              <a:rPr lang="en-GB" smtClean="0"/>
              <a:pPr/>
              <a:t>12/08/2026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35D7E80-62F6-4E05-B202-A8B76BE616E2}"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Four images of the human body showing the skeletal and muscular systems</a:t>
            </a:r>
          </a:p>
        </p:txBody>
      </p:sp>
      <p:sp>
        <p:nvSpPr>
          <p:cNvPr id="4" name="Slide Number Placeholder 3"/>
          <p:cNvSpPr>
            <a:spLocks noGrp="1"/>
          </p:cNvSpPr>
          <p:nvPr>
            <p:ph type="sldNum" sz="quarter" idx="10"/>
          </p:nvPr>
        </p:nvSpPr>
        <p:spPr/>
        <p:txBody>
          <a:bodyPr/>
          <a:lstStyle/>
          <a:p>
            <a:fld id="{B35D7E80-62F6-4E05-B202-A8B76BE616E2}" type="slidenum">
              <a:rPr lang="en-GB" smtClean="0"/>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Painting “Examination of a Witch” by Matteson and a poster from a US Eugenics Society</a:t>
            </a:r>
          </a:p>
        </p:txBody>
      </p:sp>
      <p:sp>
        <p:nvSpPr>
          <p:cNvPr id="4" name="Slide Number Placeholder 3"/>
          <p:cNvSpPr>
            <a:spLocks noGrp="1"/>
          </p:cNvSpPr>
          <p:nvPr>
            <p:ph type="sldNum" sz="quarter" idx="5"/>
          </p:nvPr>
        </p:nvSpPr>
        <p:spPr/>
        <p:txBody>
          <a:bodyPr/>
          <a:lstStyle/>
          <a:p>
            <a:fld id="{B35D7E80-62F6-4E05-B202-A8B76BE616E2}" type="slidenum">
              <a:rPr lang="en-GB" smtClean="0"/>
              <a:pPr/>
              <a:t>4</a:t>
            </a:fld>
            <a:endParaRPr lang="en-GB"/>
          </a:p>
        </p:txBody>
      </p:sp>
    </p:spTree>
    <p:extLst>
      <p:ext uri="{BB962C8B-B14F-4D97-AF65-F5344CB8AC3E}">
        <p14:creationId xmlns:p14="http://schemas.microsoft.com/office/powerpoint/2010/main" val="387970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Yale study of High School bullying 2015</a:t>
            </a:r>
          </a:p>
        </p:txBody>
      </p:sp>
      <p:sp>
        <p:nvSpPr>
          <p:cNvPr id="4" name="Slide Number Placeholder 3"/>
          <p:cNvSpPr>
            <a:spLocks noGrp="1"/>
          </p:cNvSpPr>
          <p:nvPr>
            <p:ph type="sldNum" sz="quarter" idx="10"/>
          </p:nvPr>
        </p:nvSpPr>
        <p:spPr/>
        <p:txBody>
          <a:bodyPr/>
          <a:lstStyle/>
          <a:p>
            <a:fld id="{B35D7E80-62F6-4E05-B202-A8B76BE616E2}" type="slidenum">
              <a:rPr lang="en-GB" smtClean="0"/>
              <a:pPr/>
              <a:t>9</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Image taken from an advertisement for prosthetic eyes</a:t>
            </a:r>
          </a:p>
        </p:txBody>
      </p:sp>
      <p:sp>
        <p:nvSpPr>
          <p:cNvPr id="4" name="Slide Number Placeholder 3"/>
          <p:cNvSpPr>
            <a:spLocks noGrp="1"/>
          </p:cNvSpPr>
          <p:nvPr>
            <p:ph type="sldNum" sz="quarter" idx="5"/>
          </p:nvPr>
        </p:nvSpPr>
        <p:spPr/>
        <p:txBody>
          <a:bodyPr/>
          <a:lstStyle/>
          <a:p>
            <a:fld id="{B35D7E80-62F6-4E05-B202-A8B76BE616E2}" type="slidenum">
              <a:rPr lang="en-GB" smtClean="0"/>
              <a:pPr/>
              <a:t>13</a:t>
            </a:fld>
            <a:endParaRPr lang="en-GB"/>
          </a:p>
        </p:txBody>
      </p:sp>
    </p:spTree>
    <p:extLst>
      <p:ext uri="{BB962C8B-B14F-4D97-AF65-F5344CB8AC3E}">
        <p14:creationId xmlns:p14="http://schemas.microsoft.com/office/powerpoint/2010/main" val="848661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of a wheelchair user in front of a set of stairs</a:t>
            </a:r>
          </a:p>
        </p:txBody>
      </p:sp>
      <p:sp>
        <p:nvSpPr>
          <p:cNvPr id="4" name="Slide Number Placeholder 3"/>
          <p:cNvSpPr>
            <a:spLocks noGrp="1"/>
          </p:cNvSpPr>
          <p:nvPr>
            <p:ph type="sldNum" sz="quarter" idx="5"/>
          </p:nvPr>
        </p:nvSpPr>
        <p:spPr/>
        <p:txBody>
          <a:bodyPr/>
          <a:lstStyle/>
          <a:p>
            <a:fld id="{B35D7E80-62F6-4E05-B202-A8B76BE616E2}" type="slidenum">
              <a:rPr lang="en-GB" smtClean="0"/>
              <a:pPr/>
              <a:t>19</a:t>
            </a:fld>
            <a:endParaRPr lang="en-GB"/>
          </a:p>
        </p:txBody>
      </p:sp>
    </p:spTree>
    <p:extLst>
      <p:ext uri="{BB962C8B-B14F-4D97-AF65-F5344CB8AC3E}">
        <p14:creationId xmlns:p14="http://schemas.microsoft.com/office/powerpoint/2010/main" val="932862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1978 Transportation Protest</a:t>
            </a:r>
          </a:p>
        </p:txBody>
      </p:sp>
      <p:sp>
        <p:nvSpPr>
          <p:cNvPr id="4" name="Slide Number Placeholder 3"/>
          <p:cNvSpPr>
            <a:spLocks noGrp="1"/>
          </p:cNvSpPr>
          <p:nvPr>
            <p:ph type="sldNum" sz="quarter" idx="5"/>
          </p:nvPr>
        </p:nvSpPr>
        <p:spPr/>
        <p:txBody>
          <a:bodyPr/>
          <a:lstStyle/>
          <a:p>
            <a:fld id="{B35D7E80-62F6-4E05-B202-A8B76BE616E2}" type="slidenum">
              <a:rPr lang="en-GB" smtClean="0"/>
              <a:pPr/>
              <a:t>20</a:t>
            </a:fld>
            <a:endParaRPr lang="en-GB"/>
          </a:p>
        </p:txBody>
      </p:sp>
    </p:spTree>
    <p:extLst>
      <p:ext uri="{BB962C8B-B14F-4D97-AF65-F5344CB8AC3E}">
        <p14:creationId xmlns:p14="http://schemas.microsoft.com/office/powerpoint/2010/main" val="2117769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A5BB73A-DD9E-49C2-A3AC-7B3CA6603DB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AB69A6B-4EF8-4F00-BEE6-6698CA42FEE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D237A9B-EFC5-45C7-8EC2-F529EEA0EFB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24927A7-517A-4DE4-8FC6-5FFC6FD1381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9CAE789-3BAD-4143-971B-4864AAC3B19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C4109AA-04BC-4959-9AE1-50B3029AF215}"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03C1F9B-6194-4F72-9704-414F92F4C67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6CEADA8-F86F-4D5D-B8D2-21675BC9761D}"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5333337-D053-4EE5-A31D-A9FE9ED956C2}"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F22A4DE-095C-4F24-AFB9-1D52D3F7FBC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A41FAAC-2877-452F-B61E-D79F4B74DF1C}"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GB"/>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BD87E059-A510-413A-AD05-FB55D132FF0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65" charset="0"/>
        </a:defRPr>
      </a:lvl2pPr>
      <a:lvl3pPr algn="ctr" rtl="0" fontAlgn="base">
        <a:spcBef>
          <a:spcPct val="0"/>
        </a:spcBef>
        <a:spcAft>
          <a:spcPct val="0"/>
        </a:spcAft>
        <a:defRPr sz="4400">
          <a:solidFill>
            <a:schemeClr val="tx1"/>
          </a:solidFill>
          <a:latin typeface="Calibri" pitchFamily="-65" charset="0"/>
        </a:defRPr>
      </a:lvl3pPr>
      <a:lvl4pPr algn="ctr" rtl="0" fontAlgn="base">
        <a:spcBef>
          <a:spcPct val="0"/>
        </a:spcBef>
        <a:spcAft>
          <a:spcPct val="0"/>
        </a:spcAft>
        <a:defRPr sz="4400">
          <a:solidFill>
            <a:schemeClr val="tx1"/>
          </a:solidFill>
          <a:latin typeface="Calibri" pitchFamily="-65" charset="0"/>
        </a:defRPr>
      </a:lvl4pPr>
      <a:lvl5pPr algn="ctr" rtl="0" fontAlgn="base">
        <a:spcBef>
          <a:spcPct val="0"/>
        </a:spcBef>
        <a:spcAft>
          <a:spcPct val="0"/>
        </a:spcAft>
        <a:defRPr sz="4400">
          <a:solidFill>
            <a:schemeClr val="tx1"/>
          </a:solidFill>
          <a:latin typeface="Calibri" pitchFamily="-65" charset="0"/>
        </a:defRPr>
      </a:lvl5pPr>
      <a:lvl6pPr marL="457200" algn="ctr" rtl="0" fontAlgn="base">
        <a:spcBef>
          <a:spcPct val="0"/>
        </a:spcBef>
        <a:spcAft>
          <a:spcPct val="0"/>
        </a:spcAft>
        <a:defRPr sz="4400">
          <a:solidFill>
            <a:schemeClr val="tx1"/>
          </a:solidFill>
          <a:latin typeface="Calibri" pitchFamily="-65" charset="0"/>
        </a:defRPr>
      </a:lvl6pPr>
      <a:lvl7pPr marL="914400" algn="ctr" rtl="0" fontAlgn="base">
        <a:spcBef>
          <a:spcPct val="0"/>
        </a:spcBef>
        <a:spcAft>
          <a:spcPct val="0"/>
        </a:spcAft>
        <a:defRPr sz="4400">
          <a:solidFill>
            <a:schemeClr val="tx1"/>
          </a:solidFill>
          <a:latin typeface="Calibri" pitchFamily="-65" charset="0"/>
        </a:defRPr>
      </a:lvl7pPr>
      <a:lvl8pPr marL="1371600" algn="ctr" rtl="0" fontAlgn="base">
        <a:spcBef>
          <a:spcPct val="0"/>
        </a:spcBef>
        <a:spcAft>
          <a:spcPct val="0"/>
        </a:spcAft>
        <a:defRPr sz="4400">
          <a:solidFill>
            <a:schemeClr val="tx1"/>
          </a:solidFill>
          <a:latin typeface="Calibri" pitchFamily="-65" charset="0"/>
        </a:defRPr>
      </a:lvl8pPr>
      <a:lvl9pPr marL="1828800" algn="ctr" rtl="0" fontAlgn="base">
        <a:spcBef>
          <a:spcPct val="0"/>
        </a:spcBef>
        <a:spcAft>
          <a:spcPct val="0"/>
        </a:spcAft>
        <a:defRPr sz="4400">
          <a:solidFill>
            <a:schemeClr val="tx1"/>
          </a:solidFill>
          <a:latin typeface="Calibri" pitchFamily="-65"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Human body | Organs, Systems, Structure, Diagram, &amp; Facts ...">
            <a:extLst>
              <a:ext uri="{FF2B5EF4-FFF2-40B4-BE49-F238E27FC236}">
                <a16:creationId xmlns:a16="http://schemas.microsoft.com/office/drawing/2014/main" id="{7EED12DA-6417-9381-F921-588A81E66F1D}"/>
              </a:ext>
            </a:extLst>
          </p:cNvPr>
          <p:cNvPicPr>
            <a:picLocks noChangeAspect="1"/>
          </p:cNvPicPr>
          <p:nvPr/>
        </p:nvPicPr>
        <p:blipFill>
          <a:blip r:embed="rId3">
            <a:alphaModFix amt="50000"/>
          </a:blip>
          <a:srcRect t="376" r="-1" b="12728"/>
          <a:stretch>
            <a:fillRect/>
          </a:stretch>
        </p:blipFill>
        <p:spPr>
          <a:xfrm>
            <a:off x="20" y="10"/>
            <a:ext cx="12188930" cy="6857990"/>
          </a:xfrm>
          <a:prstGeom prst="rect">
            <a:avLst/>
          </a:prstGeom>
        </p:spPr>
      </p:pic>
      <p:sp>
        <p:nvSpPr>
          <p:cNvPr id="2" name="Title 1"/>
          <p:cNvSpPr>
            <a:spLocks noGrp="1"/>
          </p:cNvSpPr>
          <p:nvPr>
            <p:ph type="ctrTitle"/>
          </p:nvPr>
        </p:nvSpPr>
        <p:spPr>
          <a:xfrm>
            <a:off x="1524000" y="1122363"/>
            <a:ext cx="9144000" cy="3063240"/>
          </a:xfrm>
        </p:spPr>
        <p:txBody>
          <a:bodyPr>
            <a:normAutofit/>
          </a:bodyPr>
          <a:lstStyle/>
          <a:p>
            <a:r>
              <a:rPr lang="en-US" sz="6600">
                <a:solidFill>
                  <a:schemeClr val="bg1"/>
                </a:solidFill>
              </a:rPr>
              <a:t>The Deviant Body  </a:t>
            </a:r>
            <a:endParaRPr lang="en-GB" sz="6600">
              <a:solidFill>
                <a:schemeClr val="bg1"/>
              </a:solidFill>
            </a:endParaRPr>
          </a:p>
        </p:txBody>
      </p:sp>
      <p:sp>
        <p:nvSpPr>
          <p:cNvPr id="3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9C2EA8-BE4B-D514-29BB-0067D9D7BA05}"/>
              </a:ext>
            </a:extLst>
          </p:cNvPr>
          <p:cNvSpPr>
            <a:spLocks noGrp="1"/>
          </p:cNvSpPr>
          <p:nvPr>
            <p:ph type="title"/>
          </p:nvPr>
        </p:nvSpPr>
        <p:spPr>
          <a:xfrm>
            <a:off x="838200" y="365125"/>
            <a:ext cx="10515600" cy="1325563"/>
          </a:xfrm>
        </p:spPr>
        <p:txBody>
          <a:bodyPr>
            <a:normAutofit/>
          </a:bodyPr>
          <a:lstStyle/>
          <a:p>
            <a:r>
              <a:rPr lang="en-US" sz="5400" dirty="0"/>
              <a:t>Setting up our discussion</a:t>
            </a:r>
          </a:p>
        </p:txBody>
      </p:sp>
      <p:sp>
        <p:nvSpPr>
          <p:cNvPr id="68"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DA629FA-476E-3B5F-5DDE-B122FC9EDB1A}"/>
              </a:ext>
            </a:extLst>
          </p:cNvPr>
          <p:cNvGraphicFramePr>
            <a:graphicFrameLocks noGrp="1"/>
          </p:cNvGraphicFramePr>
          <p:nvPr>
            <p:ph idx="1"/>
            <p:extLst>
              <p:ext uri="{D42A27DB-BD31-4B8C-83A1-F6EECF244321}">
                <p14:modId xmlns:p14="http://schemas.microsoft.com/office/powerpoint/2010/main" val="1461302509"/>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4785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8344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96BA73-B7F9-B81F-BCCE-9B09C5F32C7F}"/>
              </a:ext>
            </a:extLst>
          </p:cNvPr>
          <p:cNvSpPr>
            <a:spLocks noGrp="1"/>
          </p:cNvSpPr>
          <p:nvPr>
            <p:ph type="title"/>
          </p:nvPr>
        </p:nvSpPr>
        <p:spPr>
          <a:xfrm>
            <a:off x="1155558" y="637762"/>
            <a:ext cx="4284397" cy="5576770"/>
          </a:xfrm>
        </p:spPr>
        <p:txBody>
          <a:bodyPr vert="horz" lIns="91440" tIns="45720" rIns="91440" bIns="45720" rtlCol="0" anchor="ctr">
            <a:normAutofit/>
          </a:bodyPr>
          <a:lstStyle/>
          <a:p>
            <a:pPr algn="l">
              <a:lnSpc>
                <a:spcPct val="90000"/>
              </a:lnSpc>
            </a:pPr>
            <a:r>
              <a:rPr lang="en-US" sz="6100" kern="1200">
                <a:solidFill>
                  <a:schemeClr val="bg1"/>
                </a:solidFill>
                <a:latin typeface="+mj-lt"/>
                <a:ea typeface="+mj-ea"/>
                <a:cs typeface="+mj-cs"/>
              </a:rPr>
              <a:t>Institutional Regulation of Bodies</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B23E57-B96C-B0FA-D69A-42AAAAA0C2D7}"/>
              </a:ext>
            </a:extLst>
          </p:cNvPr>
          <p:cNvSpPr>
            <a:spLocks noGrp="1"/>
          </p:cNvSpPr>
          <p:nvPr>
            <p:ph idx="1"/>
          </p:nvPr>
        </p:nvSpPr>
        <p:spPr>
          <a:xfrm>
            <a:off x="6739464" y="637762"/>
            <a:ext cx="4305881" cy="5860946"/>
          </a:xfrm>
        </p:spPr>
        <p:txBody>
          <a:bodyPr vert="horz" lIns="91440" tIns="45720" rIns="91440" bIns="45720" rtlCol="0" anchor="ctr">
            <a:normAutofit/>
          </a:bodyPr>
          <a:lstStyle/>
          <a:p>
            <a:pPr marL="0" indent="0">
              <a:lnSpc>
                <a:spcPct val="90000"/>
              </a:lnSpc>
              <a:spcBef>
                <a:spcPts val="1000"/>
              </a:spcBef>
              <a:buNone/>
            </a:pPr>
            <a:r>
              <a:rPr lang="en-US" sz="4000" kern="1200" dirty="0">
                <a:solidFill>
                  <a:schemeClr val="tx1"/>
                </a:solidFill>
                <a:latin typeface="+mn-lt"/>
                <a:ea typeface="+mn-ea"/>
                <a:cs typeface="+mn-cs"/>
              </a:rPr>
              <a:t>Rules, norms, and laws that control how people look, move, act, and/or use their bodies</a:t>
            </a:r>
          </a:p>
        </p:txBody>
      </p:sp>
    </p:spTree>
    <p:extLst>
      <p:ext uri="{BB962C8B-B14F-4D97-AF65-F5344CB8AC3E}">
        <p14:creationId xmlns:p14="http://schemas.microsoft.com/office/powerpoint/2010/main" val="358874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A picture containing text, book, outdoor, male&#10;&#10;Description automatically generated">
            <a:extLst>
              <a:ext uri="{FF2B5EF4-FFF2-40B4-BE49-F238E27FC236}">
                <a16:creationId xmlns:a16="http://schemas.microsoft.com/office/drawing/2014/main" id="{3D275B84-7208-1469-14FA-B6C36D1DCEEC}"/>
              </a:ext>
            </a:extLst>
          </p:cNvPr>
          <p:cNvPicPr>
            <a:picLocks noChangeAspect="1"/>
          </p:cNvPicPr>
          <p:nvPr/>
        </p:nvPicPr>
        <p:blipFill>
          <a:blip r:embed="rId3"/>
          <a:stretch>
            <a:fillRect/>
          </a:stretch>
        </p:blipFill>
        <p:spPr>
          <a:xfrm>
            <a:off x="1381278" y="1123527"/>
            <a:ext cx="3026862" cy="4604800"/>
          </a:xfrm>
          <a:prstGeom prst="rect">
            <a:avLst/>
          </a:prstGeom>
        </p:spPr>
      </p:pic>
      <p:cxnSp>
        <p:nvCxnSpPr>
          <p:cNvPr id="16" name="Straight Connector 15">
            <a:extLst>
              <a:ext uri="{FF2B5EF4-FFF2-40B4-BE49-F238E27FC236}">
                <a16:creationId xmlns:a16="http://schemas.microsoft.com/office/drawing/2014/main" id="{1C6AAE25-BD23-41B5-AAE4-1DA5898C2A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573887"/>
            <a:ext cx="0" cy="3710227"/>
          </a:xfrm>
          <a:prstGeom prst="line">
            <a:avLst/>
          </a:prstGeom>
          <a:ln w="19050">
            <a:solidFill>
              <a:srgbClr val="4E4E4E"/>
            </a:solidFill>
          </a:ln>
        </p:spPr>
        <p:style>
          <a:lnRef idx="1">
            <a:schemeClr val="accent1"/>
          </a:lnRef>
          <a:fillRef idx="0">
            <a:schemeClr val="accent1"/>
          </a:fillRef>
          <a:effectRef idx="0">
            <a:schemeClr val="accent1"/>
          </a:effectRef>
          <a:fontRef idx="minor">
            <a:schemeClr val="tx1"/>
          </a:fontRef>
        </p:style>
      </p:cxnSp>
      <p:pic>
        <p:nvPicPr>
          <p:cNvPr id="4" name="Picture 3" descr="A group of people sitting in a room&#10;&#10;Description automatically generated with medium confidence">
            <a:extLst>
              <a:ext uri="{FF2B5EF4-FFF2-40B4-BE49-F238E27FC236}">
                <a16:creationId xmlns:a16="http://schemas.microsoft.com/office/drawing/2014/main" id="{3C95DA81-B3FB-9CE4-B8F1-6002184C1F3C}"/>
              </a:ext>
            </a:extLst>
          </p:cNvPr>
          <p:cNvPicPr>
            <a:picLocks noChangeAspect="1"/>
          </p:cNvPicPr>
          <p:nvPr/>
        </p:nvPicPr>
        <p:blipFill>
          <a:blip r:embed="rId4"/>
          <a:stretch>
            <a:fillRect/>
          </a:stretch>
        </p:blipFill>
        <p:spPr>
          <a:xfrm>
            <a:off x="4886676" y="1184017"/>
            <a:ext cx="6184580" cy="4483820"/>
          </a:xfrm>
          <a:prstGeom prst="rect">
            <a:avLst/>
          </a:prstGeom>
        </p:spPr>
      </p:pic>
    </p:spTree>
    <p:extLst>
      <p:ext uri="{BB962C8B-B14F-4D97-AF65-F5344CB8AC3E}">
        <p14:creationId xmlns:p14="http://schemas.microsoft.com/office/powerpoint/2010/main" val="3330732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BE99EF0C-B86C-BD6C-7AF9-C9247A912BAA}"/>
              </a:ext>
            </a:extLst>
          </p:cNvPr>
          <p:cNvSpPr>
            <a:spLocks noGrp="1"/>
          </p:cNvSpPr>
          <p:nvPr>
            <p:ph type="title"/>
          </p:nvPr>
        </p:nvSpPr>
        <p:spPr>
          <a:xfrm>
            <a:off x="1014141" y="1450655"/>
            <a:ext cx="3932030" cy="3956690"/>
          </a:xfrm>
        </p:spPr>
        <p:txBody>
          <a:bodyPr anchor="ctr">
            <a:normAutofit/>
          </a:bodyPr>
          <a:lstStyle/>
          <a:p>
            <a:pPr>
              <a:lnSpc>
                <a:spcPct val="90000"/>
              </a:lnSpc>
            </a:pPr>
            <a:r>
              <a:rPr lang="en-US">
                <a:solidFill>
                  <a:schemeClr val="bg1"/>
                </a:solidFill>
              </a:rPr>
              <a:t>From Chicago’s Municipal Code Ordinance 1911 (sec. 36034)</a:t>
            </a: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216CD58-4409-18B6-D2EA-9AEE1851FAC6}"/>
              </a:ext>
            </a:extLst>
          </p:cNvPr>
          <p:cNvSpPr>
            <a:spLocks noGrp="1"/>
          </p:cNvSpPr>
          <p:nvPr>
            <p:ph idx="1"/>
          </p:nvPr>
        </p:nvSpPr>
        <p:spPr>
          <a:xfrm>
            <a:off x="6096000" y="1108061"/>
            <a:ext cx="5008901" cy="4571972"/>
          </a:xfrm>
        </p:spPr>
        <p:txBody>
          <a:bodyPr anchor="ctr">
            <a:normAutofit/>
          </a:bodyPr>
          <a:lstStyle/>
          <a:p>
            <a:pPr marL="0" indent="0">
              <a:buNone/>
            </a:pPr>
            <a:r>
              <a:rPr lang="en-US" sz="2400" dirty="0">
                <a:solidFill>
                  <a:schemeClr val="bg1"/>
                </a:solidFill>
              </a:rPr>
              <a:t>“ No person who is diseased, maimed, mutilated or in any way deformed so as to be an unsightly or disgusting object or improper person be allowed in or on the public ways or other public places in this city, or shall therein or thereon expose himself to public view, under a penalty of not less than one dollar nor more than fifty dollars for each offense”</a:t>
            </a:r>
          </a:p>
        </p:txBody>
      </p:sp>
    </p:spTree>
    <p:extLst>
      <p:ext uri="{BB962C8B-B14F-4D97-AF65-F5344CB8AC3E}">
        <p14:creationId xmlns:p14="http://schemas.microsoft.com/office/powerpoint/2010/main" val="3099362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02898A09-CCF3-91D5-FDB0-CE9B0030989E}"/>
              </a:ext>
            </a:extLst>
          </p:cNvPr>
          <p:cNvSpPr>
            <a:spLocks noGrp="1"/>
          </p:cNvSpPr>
          <p:nvPr>
            <p:ph type="title"/>
          </p:nvPr>
        </p:nvSpPr>
        <p:spPr>
          <a:xfrm>
            <a:off x="1014141" y="1450655"/>
            <a:ext cx="3932030" cy="3956690"/>
          </a:xfrm>
        </p:spPr>
        <p:txBody>
          <a:bodyPr anchor="ctr">
            <a:normAutofit/>
          </a:bodyPr>
          <a:lstStyle/>
          <a:p>
            <a:r>
              <a:rPr lang="en-US" sz="7400">
                <a:solidFill>
                  <a:schemeClr val="bg1"/>
                </a:solidFill>
              </a:rPr>
              <a:t>Elements of Deviance</a:t>
            </a: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5BB7007-1949-A4C5-00CD-4D76915C599D}"/>
              </a:ext>
            </a:extLst>
          </p:cNvPr>
          <p:cNvSpPr>
            <a:spLocks noGrp="1"/>
          </p:cNvSpPr>
          <p:nvPr>
            <p:ph idx="1"/>
          </p:nvPr>
        </p:nvSpPr>
        <p:spPr>
          <a:xfrm>
            <a:off x="6096000" y="1108061"/>
            <a:ext cx="5008901" cy="4571972"/>
          </a:xfrm>
        </p:spPr>
        <p:txBody>
          <a:bodyPr anchor="ctr">
            <a:normAutofit/>
          </a:bodyPr>
          <a:lstStyle/>
          <a:p>
            <a:r>
              <a:rPr lang="en-US" dirty="0">
                <a:solidFill>
                  <a:schemeClr val="bg1"/>
                </a:solidFill>
              </a:rPr>
              <a:t>A norm must exist (about attitudes, behaviors, or characteristics)</a:t>
            </a:r>
          </a:p>
          <a:p>
            <a:r>
              <a:rPr lang="en-US" dirty="0">
                <a:solidFill>
                  <a:schemeClr val="bg1"/>
                </a:solidFill>
              </a:rPr>
              <a:t>The norm must be broken (or believed to be broken)</a:t>
            </a:r>
          </a:p>
          <a:p>
            <a:r>
              <a:rPr lang="en-US" dirty="0">
                <a:solidFill>
                  <a:schemeClr val="bg1"/>
                </a:solidFill>
              </a:rPr>
              <a:t>A social audience must react negatively (apply social control)</a:t>
            </a:r>
          </a:p>
        </p:txBody>
      </p:sp>
    </p:spTree>
    <p:extLst>
      <p:ext uri="{BB962C8B-B14F-4D97-AF65-F5344CB8AC3E}">
        <p14:creationId xmlns:p14="http://schemas.microsoft.com/office/powerpoint/2010/main" val="1658588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E7907E6-4C00-63ED-7B4A-8DCCBB5C9D78}"/>
              </a:ext>
            </a:extLst>
          </p:cNvPr>
          <p:cNvPicPr>
            <a:picLocks noChangeAspect="1"/>
          </p:cNvPicPr>
          <p:nvPr/>
        </p:nvPicPr>
        <p:blipFill>
          <a:blip r:embed="rId2">
            <a:duotone>
              <a:schemeClr val="bg2">
                <a:shade val="45000"/>
                <a:satMod val="135000"/>
              </a:schemeClr>
              <a:prstClr val="white"/>
            </a:duotone>
          </a:blip>
          <a:srcRect t="13994" r="9091" b="9109"/>
          <a:stretch>
            <a:fillRect/>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F60C7A-1D80-D739-4CD6-7B311C361190}"/>
              </a:ext>
            </a:extLst>
          </p:cNvPr>
          <p:cNvSpPr>
            <a:spLocks noGrp="1"/>
          </p:cNvSpPr>
          <p:nvPr>
            <p:ph type="title"/>
          </p:nvPr>
        </p:nvSpPr>
        <p:spPr>
          <a:xfrm>
            <a:off x="838200" y="365125"/>
            <a:ext cx="10515600" cy="1325563"/>
          </a:xfrm>
        </p:spPr>
        <p:txBody>
          <a:bodyPr>
            <a:normAutofit/>
          </a:bodyPr>
          <a:lstStyle/>
          <a:p>
            <a:r>
              <a:rPr lang="en-US"/>
              <a:t>Dimensions of Physical Deviance</a:t>
            </a:r>
          </a:p>
        </p:txBody>
      </p:sp>
      <p:graphicFrame>
        <p:nvGraphicFramePr>
          <p:cNvPr id="5" name="Content Placeholder 2">
            <a:extLst>
              <a:ext uri="{FF2B5EF4-FFF2-40B4-BE49-F238E27FC236}">
                <a16:creationId xmlns:a16="http://schemas.microsoft.com/office/drawing/2014/main" id="{B76EA14D-7EDB-9FC8-168C-505017FB4887}"/>
              </a:ext>
            </a:extLst>
          </p:cNvPr>
          <p:cNvGraphicFramePr>
            <a:graphicFrameLocks noGrp="1"/>
          </p:cNvGraphicFramePr>
          <p:nvPr>
            <p:ph idx="1"/>
            <p:extLst>
              <p:ext uri="{D42A27DB-BD31-4B8C-83A1-F6EECF244321}">
                <p14:modId xmlns:p14="http://schemas.microsoft.com/office/powerpoint/2010/main" val="419963253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30397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Title 4">
            <a:extLst>
              <a:ext uri="{FF2B5EF4-FFF2-40B4-BE49-F238E27FC236}">
                <a16:creationId xmlns:a16="http://schemas.microsoft.com/office/drawing/2014/main" id="{545B72BD-446C-21ED-B5FB-0AD8B012D9BC}"/>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rPr>
              <a:t>Aesthetic Ideals</a:t>
            </a:r>
          </a:p>
        </p:txBody>
      </p:sp>
      <p:cxnSp>
        <p:nvCxnSpPr>
          <p:cNvPr id="27" name="Straight Connector 26">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3E4D1194-E9F8-D577-3149-781EC90EBAEB}"/>
              </a:ext>
            </a:extLst>
          </p:cNvPr>
          <p:cNvSpPr>
            <a:spLocks noGrp="1"/>
          </p:cNvSpPr>
          <p:nvPr>
            <p:ph idx="1"/>
          </p:nvPr>
        </p:nvSpPr>
        <p:spPr>
          <a:xfrm>
            <a:off x="1392667" y="2398957"/>
            <a:ext cx="9406666" cy="3526144"/>
          </a:xfrm>
        </p:spPr>
        <p:txBody>
          <a:bodyPr>
            <a:normAutofit/>
          </a:bodyPr>
          <a:lstStyle/>
          <a:p>
            <a:r>
              <a:rPr lang="en-US" sz="2400" b="1" i="1" dirty="0">
                <a:solidFill>
                  <a:schemeClr val="bg1"/>
                </a:solidFill>
              </a:rPr>
              <a:t>Beauty Culture</a:t>
            </a:r>
            <a:r>
              <a:rPr lang="en-US" sz="2400" b="1" dirty="0">
                <a:solidFill>
                  <a:schemeClr val="bg1"/>
                </a:solidFill>
              </a:rPr>
              <a:t>: the values, norms, and material goods in support of a culture-specific aesthetic ideal</a:t>
            </a:r>
          </a:p>
          <a:p>
            <a:r>
              <a:rPr lang="en-US" sz="2400" b="1" i="1" dirty="0">
                <a:solidFill>
                  <a:schemeClr val="bg1"/>
                </a:solidFill>
              </a:rPr>
              <a:t>Lookism</a:t>
            </a:r>
            <a:r>
              <a:rPr lang="en-US" sz="2400" b="1" dirty="0">
                <a:solidFill>
                  <a:schemeClr val="bg1"/>
                </a:solidFill>
              </a:rPr>
              <a:t>: discriminatory treatment towards people who are evaluated as not meeting a society’s beauty standard</a:t>
            </a:r>
          </a:p>
          <a:p>
            <a:r>
              <a:rPr lang="en-US" sz="2400" b="1" i="1" dirty="0">
                <a:solidFill>
                  <a:schemeClr val="bg1"/>
                </a:solidFill>
              </a:rPr>
              <a:t>“Beauty premium</a:t>
            </a:r>
            <a:r>
              <a:rPr lang="en-US" sz="2400" b="1" dirty="0">
                <a:solidFill>
                  <a:schemeClr val="bg1"/>
                </a:solidFill>
              </a:rPr>
              <a:t>”: economic advantages for people who meet a society’s beauty standard</a:t>
            </a:r>
          </a:p>
          <a:p>
            <a:r>
              <a:rPr lang="en-US" sz="2400" b="1" dirty="0">
                <a:solidFill>
                  <a:schemeClr val="bg1"/>
                </a:solidFill>
              </a:rPr>
              <a:t>“</a:t>
            </a:r>
            <a:r>
              <a:rPr lang="en-US" sz="2400" b="1" i="1" dirty="0">
                <a:solidFill>
                  <a:schemeClr val="bg1"/>
                </a:solidFill>
              </a:rPr>
              <a:t>Halo Effect</a:t>
            </a:r>
            <a:r>
              <a:rPr lang="en-US" sz="2400" b="1" dirty="0">
                <a:solidFill>
                  <a:schemeClr val="bg1"/>
                </a:solidFill>
              </a:rPr>
              <a:t>”: the attribution of positive personal qualities to  people who meet a society’s beauty standard</a:t>
            </a:r>
          </a:p>
          <a:p>
            <a:endParaRPr lang="en-US" sz="2000" dirty="0">
              <a:solidFill>
                <a:schemeClr val="bg1"/>
              </a:solidFill>
            </a:endParaRPr>
          </a:p>
        </p:txBody>
      </p:sp>
      <p:sp>
        <p:nvSpPr>
          <p:cNvPr id="29" name="Rectangle 28">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098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8" name="Picture 7" descr="Diagram, website, calendar&#10;&#10;Description automatically generated">
            <a:extLst>
              <a:ext uri="{FF2B5EF4-FFF2-40B4-BE49-F238E27FC236}">
                <a16:creationId xmlns:a16="http://schemas.microsoft.com/office/drawing/2014/main" id="{6EA33893-631A-7B23-93C1-A9C854EAC048}"/>
              </a:ext>
            </a:extLst>
          </p:cNvPr>
          <p:cNvPicPr>
            <a:picLocks noChangeAspect="1"/>
          </p:cNvPicPr>
          <p:nvPr/>
        </p:nvPicPr>
        <p:blipFill>
          <a:blip r:embed="rId3"/>
          <a:srcRect t="5513" b="3778"/>
          <a:stretch>
            <a:fillRect/>
          </a:stretch>
        </p:blipFill>
        <p:spPr>
          <a:xfrm>
            <a:off x="20" y="1282"/>
            <a:ext cx="12191980" cy="68567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49C85B0-84B1-8028-BB28-A25F2115C4BE}"/>
              </a:ext>
            </a:extLst>
          </p:cNvPr>
          <p:cNvSpPr>
            <a:spLocks noGrp="1"/>
          </p:cNvSpPr>
          <p:nvPr>
            <p:ph type="title"/>
          </p:nvPr>
        </p:nvSpPr>
        <p:spPr>
          <a:xfrm>
            <a:off x="838200" y="557189"/>
            <a:ext cx="3374136" cy="5567891"/>
          </a:xfrm>
        </p:spPr>
        <p:txBody>
          <a:bodyPr>
            <a:normAutofit/>
          </a:bodyPr>
          <a:lstStyle/>
          <a:p>
            <a:r>
              <a:rPr lang="en-US" sz="5200"/>
              <a:t>Status: any named social position a person can occupy</a:t>
            </a:r>
          </a:p>
        </p:txBody>
      </p:sp>
      <p:graphicFrame>
        <p:nvGraphicFramePr>
          <p:cNvPr id="7" name="Content Placeholder 4">
            <a:extLst>
              <a:ext uri="{FF2B5EF4-FFF2-40B4-BE49-F238E27FC236}">
                <a16:creationId xmlns:a16="http://schemas.microsoft.com/office/drawing/2014/main" id="{967ACA33-537C-9932-C62F-2343EEBD59A5}"/>
              </a:ext>
            </a:extLst>
          </p:cNvPr>
          <p:cNvGraphicFramePr>
            <a:graphicFrameLocks noGrp="1"/>
          </p:cNvGraphicFramePr>
          <p:nvPr>
            <p:ph idx="1"/>
            <p:extLst>
              <p:ext uri="{D42A27DB-BD31-4B8C-83A1-F6EECF244321}">
                <p14:modId xmlns:p14="http://schemas.microsoft.com/office/powerpoint/2010/main" val="1428098757"/>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1059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1028700" y="1967266"/>
            <a:ext cx="2628900" cy="2547257"/>
          </a:xfrm>
          <a:noFill/>
        </p:spPr>
        <p:txBody>
          <a:bodyPr vert="horz" lIns="91440" tIns="45720" rIns="91440" bIns="45720" numCol="1" rtlCol="0" anchor="ctr" anchorCtr="0" compatLnSpc="1">
            <a:prstTxWarp prst="textNoShape">
              <a:avLst/>
            </a:prstTxWarp>
            <a:normAutofit/>
          </a:bodyPr>
          <a:lstStyle/>
          <a:p>
            <a:pPr>
              <a:lnSpc>
                <a:spcPct val="90000"/>
              </a:lnSpc>
            </a:pPr>
            <a:r>
              <a:rPr lang="en-US" sz="3300" kern="1200">
                <a:solidFill>
                  <a:srgbClr val="FFFFFF"/>
                </a:solidFill>
                <a:latin typeface="+mj-lt"/>
                <a:ea typeface="+mj-ea"/>
                <a:cs typeface="+mj-cs"/>
              </a:rPr>
              <a:t>Body modifications: deviance in decline?</a:t>
            </a:r>
          </a:p>
        </p:txBody>
      </p:sp>
      <p:pic>
        <p:nvPicPr>
          <p:cNvPr id="3" name="Picture 2" descr="A graph of tattooing on a white background&#10;&#10;Description automatically generated with medium confidence">
            <a:extLst>
              <a:ext uri="{FF2B5EF4-FFF2-40B4-BE49-F238E27FC236}">
                <a16:creationId xmlns:a16="http://schemas.microsoft.com/office/drawing/2014/main" id="{15E7AFBD-ABB3-46FD-52DB-8F9B61BF578B}"/>
              </a:ext>
            </a:extLst>
          </p:cNvPr>
          <p:cNvPicPr>
            <a:picLocks noChangeAspect="1"/>
          </p:cNvPicPr>
          <p:nvPr/>
        </p:nvPicPr>
        <p:blipFill>
          <a:blip r:embed="rId2"/>
          <a:stretch>
            <a:fillRect/>
          </a:stretch>
        </p:blipFill>
        <p:spPr>
          <a:xfrm>
            <a:off x="5640850" y="643466"/>
            <a:ext cx="6017749" cy="598593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76EDCE96-7E04-64D9-F97C-5CB135ECB4F5}"/>
              </a:ext>
            </a:extLst>
          </p:cNvPr>
          <p:cNvSpPr>
            <a:spLocks noGrp="1"/>
          </p:cNvSpPr>
          <p:nvPr>
            <p:ph type="title"/>
          </p:nvPr>
        </p:nvSpPr>
        <p:spPr>
          <a:xfrm>
            <a:off x="1014141" y="1450655"/>
            <a:ext cx="3932030" cy="3956690"/>
          </a:xfrm>
        </p:spPr>
        <p:txBody>
          <a:bodyPr anchor="ctr">
            <a:normAutofit/>
          </a:bodyPr>
          <a:lstStyle/>
          <a:p>
            <a:pPr>
              <a:lnSpc>
                <a:spcPct val="90000"/>
              </a:lnSpc>
            </a:pPr>
            <a:r>
              <a:rPr lang="en-US" sz="3200" b="1" dirty="0">
                <a:solidFill>
                  <a:schemeClr val="bg1"/>
                </a:solidFill>
              </a:rPr>
              <a:t>Stigma</a:t>
            </a:r>
            <a:r>
              <a:rPr lang="en-US" sz="3200" dirty="0">
                <a:solidFill>
                  <a:schemeClr val="bg1"/>
                </a:solidFill>
              </a:rPr>
              <a:t>: a deeply discrediting quality that is viewed as an obstacle to competence, trust, or group membership</a:t>
            </a:r>
            <a:br>
              <a:rPr lang="en-US" sz="3200" dirty="0">
                <a:solidFill>
                  <a:schemeClr val="bg1"/>
                </a:solidFill>
              </a:rPr>
            </a:br>
            <a:r>
              <a:rPr lang="en-US" sz="3200" dirty="0">
                <a:solidFill>
                  <a:schemeClr val="bg1"/>
                </a:solidFill>
              </a:rPr>
              <a:t>(Goffman)</a:t>
            </a:r>
          </a:p>
        </p:txBody>
      </p:sp>
      <p:cxnSp>
        <p:nvCxnSpPr>
          <p:cNvPr id="24" name="Straight Connector 23">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9AA6678-7C1C-552F-595B-17678F521EB1}"/>
              </a:ext>
            </a:extLst>
          </p:cNvPr>
          <p:cNvSpPr>
            <a:spLocks noGrp="1"/>
          </p:cNvSpPr>
          <p:nvPr>
            <p:ph idx="1"/>
          </p:nvPr>
        </p:nvSpPr>
        <p:spPr>
          <a:xfrm>
            <a:off x="6096000" y="1108061"/>
            <a:ext cx="5008901" cy="4571972"/>
          </a:xfrm>
        </p:spPr>
        <p:txBody>
          <a:bodyPr anchor="ctr">
            <a:normAutofit/>
          </a:bodyPr>
          <a:lstStyle/>
          <a:p>
            <a:r>
              <a:rPr lang="en-US" sz="2800" b="1" dirty="0">
                <a:solidFill>
                  <a:schemeClr val="bg1"/>
                </a:solidFill>
              </a:rPr>
              <a:t>Blemishes of Individual Character</a:t>
            </a:r>
            <a:r>
              <a:rPr lang="en-US" sz="2800" dirty="0">
                <a:solidFill>
                  <a:schemeClr val="bg1"/>
                </a:solidFill>
              </a:rPr>
              <a:t>: personal qualities and behaviors that risk disqualification</a:t>
            </a:r>
          </a:p>
          <a:p>
            <a:r>
              <a:rPr lang="en-US" sz="2800" b="1" dirty="0">
                <a:solidFill>
                  <a:schemeClr val="bg1"/>
                </a:solidFill>
              </a:rPr>
              <a:t>Stigma of Tribe</a:t>
            </a:r>
            <a:r>
              <a:rPr lang="en-US" sz="2800" dirty="0">
                <a:solidFill>
                  <a:schemeClr val="bg1"/>
                </a:solidFill>
              </a:rPr>
              <a:t>: group affiliations that risk disqualification</a:t>
            </a:r>
          </a:p>
          <a:p>
            <a:r>
              <a:rPr lang="en-US" sz="2800" b="1" dirty="0">
                <a:solidFill>
                  <a:schemeClr val="bg1"/>
                </a:solidFill>
              </a:rPr>
              <a:t>Abominations of the Body</a:t>
            </a:r>
            <a:r>
              <a:rPr lang="en-US" sz="2800" dirty="0">
                <a:solidFill>
                  <a:schemeClr val="bg1"/>
                </a:solidFill>
              </a:rPr>
              <a:t>: physical characteristics that risk disqualification</a:t>
            </a:r>
          </a:p>
        </p:txBody>
      </p:sp>
    </p:spTree>
    <p:extLst>
      <p:ext uri="{BB962C8B-B14F-4D97-AF65-F5344CB8AC3E}">
        <p14:creationId xmlns:p14="http://schemas.microsoft.com/office/powerpoint/2010/main" val="279170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4654285"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p:cNvSpPr>
            <a:spLocks noGrp="1"/>
          </p:cNvSpPr>
          <p:nvPr>
            <p:ph type="title"/>
          </p:nvPr>
        </p:nvSpPr>
        <p:spPr>
          <a:xfrm>
            <a:off x="1156851" y="637763"/>
            <a:ext cx="2910051" cy="5576768"/>
          </a:xfrm>
        </p:spPr>
        <p:txBody>
          <a:bodyPr anchor="t">
            <a:normAutofit/>
          </a:bodyPr>
          <a:lstStyle/>
          <a:p>
            <a:pPr algn="l"/>
            <a:r>
              <a:rPr lang="en-US" sz="4800">
                <a:solidFill>
                  <a:schemeClr val="bg1"/>
                </a:solidFill>
              </a:rPr>
              <a:t>Stigma Sign: a socially significant visual mark of  difference </a:t>
            </a:r>
            <a:endParaRPr lang="en-GB" sz="4800">
              <a:solidFill>
                <a:schemeClr val="bg1"/>
              </a:solidFill>
            </a:endParaRPr>
          </a:p>
        </p:txBody>
      </p:sp>
      <p:sp>
        <p:nvSpPr>
          <p:cNvPr id="19" name="Rectangle 18">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2118" y="0"/>
            <a:ext cx="7529872"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prosthetic eye.jpg">
            <a:extLst>
              <a:ext uri="{FF2B5EF4-FFF2-40B4-BE49-F238E27FC236}">
                <a16:creationId xmlns:a16="http://schemas.microsoft.com/office/drawing/2014/main" id="{029C5B7A-DA9D-6992-4E82-9B5EACDBBFDA}"/>
              </a:ext>
            </a:extLst>
          </p:cNvPr>
          <p:cNvPicPr>
            <a:picLocks noChangeAspect="1"/>
          </p:cNvPicPr>
          <p:nvPr/>
        </p:nvPicPr>
        <p:blipFill>
          <a:blip r:embed="rId3"/>
          <a:srcRect t="6599" b="357"/>
          <a:stretch>
            <a:fillRect/>
          </a:stretch>
        </p:blipFill>
        <p:spPr>
          <a:xfrm>
            <a:off x="5439976" y="637762"/>
            <a:ext cx="5592818" cy="2927110"/>
          </a:xfrm>
          <a:prstGeom prst="rect">
            <a:avLst/>
          </a:prstGeom>
        </p:spPr>
      </p:pic>
      <p:sp>
        <p:nvSpPr>
          <p:cNvPr id="21" name="Rectangle 20">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6" y="3996909"/>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D2CC4168-D38A-BC55-753F-B804F1B8FC1B}"/>
              </a:ext>
            </a:extLst>
          </p:cNvPr>
          <p:cNvSpPr>
            <a:spLocks noGrp="1"/>
          </p:cNvSpPr>
          <p:nvPr>
            <p:ph idx="1"/>
          </p:nvPr>
        </p:nvSpPr>
        <p:spPr>
          <a:xfrm>
            <a:off x="5439976" y="4202634"/>
            <a:ext cx="5592818" cy="2011897"/>
          </a:xfrm>
        </p:spPr>
        <p:txBody>
          <a:bodyPr>
            <a:normAutofit/>
          </a:bodyPr>
          <a:lstStyle/>
          <a:p>
            <a:pPr>
              <a:lnSpc>
                <a:spcPct val="90000"/>
              </a:lnSpc>
            </a:pPr>
            <a:r>
              <a:rPr lang="en-US" dirty="0"/>
              <a:t>Discredited: open or obvious cues</a:t>
            </a:r>
          </a:p>
          <a:p>
            <a:pPr>
              <a:lnSpc>
                <a:spcPct val="90000"/>
              </a:lnSpc>
            </a:pPr>
            <a:r>
              <a:rPr lang="en-US" dirty="0"/>
              <a:t>Discreditable: hidden/able to be hidden cues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24E27F-6B92-0E06-16B5-2CD2DC98467C}"/>
              </a:ext>
            </a:extLst>
          </p:cNvPr>
          <p:cNvSpPr>
            <a:spLocks noGrp="1"/>
          </p:cNvSpPr>
          <p:nvPr>
            <p:ph type="title"/>
          </p:nvPr>
        </p:nvSpPr>
        <p:spPr>
          <a:xfrm>
            <a:off x="838200" y="557189"/>
            <a:ext cx="3374136" cy="5567891"/>
          </a:xfrm>
        </p:spPr>
        <p:txBody>
          <a:bodyPr>
            <a:normAutofit/>
          </a:bodyPr>
          <a:lstStyle/>
          <a:p>
            <a:r>
              <a:rPr lang="en-US" sz="4800"/>
              <a:t>Experiencing Stigma</a:t>
            </a:r>
          </a:p>
        </p:txBody>
      </p:sp>
      <p:graphicFrame>
        <p:nvGraphicFramePr>
          <p:cNvPr id="5" name="Content Placeholder 2">
            <a:extLst>
              <a:ext uri="{FF2B5EF4-FFF2-40B4-BE49-F238E27FC236}">
                <a16:creationId xmlns:a16="http://schemas.microsoft.com/office/drawing/2014/main" id="{6552EFE2-491F-13D3-45BA-06E35478F5C7}"/>
              </a:ext>
            </a:extLst>
          </p:cNvPr>
          <p:cNvGraphicFramePr>
            <a:graphicFrameLocks noGrp="1"/>
          </p:cNvGraphicFramePr>
          <p:nvPr>
            <p:ph idx="1"/>
            <p:extLst>
              <p:ext uri="{D42A27DB-BD31-4B8C-83A1-F6EECF244321}">
                <p14:modId xmlns:p14="http://schemas.microsoft.com/office/powerpoint/2010/main" val="1757923190"/>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8087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bogardus scales.jpg"/>
          <p:cNvPicPr>
            <a:picLocks noChangeAspect="1"/>
          </p:cNvPicPr>
          <p:nvPr/>
        </p:nvPicPr>
        <p:blipFill>
          <a:blip r:embed="rId2"/>
          <a:stretch>
            <a:fillRect/>
          </a:stretch>
        </p:blipFill>
        <p:spPr>
          <a:xfrm>
            <a:off x="643467" y="1444625"/>
            <a:ext cx="5291666" cy="3968749"/>
          </a:xfrm>
          <a:prstGeom prst="rect">
            <a:avLst/>
          </a:prstGeom>
        </p:spPr>
      </p:pic>
      <p:pic>
        <p:nvPicPr>
          <p:cNvPr id="8" name="Picture 7" descr="social distance scale.jpg"/>
          <p:cNvPicPr>
            <a:picLocks noChangeAspect="1"/>
          </p:cNvPicPr>
          <p:nvPr/>
        </p:nvPicPr>
        <p:blipFill>
          <a:blip r:embed="rId3"/>
          <a:stretch>
            <a:fillRect/>
          </a:stretch>
        </p:blipFill>
        <p:spPr>
          <a:xfrm>
            <a:off x="6256865" y="1444625"/>
            <a:ext cx="5291667" cy="3968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p:cNvSpPr>
            <a:spLocks noGrp="1"/>
          </p:cNvSpPr>
          <p:nvPr>
            <p:ph type="title"/>
          </p:nvPr>
        </p:nvSpPr>
        <p:spPr>
          <a:xfrm>
            <a:off x="1014141" y="1450655"/>
            <a:ext cx="3932030" cy="3956690"/>
          </a:xfrm>
        </p:spPr>
        <p:txBody>
          <a:bodyPr anchor="ctr">
            <a:normAutofit/>
          </a:bodyPr>
          <a:lstStyle/>
          <a:p>
            <a:pPr>
              <a:lnSpc>
                <a:spcPct val="90000"/>
              </a:lnSpc>
            </a:pPr>
            <a:r>
              <a:rPr lang="en-US" sz="6200">
                <a:solidFill>
                  <a:schemeClr val="bg1"/>
                </a:solidFill>
              </a:rPr>
              <a:t>Explaining Avoidance: Dissonance Theories</a:t>
            </a:r>
          </a:p>
        </p:txBody>
      </p:sp>
      <p:cxnSp>
        <p:nvCxnSpPr>
          <p:cNvPr id="21" name="Straight Connector 20">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Content Placeholder 6"/>
          <p:cNvSpPr>
            <a:spLocks noGrp="1"/>
          </p:cNvSpPr>
          <p:nvPr>
            <p:ph idx="1"/>
          </p:nvPr>
        </p:nvSpPr>
        <p:spPr>
          <a:xfrm>
            <a:off x="6096000" y="1108061"/>
            <a:ext cx="5008901" cy="4571972"/>
          </a:xfrm>
        </p:spPr>
        <p:txBody>
          <a:bodyPr anchor="ctr">
            <a:noAutofit/>
          </a:bodyPr>
          <a:lstStyle/>
          <a:p>
            <a:r>
              <a:rPr lang="en-US" sz="2400" b="1" dirty="0">
                <a:solidFill>
                  <a:schemeClr val="bg1"/>
                </a:solidFill>
              </a:rPr>
              <a:t>Just World Hypothesis </a:t>
            </a:r>
            <a:r>
              <a:rPr lang="en-US" sz="2400" dirty="0">
                <a:solidFill>
                  <a:schemeClr val="bg1"/>
                </a:solidFill>
              </a:rPr>
              <a:t>(Melvin Lerner): </a:t>
            </a:r>
            <a:r>
              <a:rPr lang="en-GB" sz="2400" dirty="0">
                <a:solidFill>
                  <a:schemeClr val="bg1"/>
                </a:solidFill>
              </a:rPr>
              <a:t> people are motivated by a belief that the social world is an orderly and just place and that good people are rewarded, and “bad” people are punished because actions have predictable consequences.</a:t>
            </a:r>
          </a:p>
          <a:p>
            <a:pPr>
              <a:buNone/>
            </a:pPr>
            <a:endParaRPr lang="en-GB" sz="2400" dirty="0">
              <a:solidFill>
                <a:schemeClr val="bg1"/>
              </a:solidFill>
            </a:endParaRPr>
          </a:p>
          <a:p>
            <a:r>
              <a:rPr lang="en-GB" sz="2400" b="1" dirty="0">
                <a:solidFill>
                  <a:schemeClr val="bg1"/>
                </a:solidFill>
              </a:rPr>
              <a:t>Vulnerability Reminders</a:t>
            </a:r>
            <a:r>
              <a:rPr lang="en-GB" sz="2400" dirty="0">
                <a:solidFill>
                  <a:schemeClr val="bg1"/>
                </a:solidFill>
              </a:rPr>
              <a:t>: discomfort at visible reminders of the inherent vulnerability of the human condition </a:t>
            </a:r>
            <a:endParaRPr lang="en-US" sz="24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52289"/>
            <a:ext cx="3976496" cy="3900326"/>
          </a:xfrm>
        </p:spPr>
        <p:txBody>
          <a:bodyPr vert="horz" lIns="91440" tIns="45720" rIns="91440" bIns="45720" numCol="1" rtlCol="0" anchor="b" anchorCtr="0" compatLnSpc="1">
            <a:prstTxWarp prst="textNoShape">
              <a:avLst/>
            </a:prstTxWarp>
            <a:normAutofit/>
          </a:bodyPr>
          <a:lstStyle/>
          <a:p>
            <a:pPr algn="l">
              <a:lnSpc>
                <a:spcPct val="90000"/>
              </a:lnSpc>
            </a:pPr>
            <a:r>
              <a:rPr lang="en-US" sz="5200" kern="1200">
                <a:solidFill>
                  <a:schemeClr val="tx1"/>
                </a:solidFill>
                <a:latin typeface="+mj-lt"/>
                <a:ea typeface="+mj-ea"/>
                <a:cs typeface="+mj-cs"/>
              </a:rPr>
              <a:t>Medical Models of Disability</a:t>
            </a:r>
          </a:p>
        </p:txBody>
      </p:sp>
      <p:pic>
        <p:nvPicPr>
          <p:cNvPr id="5" name="Picture 4" descr="disability status scale.jpg"/>
          <p:cNvPicPr>
            <a:picLocks noChangeAspect="1"/>
          </p:cNvPicPr>
          <p:nvPr/>
        </p:nvPicPr>
        <p:blipFill>
          <a:blip r:embed="rId2"/>
          <a:stretch>
            <a:fillRect/>
          </a:stretch>
        </p:blipFill>
        <p:spPr>
          <a:xfrm>
            <a:off x="5186557" y="779747"/>
            <a:ext cx="6164194" cy="513169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chemeClr val="accent6">
              <a:lumMod val="60000"/>
              <a:lumOff val="40000"/>
            </a:schemeClr>
          </a:solidFill>
        </p:spPr>
        <p:txBody>
          <a:bodyPr/>
          <a:lstStyle/>
          <a:p>
            <a:r>
              <a:rPr lang="en-US" dirty="0"/>
              <a:t>Internalization</a:t>
            </a:r>
          </a:p>
        </p:txBody>
      </p:sp>
      <p:pic>
        <p:nvPicPr>
          <p:cNvPr id="5" name="Picture 4" descr="Internalized+Ableism.jpg"/>
          <p:cNvPicPr>
            <a:picLocks noChangeAspect="1"/>
          </p:cNvPicPr>
          <p:nvPr/>
        </p:nvPicPr>
        <p:blipFill>
          <a:blip r:embed="rId2"/>
          <a:stretch>
            <a:fillRect/>
          </a:stretch>
        </p:blipFill>
        <p:spPr>
          <a:xfrm>
            <a:off x="1561460" y="1417638"/>
            <a:ext cx="5220340" cy="4830762"/>
          </a:xfrm>
          <a:prstGeom prst="rect">
            <a:avLst/>
          </a:prstGeom>
        </p:spPr>
      </p:pic>
      <p:sp>
        <p:nvSpPr>
          <p:cNvPr id="7" name="Rectangle 6"/>
          <p:cNvSpPr/>
          <p:nvPr/>
        </p:nvSpPr>
        <p:spPr>
          <a:xfrm>
            <a:off x="7772400" y="1905000"/>
            <a:ext cx="990600" cy="6858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Cultural</a:t>
            </a:r>
          </a:p>
          <a:p>
            <a:pPr algn="ctr"/>
            <a:r>
              <a:rPr lang="en-US" sz="1400" dirty="0">
                <a:solidFill>
                  <a:schemeClr val="tx1"/>
                </a:solidFill>
              </a:rPr>
              <a:t>Paradigms</a:t>
            </a:r>
            <a:endParaRPr lang="en-US" dirty="0">
              <a:solidFill>
                <a:schemeClr val="tx1"/>
              </a:solidFill>
            </a:endParaRPr>
          </a:p>
        </p:txBody>
      </p:sp>
      <p:sp>
        <p:nvSpPr>
          <p:cNvPr id="8" name="Rectangle 7"/>
          <p:cNvSpPr/>
          <p:nvPr/>
        </p:nvSpPr>
        <p:spPr>
          <a:xfrm>
            <a:off x="7772400" y="2971800"/>
            <a:ext cx="1066800" cy="685800"/>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Structural Oppression</a:t>
            </a:r>
          </a:p>
        </p:txBody>
      </p:sp>
      <p:sp>
        <p:nvSpPr>
          <p:cNvPr id="9" name="Oval 8"/>
          <p:cNvSpPr/>
          <p:nvPr/>
        </p:nvSpPr>
        <p:spPr>
          <a:xfrm>
            <a:off x="7620000" y="4114800"/>
            <a:ext cx="1219200" cy="10668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Meaning Making</a:t>
            </a:r>
          </a:p>
        </p:txBody>
      </p:sp>
      <p:sp>
        <p:nvSpPr>
          <p:cNvPr id="10" name="Isosceles Triangle 9"/>
          <p:cNvSpPr/>
          <p:nvPr/>
        </p:nvSpPr>
        <p:spPr>
          <a:xfrm>
            <a:off x="7086600" y="5486400"/>
            <a:ext cx="2209800" cy="1371600"/>
          </a:xfrm>
          <a:prstGeom prst="triangl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Internalized Oppression</a:t>
            </a:r>
          </a:p>
        </p:txBody>
      </p:sp>
      <p:sp>
        <p:nvSpPr>
          <p:cNvPr id="12" name="Curved Right Arrow 11"/>
          <p:cNvSpPr/>
          <p:nvPr/>
        </p:nvSpPr>
        <p:spPr>
          <a:xfrm rot="13303423">
            <a:off x="8992250" y="4742274"/>
            <a:ext cx="381620" cy="133996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Down Arrow 13"/>
          <p:cNvSpPr/>
          <p:nvPr/>
        </p:nvSpPr>
        <p:spPr>
          <a:xfrm>
            <a:off x="8229600" y="2590800"/>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8077200" y="3733800"/>
            <a:ext cx="3810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rot="7785881" flipV="1">
            <a:off x="8299891" y="4775911"/>
            <a:ext cx="1553109" cy="415498"/>
          </a:xfrm>
          <a:prstGeom prst="rect">
            <a:avLst/>
          </a:prstGeom>
          <a:noFill/>
        </p:spPr>
        <p:txBody>
          <a:bodyPr wrap="square" rtlCol="0">
            <a:spAutoFit/>
          </a:bodyPr>
          <a:lstStyle/>
          <a:p>
            <a:pPr algn="ctr"/>
            <a:r>
              <a:rPr lang="en-US" sz="1050" dirty="0"/>
              <a:t>Perpetuating oppression of oneself</a:t>
            </a:r>
          </a:p>
        </p:txBody>
      </p:sp>
      <p:sp>
        <p:nvSpPr>
          <p:cNvPr id="17" name="Right Arrow 16"/>
          <p:cNvSpPr/>
          <p:nvPr/>
        </p:nvSpPr>
        <p:spPr>
          <a:xfrm rot="19423859">
            <a:off x="8899444" y="5710930"/>
            <a:ext cx="1601710" cy="2130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rot="19293010">
            <a:off x="8894260" y="5938925"/>
            <a:ext cx="1805962" cy="415498"/>
          </a:xfrm>
          <a:prstGeom prst="rect">
            <a:avLst/>
          </a:prstGeom>
          <a:noFill/>
        </p:spPr>
        <p:txBody>
          <a:bodyPr wrap="square" rtlCol="0">
            <a:spAutoFit/>
          </a:bodyPr>
          <a:lstStyle/>
          <a:p>
            <a:pPr algn="ctr"/>
            <a:r>
              <a:rPr lang="en-US" sz="1050" dirty="0"/>
              <a:t>Perpetuating Oppression of Others</a:t>
            </a:r>
          </a:p>
        </p:txBody>
      </p:sp>
      <p:sp>
        <p:nvSpPr>
          <p:cNvPr id="19" name="Down Arrow 18"/>
          <p:cNvSpPr/>
          <p:nvPr/>
        </p:nvSpPr>
        <p:spPr>
          <a:xfrm>
            <a:off x="8077200" y="5257800"/>
            <a:ext cx="22860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79D991-1C75-2421-0013-858FA9830C05}"/>
              </a:ext>
            </a:extLst>
          </p:cNvPr>
          <p:cNvSpPr>
            <a:spLocks noGrp="1"/>
          </p:cNvSpPr>
          <p:nvPr>
            <p:ph type="title"/>
          </p:nvPr>
        </p:nvSpPr>
        <p:spPr>
          <a:xfrm>
            <a:off x="841248" y="552289"/>
            <a:ext cx="3976496" cy="3900326"/>
          </a:xfrm>
        </p:spPr>
        <p:txBody>
          <a:bodyPr vert="horz" lIns="91440" tIns="45720" rIns="91440" bIns="45720" rtlCol="0" anchor="b">
            <a:normAutofit/>
          </a:bodyPr>
          <a:lstStyle/>
          <a:p>
            <a:pPr algn="l">
              <a:lnSpc>
                <a:spcPct val="90000"/>
              </a:lnSpc>
            </a:pPr>
            <a:r>
              <a:rPr lang="en-US" sz="5200" kern="1200">
                <a:solidFill>
                  <a:schemeClr val="tx1"/>
                </a:solidFill>
                <a:latin typeface="+mj-lt"/>
                <a:ea typeface="+mj-ea"/>
                <a:cs typeface="+mj-cs"/>
              </a:rPr>
              <a:t>Social Model of Disability</a:t>
            </a:r>
          </a:p>
        </p:txBody>
      </p:sp>
      <p:pic>
        <p:nvPicPr>
          <p:cNvPr id="5" name="Picture 4" descr="A person in a wheelchair&#10;&#10;Description automatically generated with medium confidence">
            <a:extLst>
              <a:ext uri="{FF2B5EF4-FFF2-40B4-BE49-F238E27FC236}">
                <a16:creationId xmlns:a16="http://schemas.microsoft.com/office/drawing/2014/main" id="{CC6A012C-CCBE-14D3-3B42-C5E7B6F4BD64}"/>
              </a:ext>
            </a:extLst>
          </p:cNvPr>
          <p:cNvPicPr>
            <a:picLocks noChangeAspect="1"/>
          </p:cNvPicPr>
          <p:nvPr/>
        </p:nvPicPr>
        <p:blipFill>
          <a:blip r:embed="rId3"/>
          <a:stretch>
            <a:fillRect/>
          </a:stretch>
        </p:blipFill>
        <p:spPr>
          <a:xfrm>
            <a:off x="5186557" y="1295998"/>
            <a:ext cx="6164194" cy="4099189"/>
          </a:xfrm>
          <a:prstGeom prst="rect">
            <a:avLst/>
          </a:prstGeom>
        </p:spPr>
      </p:pic>
    </p:spTree>
    <p:extLst>
      <p:ext uri="{BB962C8B-B14F-4D97-AF65-F5344CB8AC3E}">
        <p14:creationId xmlns:p14="http://schemas.microsoft.com/office/powerpoint/2010/main" val="2826987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text, outdoor, bus, curb&#10;&#10;Description automatically generated">
            <a:extLst>
              <a:ext uri="{FF2B5EF4-FFF2-40B4-BE49-F238E27FC236}">
                <a16:creationId xmlns:a16="http://schemas.microsoft.com/office/drawing/2014/main" id="{F0AB9408-332A-3979-08B7-B11824E61760}"/>
              </a:ext>
            </a:extLst>
          </p:cNvPr>
          <p:cNvPicPr>
            <a:picLocks noChangeAspect="1"/>
          </p:cNvPicPr>
          <p:nvPr/>
        </p:nvPicPr>
        <p:blipFill>
          <a:blip r:embed="rId3"/>
          <a:srcRect r="4826"/>
          <a:stretch>
            <a:fillRect/>
          </a:stretch>
        </p:blipFill>
        <p:spPr>
          <a:xfrm>
            <a:off x="1" y="10"/>
            <a:ext cx="9669642" cy="6857990"/>
          </a:xfrm>
          <a:prstGeom prst="rect">
            <a:avLst/>
          </a:prstGeom>
        </p:spPr>
      </p:pic>
      <p:sp>
        <p:nvSpPr>
          <p:cNvPr id="21" name="Rectangle 2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935402" y="743447"/>
            <a:ext cx="3445765" cy="3692028"/>
          </a:xfrm>
          <a:noFill/>
        </p:spPr>
        <p:txBody>
          <a:bodyPr vert="horz" lIns="91440" tIns="45720" rIns="91440" bIns="45720" numCol="1" rtlCol="0" anchor="b" anchorCtr="0" compatLnSpc="1">
            <a:prstTxWarp prst="textNoShape">
              <a:avLst/>
            </a:prstTxWarp>
            <a:normAutofit/>
          </a:bodyPr>
          <a:lstStyle/>
          <a:p>
            <a:pPr algn="l">
              <a:lnSpc>
                <a:spcPct val="90000"/>
              </a:lnSpc>
            </a:pPr>
            <a:r>
              <a:rPr lang="en-US" sz="5200"/>
              <a:t>Resistance and Tertiary Deviance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1714"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765173" y="320040"/>
            <a:ext cx="8661654"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BD727F-4A8E-2588-46F7-2B7516519C05}"/>
              </a:ext>
            </a:extLst>
          </p:cNvPr>
          <p:cNvSpPr>
            <a:spLocks noGrp="1"/>
          </p:cNvSpPr>
          <p:nvPr>
            <p:ph type="title"/>
          </p:nvPr>
        </p:nvSpPr>
        <p:spPr>
          <a:xfrm>
            <a:off x="2152650" y="631826"/>
            <a:ext cx="7886700" cy="1325563"/>
          </a:xfrm>
        </p:spPr>
        <p:txBody>
          <a:bodyPr>
            <a:normAutofit/>
          </a:bodyPr>
          <a:lstStyle/>
          <a:p>
            <a:pPr>
              <a:lnSpc>
                <a:spcPct val="90000"/>
              </a:lnSpc>
            </a:pPr>
            <a:r>
              <a:rPr lang="en-US" dirty="0"/>
              <a:t>Americans with Disabilities Act (1990)</a:t>
            </a:r>
            <a:endParaRPr lang="en-US"/>
          </a:p>
        </p:txBody>
      </p:sp>
      <p:sp>
        <p:nvSpPr>
          <p:cNvPr id="3" name="Content Placeholder 2">
            <a:extLst>
              <a:ext uri="{FF2B5EF4-FFF2-40B4-BE49-F238E27FC236}">
                <a16:creationId xmlns:a16="http://schemas.microsoft.com/office/drawing/2014/main" id="{93A6B611-A772-B865-3B00-AFDA59FBC661}"/>
              </a:ext>
            </a:extLst>
          </p:cNvPr>
          <p:cNvSpPr>
            <a:spLocks noGrp="1"/>
          </p:cNvSpPr>
          <p:nvPr>
            <p:ph idx="1"/>
          </p:nvPr>
        </p:nvSpPr>
        <p:spPr>
          <a:xfrm>
            <a:off x="2152650" y="2057400"/>
            <a:ext cx="7886700" cy="3871762"/>
          </a:xfrm>
        </p:spPr>
        <p:txBody>
          <a:bodyPr>
            <a:normAutofit/>
          </a:bodyPr>
          <a:lstStyle/>
          <a:p>
            <a:r>
              <a:rPr lang="en-US" sz="2800" dirty="0"/>
              <a:t>Title I: Addresses employment barriers </a:t>
            </a:r>
          </a:p>
          <a:p>
            <a:r>
              <a:rPr lang="en-US" sz="2800" dirty="0"/>
              <a:t>Title II: Addresses state and local government barriers (transit)</a:t>
            </a:r>
          </a:p>
          <a:p>
            <a:r>
              <a:rPr lang="en-US" sz="2800" dirty="0"/>
              <a:t>Title III: Addresses public and commercial (architectural)</a:t>
            </a:r>
          </a:p>
          <a:p>
            <a:r>
              <a:rPr lang="en-US" sz="2800" dirty="0"/>
              <a:t>Title IV: Addresses barriers in telecommunications</a:t>
            </a:r>
          </a:p>
          <a:p>
            <a:r>
              <a:rPr lang="en-US" sz="2800" dirty="0"/>
              <a:t>Title V: Addresses additional miscellaneous provisions </a:t>
            </a:r>
          </a:p>
        </p:txBody>
      </p:sp>
    </p:spTree>
    <p:extLst>
      <p:ext uri="{BB962C8B-B14F-4D97-AF65-F5344CB8AC3E}">
        <p14:creationId xmlns:p14="http://schemas.microsoft.com/office/powerpoint/2010/main" val="2569128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4106</TotalTime>
  <Words>636</Words>
  <Application>Microsoft Office PowerPoint</Application>
  <PresentationFormat>Widescreen</PresentationFormat>
  <Paragraphs>71</Paragraphs>
  <Slides>21</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The Deviant Body  </vt:lpstr>
      <vt:lpstr>Setting up our discussion</vt:lpstr>
      <vt:lpstr>Institutional Regulation of Bodies</vt:lpstr>
      <vt:lpstr>PowerPoint Presentation</vt:lpstr>
      <vt:lpstr>From Chicago’s Municipal Code Ordinance 1911 (sec. 36034)</vt:lpstr>
      <vt:lpstr>Elements of Deviance</vt:lpstr>
      <vt:lpstr>Dimensions of Physical Deviance</vt:lpstr>
      <vt:lpstr>Aesthetic Ideals</vt:lpstr>
      <vt:lpstr>PowerPoint Presentation</vt:lpstr>
      <vt:lpstr>Status: any named social position a person can occupy</vt:lpstr>
      <vt:lpstr>Body modifications: deviance in decline?</vt:lpstr>
      <vt:lpstr>Stigma: a deeply discrediting quality that is viewed as an obstacle to competence, trust, or group membership (Goffman)</vt:lpstr>
      <vt:lpstr>Stigma Sign: a socially significant visual mark of  difference </vt:lpstr>
      <vt:lpstr>Experiencing Stigma</vt:lpstr>
      <vt:lpstr>PowerPoint Presentation</vt:lpstr>
      <vt:lpstr>Explaining Avoidance: Dissonance Theories</vt:lpstr>
      <vt:lpstr>Medical Models of Disability</vt:lpstr>
      <vt:lpstr>Internalization</vt:lpstr>
      <vt:lpstr>Social Model of Disability</vt:lpstr>
      <vt:lpstr>Resistance and Tertiary Deviance</vt:lpstr>
      <vt:lpstr>Americans with Disabilities Act (1990)</vt:lpstr>
    </vt:vector>
  </TitlesOfParts>
  <Company>Orion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Jordan Kahn Tietz</dc:creator>
  <cp:lastModifiedBy>Linda McAllister</cp:lastModifiedBy>
  <cp:revision>357</cp:revision>
  <dcterms:created xsi:type="dcterms:W3CDTF">2009-04-02T22:02:50Z</dcterms:created>
  <dcterms:modified xsi:type="dcterms:W3CDTF">2026-08-13T01:41:43Z</dcterms:modified>
</cp:coreProperties>
</file>