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71" r:id="rId2"/>
    <p:sldId id="277" r:id="rId3"/>
    <p:sldId id="281" r:id="rId4"/>
    <p:sldId id="283" r:id="rId5"/>
    <p:sldId id="284" r:id="rId6"/>
    <p:sldId id="316" r:id="rId7"/>
    <p:sldId id="325" r:id="rId8"/>
    <p:sldId id="326" r:id="rId9"/>
    <p:sldId id="327" r:id="rId10"/>
    <p:sldId id="328" r:id="rId11"/>
    <p:sldId id="330" r:id="rId12"/>
    <p:sldId id="331" r:id="rId13"/>
    <p:sldId id="332" r:id="rId14"/>
    <p:sldId id="299" r:id="rId15"/>
    <p:sldId id="297" r:id="rId16"/>
    <p:sldId id="3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105" d="100"/>
          <a:sy n="105" d="100"/>
        </p:scale>
        <p:origin x="5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81CFD-2D23-45CF-BC6F-A8FC34CC7DD9}"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F4A6F-43F8-43FE-ADE3-A2B8A44E8D49}" type="slidenum">
              <a:rPr lang="en-US" smtClean="0"/>
              <a:t>‹#›</a:t>
            </a:fld>
            <a:endParaRPr lang="en-US"/>
          </a:p>
        </p:txBody>
      </p:sp>
    </p:spTree>
    <p:extLst>
      <p:ext uri="{BB962C8B-B14F-4D97-AF65-F5344CB8AC3E}">
        <p14:creationId xmlns:p14="http://schemas.microsoft.com/office/powerpoint/2010/main" val="3544170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t>This is the first chapter of Part Two: Due Diligence on the Business Idea.</a:t>
            </a:r>
          </a:p>
          <a:p>
            <a:pPr eaLnBrk="1" hangingPunct="1">
              <a:spcBef>
                <a:spcPct val="0"/>
              </a:spcBef>
            </a:pPr>
            <a:endParaRPr lang="en-US" altLang="en-US" dirty="0"/>
          </a:p>
          <a:p>
            <a:pPr eaLnBrk="1" hangingPunct="1">
              <a:spcBef>
                <a:spcPct val="0"/>
              </a:spcBef>
            </a:pPr>
            <a:r>
              <a:rPr lang="en-US" altLang="en-US" dirty="0"/>
              <a:t>Chapter Four: External Analysis</a:t>
            </a:r>
          </a:p>
        </p:txBody>
      </p:sp>
      <p:sp>
        <p:nvSpPr>
          <p:cNvPr id="4" name="Slide Number Placeholder 3"/>
          <p:cNvSpPr>
            <a:spLocks noGrp="1"/>
          </p:cNvSpPr>
          <p:nvPr>
            <p:ph type="sldNum" sz="quarter" idx="5"/>
          </p:nvPr>
        </p:nvSpPr>
        <p:spPr/>
        <p:txBody>
          <a:bodyPr/>
          <a:lstStyle/>
          <a:p>
            <a:fld id="{929D4A7D-431F-4292-846A-9F3ECE149A21}" type="slidenum">
              <a:rPr lang="en-US" smtClean="0"/>
              <a:t>1</a:t>
            </a:fld>
            <a:endParaRPr lang="en-US"/>
          </a:p>
        </p:txBody>
      </p:sp>
    </p:spTree>
    <p:extLst>
      <p:ext uri="{BB962C8B-B14F-4D97-AF65-F5344CB8AC3E}">
        <p14:creationId xmlns:p14="http://schemas.microsoft.com/office/powerpoint/2010/main" val="2659413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i="0" dirty="0"/>
              <a:t>Learning Objective 4-1: Describe how to examine the industry that the new business plans to enter.</a:t>
            </a:r>
          </a:p>
          <a:p>
            <a:pPr eaLnBrk="1" fontAlgn="auto" hangingPunct="1">
              <a:spcBef>
                <a:spcPts val="0"/>
              </a:spcBef>
              <a:spcAft>
                <a:spcPts val="0"/>
              </a:spcAft>
              <a:defRPr/>
            </a:pPr>
            <a:endParaRPr lang="en-US" i="0" dirty="0"/>
          </a:p>
          <a:p>
            <a:pPr eaLnBrk="1" fontAlgn="auto" hangingPunct="1">
              <a:spcBef>
                <a:spcPts val="0"/>
              </a:spcBef>
              <a:spcAft>
                <a:spcPts val="0"/>
              </a:spcAft>
              <a:defRPr/>
            </a:pPr>
            <a:r>
              <a:rPr lang="en-US" i="0" dirty="0"/>
              <a:t>The first part of an external analysis is to determine the industry within which the new business will compete, as well as the general makeup of the industry. In doing so the entrepreneur should seek to be as specific as possible.</a:t>
            </a:r>
          </a:p>
          <a:p>
            <a:pPr eaLnBrk="1" fontAlgn="auto" hangingPunct="1">
              <a:spcBef>
                <a:spcPts val="0"/>
              </a:spcBef>
              <a:spcAft>
                <a:spcPts val="0"/>
              </a:spcAft>
              <a:defRPr/>
            </a:pPr>
            <a:endParaRPr lang="en-US" i="0" dirty="0"/>
          </a:p>
          <a:p>
            <a:pPr eaLnBrk="1" fontAlgn="auto" hangingPunct="1">
              <a:spcBef>
                <a:spcPts val="0"/>
              </a:spcBef>
              <a:spcAft>
                <a:spcPts val="0"/>
              </a:spcAft>
              <a:defRPr/>
            </a:pPr>
            <a:r>
              <a:rPr lang="en-US" i="0" dirty="0"/>
              <a:t>For example, if you want to open a new ice-cream store, you might ask, in what industry does a new ice-cream store compete? Clearly, the industry will include other ice-cream stores. </a:t>
            </a:r>
          </a:p>
          <a:p>
            <a:pPr eaLnBrk="1" fontAlgn="auto" hangingPunct="1">
              <a:spcBef>
                <a:spcPts val="0"/>
              </a:spcBef>
              <a:spcAft>
                <a:spcPts val="0"/>
              </a:spcAft>
              <a:defRPr/>
            </a:pPr>
            <a:endParaRPr lang="en-US" i="0" dirty="0"/>
          </a:p>
          <a:p>
            <a:pPr eaLnBrk="1" fontAlgn="auto" hangingPunct="1">
              <a:spcBef>
                <a:spcPts val="0"/>
              </a:spcBef>
              <a:spcAft>
                <a:spcPts val="0"/>
              </a:spcAft>
              <a:defRPr/>
            </a:pPr>
            <a:r>
              <a:rPr lang="en-US" i="0" dirty="0"/>
              <a:t>However, if the ice-cream store will make a significant part of its revenues from selling ice-cream cakes, then the industry might be best viewed as including a broader group of dessert providers, such as bakeries and other businesses that sell competing products. </a:t>
            </a:r>
          </a:p>
          <a:p>
            <a:pPr eaLnBrk="1" fontAlgn="auto" hangingPunct="1">
              <a:spcBef>
                <a:spcPts val="0"/>
              </a:spcBef>
              <a:spcAft>
                <a:spcPts val="0"/>
              </a:spcAft>
              <a:defRPr/>
            </a:pPr>
            <a:endParaRPr lang="en-US" i="0" dirty="0"/>
          </a:p>
          <a:p>
            <a:pPr eaLnBrk="1" fontAlgn="auto" hangingPunct="1">
              <a:spcBef>
                <a:spcPts val="0"/>
              </a:spcBef>
              <a:spcAft>
                <a:spcPts val="0"/>
              </a:spcAft>
              <a:defRPr/>
            </a:pPr>
            <a:r>
              <a:rPr lang="en-US" i="0" dirty="0"/>
              <a:t>If the ice-cream store has both dipping operations where the ice cream is sold in cones and prepackaged gallons of ice cream, perhaps the industry includes competitors that sell ice cream in grocery stores.</a:t>
            </a:r>
          </a:p>
          <a:p>
            <a:pPr eaLnBrk="1" fontAlgn="auto" hangingPunct="1">
              <a:spcBef>
                <a:spcPts val="0"/>
              </a:spcBef>
              <a:spcAft>
                <a:spcPts val="0"/>
              </a:spcAft>
              <a:defRPr/>
            </a:pPr>
            <a:endParaRPr lang="en-US" i="0" dirty="0"/>
          </a:p>
          <a:p>
            <a:pPr eaLnBrk="1" fontAlgn="auto" hangingPunct="1">
              <a:spcBef>
                <a:spcPts val="0"/>
              </a:spcBef>
              <a:spcAft>
                <a:spcPts val="0"/>
              </a:spcAft>
              <a:defRPr/>
            </a:pPr>
            <a:r>
              <a:rPr lang="en-US" i="0" dirty="0"/>
              <a:t>The industry may also vary if the ice cream is high end with a high milk-fat content versus more typical ice cream that has much lower milk-fat level. </a:t>
            </a:r>
          </a:p>
          <a:p>
            <a:pPr eaLnBrk="1" fontAlgn="auto" hangingPunct="1">
              <a:spcBef>
                <a:spcPts val="0"/>
              </a:spcBef>
              <a:spcAft>
                <a:spcPts val="0"/>
              </a:spcAft>
              <a:defRPr/>
            </a:pPr>
            <a:endParaRPr lang="en-US" i="0" dirty="0"/>
          </a:p>
          <a:p>
            <a:pPr eaLnBrk="1" fontAlgn="auto" hangingPunct="1">
              <a:spcBef>
                <a:spcPts val="0"/>
              </a:spcBef>
              <a:spcAft>
                <a:spcPts val="0"/>
              </a:spcAft>
              <a:defRPr/>
            </a:pPr>
            <a:r>
              <a:rPr lang="en-US" i="0" dirty="0"/>
              <a:t>Defining the firm’s industry is not something that should be taken lightly.</a:t>
            </a:r>
          </a:p>
        </p:txBody>
      </p:sp>
      <p:sp>
        <p:nvSpPr>
          <p:cNvPr id="4" name="Slide Number Placeholder 3"/>
          <p:cNvSpPr>
            <a:spLocks noGrp="1"/>
          </p:cNvSpPr>
          <p:nvPr>
            <p:ph type="sldNum" sz="quarter" idx="5"/>
          </p:nvPr>
        </p:nvSpPr>
        <p:spPr/>
        <p:txBody>
          <a:bodyPr/>
          <a:lstStyle/>
          <a:p>
            <a:fld id="{929D4A7D-431F-4292-846A-9F3ECE149A21}" type="slidenum">
              <a:rPr lang="en-US" smtClean="0"/>
              <a:t>2</a:t>
            </a:fld>
            <a:endParaRPr lang="en-US"/>
          </a:p>
        </p:txBody>
      </p:sp>
    </p:spTree>
    <p:extLst>
      <p:ext uri="{BB962C8B-B14F-4D97-AF65-F5344CB8AC3E}">
        <p14:creationId xmlns:p14="http://schemas.microsoft.com/office/powerpoint/2010/main" val="2635499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i="0" dirty="0"/>
              <a:t>Learning Objective 4-1: Describe how to examine the industry that the new business plans to enter.</a:t>
            </a:r>
          </a:p>
          <a:p>
            <a:pPr eaLnBrk="1" hangingPunct="1">
              <a:spcBef>
                <a:spcPct val="0"/>
              </a:spcBef>
            </a:pPr>
            <a:endParaRPr lang="en-US" altLang="en-US" i="0" dirty="0"/>
          </a:p>
          <a:p>
            <a:pPr eaLnBrk="1" hangingPunct="1">
              <a:spcBef>
                <a:spcPct val="0"/>
              </a:spcBef>
            </a:pPr>
            <a:r>
              <a:rPr lang="en-US" altLang="en-US" i="0" dirty="0"/>
              <a:t>Entrepreneurs should define the industry in which they will compete broadly enough to be inclusive of all potential competitors, but not so broadly as to be overwhelming.</a:t>
            </a:r>
          </a:p>
          <a:p>
            <a:pPr eaLnBrk="1" hangingPunct="1">
              <a:spcBef>
                <a:spcPct val="0"/>
              </a:spcBef>
            </a:pPr>
            <a:endParaRPr lang="en-US" altLang="en-US" i="0" dirty="0"/>
          </a:p>
          <a:p>
            <a:pPr eaLnBrk="1" hangingPunct="1">
              <a:spcBef>
                <a:spcPct val="0"/>
              </a:spcBef>
            </a:pPr>
            <a:r>
              <a:rPr lang="en-US" altLang="en-US" i="0" dirty="0"/>
              <a:t>Even more important, the entrepreneur must be clear about the practical level of actual competition. </a:t>
            </a:r>
          </a:p>
          <a:p>
            <a:pPr eaLnBrk="1" hangingPunct="1">
              <a:spcBef>
                <a:spcPct val="0"/>
              </a:spcBef>
            </a:pPr>
            <a:r>
              <a:rPr lang="en-US" altLang="en-US" i="0" dirty="0"/>
              <a:t>An entrepreneur should ask, what is a reasonable geographic customer draw for a new business? </a:t>
            </a:r>
          </a:p>
          <a:p>
            <a:pPr eaLnBrk="1" hangingPunct="1">
              <a:spcBef>
                <a:spcPct val="0"/>
              </a:spcBef>
            </a:pPr>
            <a:endParaRPr lang="en-US" altLang="en-US" i="0" dirty="0"/>
          </a:p>
          <a:p>
            <a:pPr eaLnBrk="1" hangingPunct="1">
              <a:spcBef>
                <a:spcPct val="0"/>
              </a:spcBef>
            </a:pPr>
            <a:r>
              <a:rPr lang="en-US" altLang="en-US" i="0" dirty="0"/>
              <a:t>Opening a sandwich shop in the downtown area of a city means that the shop most likely competes with other sandwich or fast-food shops within a 10-block radius—and perhaps less, if walking is the primary means of transportation for downtown lunching workers. </a:t>
            </a:r>
          </a:p>
          <a:p>
            <a:pPr eaLnBrk="1" hangingPunct="1">
              <a:spcBef>
                <a:spcPct val="0"/>
              </a:spcBef>
            </a:pPr>
            <a:endParaRPr lang="en-US" altLang="en-US" i="0" dirty="0"/>
          </a:p>
          <a:p>
            <a:pPr eaLnBrk="1" hangingPunct="1">
              <a:spcBef>
                <a:spcPct val="0"/>
              </a:spcBef>
            </a:pPr>
            <a:r>
              <a:rPr lang="en-US" altLang="en-US" i="0" dirty="0"/>
              <a:t>Drawing a practical radius around your potential new business location will also help target the customers who are most likely to patronize your business.</a:t>
            </a:r>
          </a:p>
        </p:txBody>
      </p:sp>
      <p:sp>
        <p:nvSpPr>
          <p:cNvPr id="4" name="Slide Number Placeholder 3"/>
          <p:cNvSpPr>
            <a:spLocks noGrp="1"/>
          </p:cNvSpPr>
          <p:nvPr>
            <p:ph type="sldNum" sz="quarter" idx="5"/>
          </p:nvPr>
        </p:nvSpPr>
        <p:spPr/>
        <p:txBody>
          <a:bodyPr/>
          <a:lstStyle/>
          <a:p>
            <a:fld id="{929D4A7D-431F-4292-846A-9F3ECE149A21}" type="slidenum">
              <a:rPr lang="en-US" smtClean="0"/>
              <a:t>3</a:t>
            </a:fld>
            <a:endParaRPr lang="en-US"/>
          </a:p>
        </p:txBody>
      </p:sp>
    </p:spTree>
    <p:extLst>
      <p:ext uri="{BB962C8B-B14F-4D97-AF65-F5344CB8AC3E}">
        <p14:creationId xmlns:p14="http://schemas.microsoft.com/office/powerpoint/2010/main" val="1706547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US" sz="1100" i="0" dirty="0"/>
              <a:t>Learning Objective 4-2: Discuss how to create a profile of the target customers for a new business.</a:t>
            </a:r>
          </a:p>
          <a:p>
            <a:pPr eaLnBrk="1" fontAlgn="auto" hangingPunct="1">
              <a:spcBef>
                <a:spcPts val="0"/>
              </a:spcBef>
              <a:spcAft>
                <a:spcPts val="0"/>
              </a:spcAft>
              <a:defRPr/>
            </a:pPr>
            <a:endParaRPr lang="en-US" sz="1100" i="0" dirty="0"/>
          </a:p>
          <a:p>
            <a:pPr eaLnBrk="1" fontAlgn="auto" hangingPunct="1">
              <a:spcBef>
                <a:spcPts val="0"/>
              </a:spcBef>
              <a:spcAft>
                <a:spcPts val="0"/>
              </a:spcAft>
              <a:defRPr/>
            </a:pPr>
            <a:r>
              <a:rPr lang="en-US" sz="1100" i="0" dirty="0"/>
              <a:t>Once the industry is broadly defined, then the exact nature of the customer should be developed. It is important to define a narrower group of individuals whom you believe will constitute your most likely customers.</a:t>
            </a:r>
          </a:p>
          <a:p>
            <a:pPr eaLnBrk="1" fontAlgn="auto" hangingPunct="1">
              <a:spcBef>
                <a:spcPts val="0"/>
              </a:spcBef>
              <a:spcAft>
                <a:spcPts val="0"/>
              </a:spcAft>
              <a:defRPr/>
            </a:pPr>
            <a:r>
              <a:rPr lang="en-US" sz="1100" i="0" dirty="0"/>
              <a:t>Where are they located? Where do they currently obtain their product or service?</a:t>
            </a:r>
          </a:p>
          <a:p>
            <a:pPr eaLnBrk="1" fontAlgn="auto" hangingPunct="1">
              <a:spcBef>
                <a:spcPts val="0"/>
              </a:spcBef>
              <a:spcAft>
                <a:spcPts val="0"/>
              </a:spcAft>
              <a:defRPr/>
            </a:pPr>
            <a:endParaRPr lang="en-US" sz="1100" i="0" dirty="0"/>
          </a:p>
          <a:p>
            <a:pPr eaLnBrk="1" fontAlgn="auto" hangingPunct="1">
              <a:spcBef>
                <a:spcPts val="0"/>
              </a:spcBef>
              <a:spcAft>
                <a:spcPts val="0"/>
              </a:spcAft>
              <a:defRPr/>
            </a:pPr>
            <a:r>
              <a:rPr lang="en-US" sz="1100" i="0" dirty="0"/>
              <a:t>In defining the customer, the entrepreneur should be diligent in the effort to be as accurate as possible. </a:t>
            </a:r>
          </a:p>
          <a:p>
            <a:pPr eaLnBrk="1" fontAlgn="auto" hangingPunct="1">
              <a:spcBef>
                <a:spcPts val="0"/>
              </a:spcBef>
              <a:spcAft>
                <a:spcPts val="0"/>
              </a:spcAft>
              <a:defRPr/>
            </a:pPr>
            <a:r>
              <a:rPr lang="en-US" sz="1100" i="0" dirty="0"/>
              <a:t>We will discuss promotional activities such as advertising in Chapter 11 (“Marketing”), but here we note that defining the customer is important for the effective use of your marketing dollars, as well as the satisfaction of core, repeat customers.</a:t>
            </a:r>
          </a:p>
          <a:p>
            <a:pPr eaLnBrk="1" fontAlgn="auto" hangingPunct="1">
              <a:spcBef>
                <a:spcPts val="0"/>
              </a:spcBef>
              <a:spcAft>
                <a:spcPts val="0"/>
              </a:spcAft>
              <a:defRPr/>
            </a:pPr>
            <a:endParaRPr lang="en-US" sz="1100" i="0" dirty="0"/>
          </a:p>
          <a:p>
            <a:pPr eaLnBrk="1" fontAlgn="auto" hangingPunct="1">
              <a:spcBef>
                <a:spcPts val="0"/>
              </a:spcBef>
              <a:spcAft>
                <a:spcPts val="0"/>
              </a:spcAft>
              <a:defRPr/>
            </a:pPr>
            <a:r>
              <a:rPr lang="en-US" sz="1100" i="0" dirty="0"/>
              <a:t>This approach helps the entrepreneurial business clearly focus on its core customer. </a:t>
            </a:r>
          </a:p>
          <a:p>
            <a:pPr eaLnBrk="1" fontAlgn="auto" hangingPunct="1">
              <a:spcBef>
                <a:spcPts val="0"/>
              </a:spcBef>
              <a:spcAft>
                <a:spcPts val="0"/>
              </a:spcAft>
              <a:defRPr/>
            </a:pPr>
            <a:r>
              <a:rPr lang="en-US" sz="1100" i="0" dirty="0"/>
              <a:t>It also helps the business maintain a strategic distance between itself and its competitors, as the firm is not trying to do what everyone else may do. </a:t>
            </a:r>
          </a:p>
          <a:p>
            <a:pPr algn="l"/>
            <a:endParaRPr lang="en-US" sz="1600" b="0" i="0" u="none" strike="noStrike" baseline="0" dirty="0">
              <a:solidFill>
                <a:srgbClr val="000000"/>
              </a:solidFill>
              <a:latin typeface="NimbusRomDOT"/>
            </a:endParaRPr>
          </a:p>
          <a:p>
            <a:pPr algn="just"/>
            <a:r>
              <a:rPr lang="en-US" sz="1600" b="0" i="0" u="none" strike="noStrike" baseline="0" dirty="0">
                <a:latin typeface="NimbusRomDOT"/>
              </a:rPr>
              <a:t>Finally, a clear understanding of the business’s customers assists the owners in controlling expenses because the business does not try to be everything to everybody. The inventory can therefore be much more focused.</a:t>
            </a:r>
            <a:endParaRPr lang="en-US" sz="1100" i="0" dirty="0"/>
          </a:p>
        </p:txBody>
      </p:sp>
      <p:sp>
        <p:nvSpPr>
          <p:cNvPr id="4" name="Slide Number Placeholder 3"/>
          <p:cNvSpPr>
            <a:spLocks noGrp="1"/>
          </p:cNvSpPr>
          <p:nvPr>
            <p:ph type="sldNum" sz="quarter" idx="5"/>
          </p:nvPr>
        </p:nvSpPr>
        <p:spPr/>
        <p:txBody>
          <a:bodyPr/>
          <a:lstStyle/>
          <a:p>
            <a:fld id="{929D4A7D-431F-4292-846A-9F3ECE149A21}" type="slidenum">
              <a:rPr lang="en-US" smtClean="0"/>
              <a:t>4</a:t>
            </a:fld>
            <a:endParaRPr lang="en-US"/>
          </a:p>
        </p:txBody>
      </p:sp>
    </p:spTree>
    <p:extLst>
      <p:ext uri="{BB962C8B-B14F-4D97-AF65-F5344CB8AC3E}">
        <p14:creationId xmlns:p14="http://schemas.microsoft.com/office/powerpoint/2010/main" val="1943841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i="0" dirty="0"/>
              <a:t>Learning Objective 4-3: Explain how to categorize competitors of the new business using external analysis.</a:t>
            </a:r>
          </a:p>
          <a:p>
            <a:pPr eaLnBrk="1" hangingPunct="1">
              <a:spcBef>
                <a:spcPct val="0"/>
              </a:spcBef>
            </a:pPr>
            <a:endParaRPr lang="en-US" altLang="en-US" i="0" dirty="0"/>
          </a:p>
          <a:p>
            <a:pPr eaLnBrk="1" hangingPunct="1">
              <a:spcBef>
                <a:spcPct val="0"/>
              </a:spcBef>
            </a:pPr>
            <a:r>
              <a:rPr lang="en-US" altLang="en-US" i="0" dirty="0"/>
              <a:t>At this point, you should have defined the industry that interests you, determined who your potential customers might be</a:t>
            </a:r>
            <a:r>
              <a:rPr lang="en-US" altLang="en-US" i="0" baseline="0" dirty="0"/>
              <a:t> and</a:t>
            </a:r>
            <a:r>
              <a:rPr lang="en-US" altLang="en-US" i="0" dirty="0"/>
              <a:t> why they might want to buy from your business, and gathered some information on these domains. </a:t>
            </a:r>
          </a:p>
          <a:p>
            <a:pPr eaLnBrk="1" hangingPunct="1">
              <a:spcBef>
                <a:spcPct val="0"/>
              </a:spcBef>
            </a:pPr>
            <a:r>
              <a:rPr lang="en-US" altLang="en-US" i="0" dirty="0"/>
              <a:t>The next issue is to identify the exact competitors within that industry. These competitors are those firms that directly compete for the same set of ideal customers as your proposed business.</a:t>
            </a:r>
          </a:p>
          <a:p>
            <a:pPr eaLnBrk="1" hangingPunct="1">
              <a:spcBef>
                <a:spcPct val="0"/>
              </a:spcBef>
            </a:pPr>
            <a:endParaRPr lang="en-US" altLang="en-US" i="0" dirty="0"/>
          </a:p>
          <a:p>
            <a:pPr eaLnBrk="1" hangingPunct="1">
              <a:spcBef>
                <a:spcPct val="0"/>
              </a:spcBef>
            </a:pPr>
            <a:r>
              <a:rPr lang="en-US" altLang="en-US" i="0" dirty="0"/>
              <a:t>Although it is certainly possible to hire a consulting company to perform the type of customer research service discussed, the entrepreneur will gain invaluable insight by handling this process personally.</a:t>
            </a:r>
          </a:p>
          <a:p>
            <a:pPr eaLnBrk="1" hangingPunct="1">
              <a:spcBef>
                <a:spcPct val="0"/>
              </a:spcBef>
            </a:pPr>
            <a:r>
              <a:rPr lang="en-US" altLang="en-US" i="0" dirty="0"/>
              <a:t>Doing so will make you an expert in the area and enable you to develop a plan for a business that will give you a competitive advantage. </a:t>
            </a:r>
          </a:p>
          <a:p>
            <a:pPr eaLnBrk="1" hangingPunct="1">
              <a:spcBef>
                <a:spcPct val="0"/>
              </a:spcBef>
            </a:pPr>
            <a:endParaRPr lang="en-US" altLang="en-US" i="0" dirty="0"/>
          </a:p>
          <a:p>
            <a:pPr eaLnBrk="1" hangingPunct="1">
              <a:spcBef>
                <a:spcPct val="0"/>
              </a:spcBef>
            </a:pPr>
            <a:r>
              <a:rPr lang="en-US" altLang="en-US" i="0" dirty="0"/>
              <a:t>The benefits of planning and analysis are the nuanced insights it provides the individuals performing the activities. </a:t>
            </a:r>
            <a:r>
              <a:rPr lang="en-IN" altLang="en-US" i="0" dirty="0"/>
              <a:t>Hiring a company to gather information is not only expensive but also limits the insights to more factual data</a:t>
            </a:r>
            <a:r>
              <a:rPr lang="en-US" altLang="en-US" i="0" dirty="0"/>
              <a:t>.</a:t>
            </a:r>
          </a:p>
        </p:txBody>
      </p:sp>
      <p:sp>
        <p:nvSpPr>
          <p:cNvPr id="4" name="Slide Number Placeholder 3"/>
          <p:cNvSpPr>
            <a:spLocks noGrp="1"/>
          </p:cNvSpPr>
          <p:nvPr>
            <p:ph type="sldNum" sz="quarter" idx="5"/>
          </p:nvPr>
        </p:nvSpPr>
        <p:spPr/>
        <p:txBody>
          <a:bodyPr/>
          <a:lstStyle/>
          <a:p>
            <a:fld id="{929D4A7D-431F-4292-846A-9F3ECE149A21}" type="slidenum">
              <a:rPr lang="en-US" smtClean="0"/>
              <a:t>5</a:t>
            </a:fld>
            <a:endParaRPr lang="en-US"/>
          </a:p>
        </p:txBody>
      </p:sp>
    </p:spTree>
    <p:extLst>
      <p:ext uri="{BB962C8B-B14F-4D97-AF65-F5344CB8AC3E}">
        <p14:creationId xmlns:p14="http://schemas.microsoft.com/office/powerpoint/2010/main" val="2476126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200" i="0" dirty="0"/>
              <a:t>Learning Objective 4-5: Ensure that the entrepreneur has considered a full set of concerns in their external analysis.</a:t>
            </a:r>
          </a:p>
          <a:p>
            <a:pPr eaLnBrk="1" hangingPunct="1">
              <a:spcBef>
                <a:spcPct val="0"/>
              </a:spcBef>
            </a:pPr>
            <a:endParaRPr lang="en-US" altLang="en-US" sz="1200" i="0" dirty="0"/>
          </a:p>
          <a:p>
            <a:pPr eaLnBrk="1" hangingPunct="1">
              <a:spcBef>
                <a:spcPct val="0"/>
              </a:spcBef>
            </a:pPr>
            <a:r>
              <a:rPr lang="en-US" altLang="en-US" sz="1200" i="0" dirty="0"/>
              <a:t>An overarching part of any analysis of competitors is an understanding of the trends in the industry. These trends shape the long-term prospects of the industry. </a:t>
            </a:r>
          </a:p>
          <a:p>
            <a:pPr eaLnBrk="1" hangingPunct="1">
              <a:spcBef>
                <a:spcPct val="0"/>
              </a:spcBef>
            </a:pPr>
            <a:endParaRPr lang="en-US" altLang="en-US" sz="1200" i="0" dirty="0"/>
          </a:p>
          <a:p>
            <a:pPr eaLnBrk="1" hangingPunct="1">
              <a:spcBef>
                <a:spcPct val="0"/>
              </a:spcBef>
            </a:pPr>
            <a:r>
              <a:rPr lang="en-US" altLang="en-US" sz="1200" i="0" dirty="0"/>
              <a:t>For example, the United States is moving toward a more self-service economy, and companies that can move that process forward or take advantage of this movement appear to have an opportunity for success. </a:t>
            </a:r>
          </a:p>
          <a:p>
            <a:pPr eaLnBrk="1" hangingPunct="1">
              <a:spcBef>
                <a:spcPct val="0"/>
              </a:spcBef>
            </a:pPr>
            <a:endParaRPr lang="en-US" altLang="en-US" sz="1200" i="0" dirty="0"/>
          </a:p>
          <a:p>
            <a:pPr eaLnBrk="1" hangingPunct="1">
              <a:spcBef>
                <a:spcPct val="0"/>
              </a:spcBef>
            </a:pPr>
            <a:r>
              <a:rPr lang="en-US" altLang="en-US" sz="1200" i="0" dirty="0"/>
              <a:t>Another example might be restaurant patronage. Whereas the number of people eating at restaurants has not changed dramatically over the past few years, what they eat has been changing in a consistently predictable manner. </a:t>
            </a:r>
          </a:p>
          <a:p>
            <a:pPr eaLnBrk="1" hangingPunct="1">
              <a:spcBef>
                <a:spcPct val="0"/>
              </a:spcBef>
            </a:pPr>
            <a:r>
              <a:rPr lang="en-US" altLang="en-US" sz="1200" i="0" dirty="0"/>
              <a:t>Healthy, mid-price-range restaurant sales have been increasing dramatically.</a:t>
            </a:r>
          </a:p>
          <a:p>
            <a:pPr eaLnBrk="1" hangingPunct="1">
              <a:spcBef>
                <a:spcPct val="0"/>
              </a:spcBef>
            </a:pPr>
            <a:endParaRPr lang="en-US" altLang="en-US" sz="1200" i="0" dirty="0"/>
          </a:p>
          <a:p>
            <a:pPr eaLnBrk="1" hangingPunct="1">
              <a:spcBef>
                <a:spcPct val="0"/>
              </a:spcBef>
            </a:pPr>
            <a:r>
              <a:rPr lang="en-US" altLang="en-US" sz="1200" i="0" dirty="0"/>
              <a:t>As a result, a restaurant that enters an emerging market (e.g., utilizing the Keto Diet or another diet craze as a menu theme) may be able to be among the first to enter that niche, and thereby gain an advantage over other firms.</a:t>
            </a:r>
          </a:p>
        </p:txBody>
      </p:sp>
      <p:sp>
        <p:nvSpPr>
          <p:cNvPr id="4" name="Slide Number Placeholder 3"/>
          <p:cNvSpPr>
            <a:spLocks noGrp="1"/>
          </p:cNvSpPr>
          <p:nvPr>
            <p:ph type="sldNum" sz="quarter" idx="5"/>
          </p:nvPr>
        </p:nvSpPr>
        <p:spPr/>
        <p:txBody>
          <a:bodyPr/>
          <a:lstStyle/>
          <a:p>
            <a:fld id="{929D4A7D-431F-4292-846A-9F3ECE149A21}" type="slidenum">
              <a:rPr lang="en-US" smtClean="0"/>
              <a:t>14</a:t>
            </a:fld>
            <a:endParaRPr lang="en-US"/>
          </a:p>
        </p:txBody>
      </p:sp>
    </p:spTree>
    <p:extLst>
      <p:ext uri="{BB962C8B-B14F-4D97-AF65-F5344CB8AC3E}">
        <p14:creationId xmlns:p14="http://schemas.microsoft.com/office/powerpoint/2010/main" val="3004134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i="0" dirty="0"/>
              <a:t>Learning Objective 4-5: Ensure that the entrepreneur has considered a full set of concerns in their external analysis.</a:t>
            </a:r>
          </a:p>
          <a:p>
            <a:pPr eaLnBrk="1" hangingPunct="1">
              <a:spcBef>
                <a:spcPct val="0"/>
              </a:spcBef>
            </a:pPr>
            <a:endParaRPr lang="en-US" altLang="en-US" i="0" dirty="0"/>
          </a:p>
          <a:p>
            <a:pPr eaLnBrk="1" hangingPunct="1">
              <a:spcBef>
                <a:spcPct val="0"/>
              </a:spcBef>
            </a:pPr>
            <a:r>
              <a:rPr lang="en-US" altLang="en-US" i="0" dirty="0"/>
              <a:t>To illustrate an exit barrier, consider the principal investments for a clothing store, which are the clothes in the store. Clothes tend to be very seasonal. If a piece of clothing is not sold in season, then it likely has limited value in the near future.</a:t>
            </a:r>
          </a:p>
          <a:p>
            <a:pPr eaLnBrk="1" hangingPunct="1">
              <a:spcBef>
                <a:spcPct val="0"/>
              </a:spcBef>
            </a:pPr>
            <a:endParaRPr lang="en-US" altLang="en-US" i="0" dirty="0"/>
          </a:p>
          <a:p>
            <a:pPr eaLnBrk="1" hangingPunct="1">
              <a:spcBef>
                <a:spcPct val="0"/>
              </a:spcBef>
            </a:pPr>
            <a:r>
              <a:rPr lang="en-US" altLang="en-US" i="0" dirty="0"/>
              <a:t>The owner will need to sharply discount the price of the goods just to get as much of their invested money back before they have to close the store.</a:t>
            </a:r>
          </a:p>
          <a:p>
            <a:pPr eaLnBrk="1" hangingPunct="1">
              <a:spcBef>
                <a:spcPct val="0"/>
              </a:spcBef>
            </a:pPr>
            <a:endParaRPr lang="en-US" altLang="en-US" i="0" dirty="0"/>
          </a:p>
          <a:p>
            <a:pPr eaLnBrk="1" hangingPunct="1">
              <a:spcBef>
                <a:spcPct val="0"/>
              </a:spcBef>
            </a:pPr>
            <a:r>
              <a:rPr lang="en-US" altLang="en-US" i="0" dirty="0"/>
              <a:t>If a business owner cannot easily exit an industry, then that owner is more likely to use predatory pricing in an effort to generate cash flow and survive.</a:t>
            </a:r>
          </a:p>
          <a:p>
            <a:pPr eaLnBrk="1" hangingPunct="1">
              <a:spcBef>
                <a:spcPct val="0"/>
              </a:spcBef>
            </a:pPr>
            <a:endParaRPr lang="en-US" altLang="en-US" i="0" dirty="0"/>
          </a:p>
          <a:p>
            <a:pPr eaLnBrk="1" hangingPunct="1">
              <a:spcBef>
                <a:spcPct val="0"/>
              </a:spcBef>
            </a:pPr>
            <a:r>
              <a:rPr lang="en-US" altLang="en-US" i="0" dirty="0"/>
              <a:t>In the golf example, the initial investment for the golf course is very high, but the ease of exiting the business is also very high, as the real estate could be converted to another use such as a housing tract; thus, in the case of the golf course, there is no real exit barrier.</a:t>
            </a:r>
          </a:p>
          <a:p>
            <a:pPr eaLnBrk="1" hangingPunct="1">
              <a:spcBef>
                <a:spcPct val="0"/>
              </a:spcBef>
            </a:pPr>
            <a:endParaRPr lang="en-US" altLang="en-US" i="0" dirty="0"/>
          </a:p>
          <a:p>
            <a:pPr eaLnBrk="1" hangingPunct="1">
              <a:spcBef>
                <a:spcPct val="0"/>
              </a:spcBef>
            </a:pPr>
            <a:r>
              <a:rPr lang="en-US" altLang="en-US" i="0" dirty="0"/>
              <a:t>The ability to exit a business relatively easily tends to limit the intensity of competition in the industry and reduce the threat posed by a new entry.</a:t>
            </a:r>
          </a:p>
        </p:txBody>
      </p:sp>
      <p:sp>
        <p:nvSpPr>
          <p:cNvPr id="4" name="Slide Number Placeholder 3"/>
          <p:cNvSpPr>
            <a:spLocks noGrp="1"/>
          </p:cNvSpPr>
          <p:nvPr>
            <p:ph type="sldNum" sz="quarter" idx="5"/>
          </p:nvPr>
        </p:nvSpPr>
        <p:spPr/>
        <p:txBody>
          <a:bodyPr/>
          <a:lstStyle/>
          <a:p>
            <a:fld id="{929D4A7D-431F-4292-846A-9F3ECE149A21}" type="slidenum">
              <a:rPr lang="en-US" smtClean="0"/>
              <a:t>15</a:t>
            </a:fld>
            <a:endParaRPr lang="en-US"/>
          </a:p>
        </p:txBody>
      </p:sp>
    </p:spTree>
    <p:extLst>
      <p:ext uri="{BB962C8B-B14F-4D97-AF65-F5344CB8AC3E}">
        <p14:creationId xmlns:p14="http://schemas.microsoft.com/office/powerpoint/2010/main" val="1414436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200" i="0" dirty="0"/>
              <a:t>Learning Objective 4-6: Differentiate between those elements of the business that provide a competitive advantage and those that do not.</a:t>
            </a:r>
          </a:p>
          <a:p>
            <a:pPr eaLnBrk="1" hangingPunct="1">
              <a:spcBef>
                <a:spcPct val="0"/>
              </a:spcBef>
            </a:pPr>
            <a:endParaRPr lang="en-US" altLang="en-US" sz="1200" i="0" dirty="0"/>
          </a:p>
          <a:p>
            <a:pPr eaLnBrk="1" hangingPunct="1">
              <a:spcBef>
                <a:spcPct val="0"/>
              </a:spcBef>
            </a:pPr>
            <a:r>
              <a:rPr lang="en-US" altLang="en-US" sz="1200" b="1" i="0" dirty="0"/>
              <a:t>Competitive advantage</a:t>
            </a:r>
            <a:r>
              <a:rPr lang="en-US" altLang="en-US" sz="1200" i="0" dirty="0"/>
              <a:t>: </a:t>
            </a:r>
            <a:r>
              <a:rPr lang="en-US" altLang="en-US" sz="2000" i="0" dirty="0"/>
              <a:t>A set of offerings or capabilities that have the potential to provide the business sustained success.</a:t>
            </a:r>
            <a:endParaRPr lang="en-US" altLang="en-US" sz="1200" b="1" i="0" dirty="0"/>
          </a:p>
          <a:p>
            <a:pPr eaLnBrk="1" hangingPunct="1">
              <a:spcBef>
                <a:spcPct val="0"/>
              </a:spcBef>
            </a:pPr>
            <a:endParaRPr lang="en-US" altLang="en-US" sz="1200" i="0" dirty="0"/>
          </a:p>
          <a:p>
            <a:pPr eaLnBrk="1" hangingPunct="1">
              <a:spcBef>
                <a:spcPct val="0"/>
              </a:spcBef>
            </a:pPr>
            <a:r>
              <a:rPr lang="en-US" altLang="en-US" sz="1200" i="0" dirty="0"/>
              <a:t>Once the industry, customer, and competitor issues have been clearly identified, an entrepreneur must develop a deep understanding of the competitive advantage they expect to hold. </a:t>
            </a:r>
          </a:p>
          <a:p>
            <a:pPr eaLnBrk="1" hangingPunct="1">
              <a:spcBef>
                <a:spcPct val="0"/>
              </a:spcBef>
            </a:pPr>
            <a:r>
              <a:rPr lang="en-US" altLang="en-US" sz="1200" i="0" dirty="0"/>
              <a:t>A </a:t>
            </a:r>
            <a:r>
              <a:rPr lang="en-US" altLang="en-US" sz="1200" b="1" i="0" dirty="0"/>
              <a:t>competitive advantage </a:t>
            </a:r>
            <a:r>
              <a:rPr lang="en-US" altLang="en-US" sz="1200" i="0" dirty="0"/>
              <a:t>is made up of those things that your business does uniquely well or better than anyone else in your industry (remember the industry, and it consists of those businesses in direct competition with you in your area).</a:t>
            </a:r>
          </a:p>
          <a:p>
            <a:pPr eaLnBrk="1" hangingPunct="1">
              <a:spcBef>
                <a:spcPct val="0"/>
              </a:spcBef>
            </a:pPr>
            <a:endParaRPr lang="en-US" altLang="en-US" sz="1200" i="0" dirty="0"/>
          </a:p>
          <a:p>
            <a:pPr eaLnBrk="1" hangingPunct="1">
              <a:spcBef>
                <a:spcPct val="0"/>
              </a:spcBef>
            </a:pPr>
            <a:r>
              <a:rPr lang="en-US" altLang="en-US" sz="1200" i="0" dirty="0"/>
              <a:t>Understanding the competitive advantage is the last step in your external analysis. </a:t>
            </a:r>
          </a:p>
          <a:p>
            <a:pPr eaLnBrk="1" hangingPunct="1">
              <a:spcBef>
                <a:spcPct val="0"/>
              </a:spcBef>
            </a:pPr>
            <a:r>
              <a:rPr lang="en-US" altLang="en-US" sz="1200" i="0" dirty="0"/>
              <a:t>While the text discusses competitive advantage in greater detail in Chapter 5, it is important at this point to understand that these advantages (hopefully there will be several) will ultimately be the reason that individuals come to your business and not to one of your competitors.</a:t>
            </a:r>
          </a:p>
        </p:txBody>
      </p:sp>
      <p:sp>
        <p:nvSpPr>
          <p:cNvPr id="4" name="Slide Number Placeholder 3"/>
          <p:cNvSpPr>
            <a:spLocks noGrp="1"/>
          </p:cNvSpPr>
          <p:nvPr>
            <p:ph type="sldNum" sz="quarter" idx="5"/>
          </p:nvPr>
        </p:nvSpPr>
        <p:spPr/>
        <p:txBody>
          <a:bodyPr/>
          <a:lstStyle/>
          <a:p>
            <a:fld id="{929D4A7D-431F-4292-846A-9F3ECE149A21}" type="slidenum">
              <a:rPr lang="en-US" smtClean="0"/>
              <a:t>16</a:t>
            </a:fld>
            <a:endParaRPr lang="en-US"/>
          </a:p>
        </p:txBody>
      </p:sp>
    </p:spTree>
    <p:extLst>
      <p:ext uri="{BB962C8B-B14F-4D97-AF65-F5344CB8AC3E}">
        <p14:creationId xmlns:p14="http://schemas.microsoft.com/office/powerpoint/2010/main" val="1454686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0">
            <a:extLst>
              <a:ext uri="{FF2B5EF4-FFF2-40B4-BE49-F238E27FC236}">
                <a16:creationId xmlns:a16="http://schemas.microsoft.com/office/drawing/2014/main" id="{48D356E7-0318-20CF-6A89-A312383915D6}"/>
              </a:ext>
            </a:extLst>
          </p:cNvPr>
          <p:cNvGrpSpPr>
            <a:grpSpLocks/>
          </p:cNvGrpSpPr>
          <p:nvPr/>
        </p:nvGrpSpPr>
        <p:grpSpPr bwMode="auto">
          <a:xfrm>
            <a:off x="270933" y="0"/>
            <a:ext cx="5037667" cy="6858000"/>
            <a:chOff x="203200" y="0"/>
            <a:chExt cx="3778250" cy="6858001"/>
          </a:xfrm>
        </p:grpSpPr>
        <p:sp>
          <p:nvSpPr>
            <p:cNvPr id="5" name="Freeform 6">
              <a:extLst>
                <a:ext uri="{FF2B5EF4-FFF2-40B4-BE49-F238E27FC236}">
                  <a16:creationId xmlns:a16="http://schemas.microsoft.com/office/drawing/2014/main" id="{F2788538-70BE-97F8-F940-7FAED3DDC5C5}"/>
                </a:ext>
              </a:extLst>
            </p:cNvPr>
            <p:cNvSpPr>
              <a:spLocks/>
            </p:cNvSpPr>
            <p:nvPr/>
          </p:nvSpPr>
          <p:spPr bwMode="auto">
            <a:xfrm>
              <a:off x="641350" y="0"/>
              <a:ext cx="1365250" cy="3971925"/>
            </a:xfrm>
            <a:custGeom>
              <a:avLst/>
              <a:gdLst>
                <a:gd name="T0" fmla="*/ 0 w 860"/>
                <a:gd name="T1" fmla="*/ 2147483646 h 2502"/>
                <a:gd name="T2" fmla="*/ 2147483646 w 860"/>
                <a:gd name="T3" fmla="*/ 2147483646 h 2502"/>
                <a:gd name="T4" fmla="*/ 2147483646 w 860"/>
                <a:gd name="T5" fmla="*/ 0 h 2502"/>
                <a:gd name="T6" fmla="*/ 2147483646 w 860"/>
                <a:gd name="T7" fmla="*/ 0 h 2502"/>
                <a:gd name="T8" fmla="*/ 0 w 860"/>
                <a:gd name="T9" fmla="*/ 2147483646 h 25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2502">
                  <a:moveTo>
                    <a:pt x="0" y="2445"/>
                  </a:moveTo>
                  <a:lnTo>
                    <a:pt x="228" y="2502"/>
                  </a:lnTo>
                  <a:lnTo>
                    <a:pt x="860" y="0"/>
                  </a:lnTo>
                  <a:lnTo>
                    <a:pt x="620" y="0"/>
                  </a:lnTo>
                  <a:lnTo>
                    <a:pt x="0" y="2445"/>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6" name="Freeform 7">
              <a:extLst>
                <a:ext uri="{FF2B5EF4-FFF2-40B4-BE49-F238E27FC236}">
                  <a16:creationId xmlns:a16="http://schemas.microsoft.com/office/drawing/2014/main" id="{76E9A9B1-4BF1-94B5-35DA-D5B5C562E720}"/>
                </a:ext>
              </a:extLst>
            </p:cNvPr>
            <p:cNvSpPr/>
            <p:nvPr/>
          </p:nvSpPr>
          <p:spPr bwMode="auto">
            <a:xfrm>
              <a:off x="203200" y="0"/>
              <a:ext cx="1336675" cy="3862389"/>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7" name="Freeform 8">
              <a:extLst>
                <a:ext uri="{FF2B5EF4-FFF2-40B4-BE49-F238E27FC236}">
                  <a16:creationId xmlns:a16="http://schemas.microsoft.com/office/drawing/2014/main" id="{806F02D5-6AFA-5ABC-EB17-F466ED48D4C1}"/>
                </a:ext>
              </a:extLst>
            </p:cNvPr>
            <p:cNvSpPr/>
            <p:nvPr/>
          </p:nvSpPr>
          <p:spPr bwMode="auto">
            <a:xfrm>
              <a:off x="207963" y="3776664"/>
              <a:ext cx="1936750" cy="3081337"/>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8" name="Freeform 9">
              <a:extLst>
                <a:ext uri="{FF2B5EF4-FFF2-40B4-BE49-F238E27FC236}">
                  <a16:creationId xmlns:a16="http://schemas.microsoft.com/office/drawing/2014/main" id="{309953B2-6648-B2CA-B117-3D3D26B798C9}"/>
                </a:ext>
              </a:extLst>
            </p:cNvPr>
            <p:cNvSpPr/>
            <p:nvPr/>
          </p:nvSpPr>
          <p:spPr bwMode="auto">
            <a:xfrm>
              <a:off x="646113" y="3886201"/>
              <a:ext cx="2373312"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9" name="Freeform 10">
              <a:extLst>
                <a:ext uri="{FF2B5EF4-FFF2-40B4-BE49-F238E27FC236}">
                  <a16:creationId xmlns:a16="http://schemas.microsoft.com/office/drawing/2014/main" id="{EB53C8AA-25EE-6C22-EB46-8185325FDF7E}"/>
                </a:ext>
              </a:extLst>
            </p:cNvPr>
            <p:cNvSpPr/>
            <p:nvPr/>
          </p:nvSpPr>
          <p:spPr bwMode="auto">
            <a:xfrm>
              <a:off x="641350" y="3881439"/>
              <a:ext cx="3340100" cy="2976562"/>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10" name="Freeform 11">
              <a:extLst>
                <a:ext uri="{FF2B5EF4-FFF2-40B4-BE49-F238E27FC236}">
                  <a16:creationId xmlns:a16="http://schemas.microsoft.com/office/drawing/2014/main" id="{5111C728-F2AE-920E-12A1-404FC8DD3479}"/>
                </a:ext>
              </a:extLst>
            </p:cNvPr>
            <p:cNvSpPr/>
            <p:nvPr/>
          </p:nvSpPr>
          <p:spPr bwMode="auto">
            <a:xfrm>
              <a:off x="203200" y="3771901"/>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11" name="Freeform 12">
            <a:extLst>
              <a:ext uri="{FF2B5EF4-FFF2-40B4-BE49-F238E27FC236}">
                <a16:creationId xmlns:a16="http://schemas.microsoft.com/office/drawing/2014/main" id="{AAF903C0-9E6C-F25D-7708-E5EC6759F793}"/>
              </a:ext>
            </a:extLst>
          </p:cNvPr>
          <p:cNvSpPr>
            <a:spLocks/>
          </p:cNvSpPr>
          <p:nvPr/>
        </p:nvSpPr>
        <p:spPr bwMode="auto">
          <a:xfrm>
            <a:off x="270933" y="3771900"/>
            <a:ext cx="482600" cy="90488"/>
          </a:xfrm>
          <a:custGeom>
            <a:avLst/>
            <a:gdLst>
              <a:gd name="T0" fmla="*/ 2147483646 w 228"/>
              <a:gd name="T1" fmla="*/ 2147483646 h 57"/>
              <a:gd name="T2" fmla="*/ 0 w 228"/>
              <a:gd name="T3" fmla="*/ 0 h 57"/>
              <a:gd name="T4" fmla="*/ 2147483646 w 228"/>
              <a:gd name="T5" fmla="*/ 2147483646 h 57"/>
              <a:gd name="T6" fmla="*/ 2147483646 w 228"/>
              <a:gd name="T7" fmla="*/ 21474836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2" name="Freeform 13">
            <a:extLst>
              <a:ext uri="{FF2B5EF4-FFF2-40B4-BE49-F238E27FC236}">
                <a16:creationId xmlns:a16="http://schemas.microsoft.com/office/drawing/2014/main" id="{5D6BF0A4-3A24-37A8-5AE7-8899A0B5EC8B}"/>
              </a:ext>
            </a:extLst>
          </p:cNvPr>
          <p:cNvSpPr>
            <a:spLocks/>
          </p:cNvSpPr>
          <p:nvPr/>
        </p:nvSpPr>
        <p:spPr bwMode="auto">
          <a:xfrm>
            <a:off x="747184" y="3867150"/>
            <a:ext cx="82549" cy="80963"/>
          </a:xfrm>
          <a:custGeom>
            <a:avLst/>
            <a:gdLst>
              <a:gd name="T0" fmla="*/ 0 w 39"/>
              <a:gd name="T1" fmla="*/ 0 h 51"/>
              <a:gd name="T2" fmla="*/ 2147483646 w 39"/>
              <a:gd name="T3" fmla="*/ 2147483646 h 51"/>
              <a:gd name="T4" fmla="*/ 2147483646 w 39"/>
              <a:gd name="T5" fmla="*/ 0 h 51"/>
              <a:gd name="T6" fmla="*/ 0 w 39"/>
              <a:gd name="T7" fmla="*/ 0 h 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ctrTitle"/>
          </p:nvPr>
        </p:nvSpPr>
        <p:spPr>
          <a:xfrm>
            <a:off x="2319565" y="914401"/>
            <a:ext cx="9262836"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3898985" y="4402667"/>
            <a:ext cx="7683417"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Date Placeholder 3">
            <a:extLst>
              <a:ext uri="{FF2B5EF4-FFF2-40B4-BE49-F238E27FC236}">
                <a16:creationId xmlns:a16="http://schemas.microsoft.com/office/drawing/2014/main" id="{C03F6002-A5B5-BF74-05F7-33DB278D0183}"/>
              </a:ext>
            </a:extLst>
          </p:cNvPr>
          <p:cNvSpPr>
            <a:spLocks noGrp="1"/>
          </p:cNvSpPr>
          <p:nvPr>
            <p:ph type="dt" sz="half" idx="10"/>
          </p:nvPr>
        </p:nvSpPr>
        <p:spPr>
          <a:xfrm>
            <a:off x="9768417" y="6116639"/>
            <a:ext cx="1143000" cy="365125"/>
          </a:xfrm>
        </p:spPr>
        <p:txBody>
          <a:bodyPr/>
          <a:lstStyle>
            <a:lvl1pPr>
              <a:defRPr/>
            </a:lvl1pPr>
          </a:lstStyle>
          <a:p>
            <a:pPr>
              <a:defRPr/>
            </a:pPr>
            <a:fld id="{6719FC84-9ADC-4C9E-870E-1B6D1918480C}" type="datetimeFigureOut">
              <a:rPr lang="en-US"/>
              <a:pPr>
                <a:defRPr/>
              </a:pPr>
              <a:t>1/11/2026</a:t>
            </a:fld>
            <a:endParaRPr lang="en-US"/>
          </a:p>
        </p:txBody>
      </p:sp>
      <p:sp>
        <p:nvSpPr>
          <p:cNvPr id="14" name="Footer Placeholder 4">
            <a:extLst>
              <a:ext uri="{FF2B5EF4-FFF2-40B4-BE49-F238E27FC236}">
                <a16:creationId xmlns:a16="http://schemas.microsoft.com/office/drawing/2014/main" id="{10A4A24A-41FE-4405-8B7E-8182D068FBB1}"/>
              </a:ext>
            </a:extLst>
          </p:cNvPr>
          <p:cNvSpPr>
            <a:spLocks noGrp="1"/>
          </p:cNvSpPr>
          <p:nvPr>
            <p:ph type="ftr" sz="quarter" idx="11"/>
          </p:nvPr>
        </p:nvSpPr>
        <p:spPr>
          <a:xfrm>
            <a:off x="4832351" y="6116639"/>
            <a:ext cx="4811183" cy="365125"/>
          </a:xfrm>
        </p:spPr>
        <p:txBody>
          <a:bodyPr/>
          <a:lstStyle>
            <a:lvl1pPr>
              <a:defRPr/>
            </a:lvl1pPr>
          </a:lstStyle>
          <a:p>
            <a:pPr>
              <a:defRPr/>
            </a:pPr>
            <a:endParaRPr lang="en-US"/>
          </a:p>
        </p:txBody>
      </p:sp>
      <p:sp>
        <p:nvSpPr>
          <p:cNvPr id="15" name="Slide Number Placeholder 5">
            <a:extLst>
              <a:ext uri="{FF2B5EF4-FFF2-40B4-BE49-F238E27FC236}">
                <a16:creationId xmlns:a16="http://schemas.microsoft.com/office/drawing/2014/main" id="{2866B46D-49DB-1DB6-0C0D-D48E102C44A0}"/>
              </a:ext>
            </a:extLst>
          </p:cNvPr>
          <p:cNvSpPr>
            <a:spLocks noGrp="1"/>
          </p:cNvSpPr>
          <p:nvPr>
            <p:ph type="sldNum" sz="quarter" idx="12"/>
          </p:nvPr>
        </p:nvSpPr>
        <p:spPr>
          <a:xfrm>
            <a:off x="11034184" y="6116639"/>
            <a:ext cx="548216" cy="365125"/>
          </a:xfrm>
        </p:spPr>
        <p:txBody>
          <a:bodyPr/>
          <a:lstStyle>
            <a:lvl1pPr>
              <a:defRPr/>
            </a:lvl1pPr>
          </a:lstStyle>
          <a:p>
            <a:fld id="{1AB5AB3F-EB16-4638-B154-FDC2D4B94EBF}" type="slidenum">
              <a:rPr lang="en-US" altLang="en-US"/>
              <a:pPr/>
              <a:t>‹#›</a:t>
            </a:fld>
            <a:endParaRPr lang="en-US" altLang="en-US"/>
          </a:p>
        </p:txBody>
      </p:sp>
    </p:spTree>
    <p:extLst>
      <p:ext uri="{BB962C8B-B14F-4D97-AF65-F5344CB8AC3E}">
        <p14:creationId xmlns:p14="http://schemas.microsoft.com/office/powerpoint/2010/main" val="4126295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9512" y="457201"/>
            <a:ext cx="10272889"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1309512" y="2667000"/>
            <a:ext cx="10272889" cy="3332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C51B4D-66A3-9CF9-2671-7C509EC865C2}"/>
              </a:ext>
            </a:extLst>
          </p:cNvPr>
          <p:cNvSpPr>
            <a:spLocks noGrp="1"/>
          </p:cNvSpPr>
          <p:nvPr>
            <p:ph type="dt" sz="half" idx="10"/>
          </p:nvPr>
        </p:nvSpPr>
        <p:spPr>
          <a:xfrm>
            <a:off x="9791700" y="6108701"/>
            <a:ext cx="1143000" cy="365125"/>
          </a:xfrm>
        </p:spPr>
        <p:txBody>
          <a:bodyPr/>
          <a:lstStyle>
            <a:lvl1pPr>
              <a:defRPr/>
            </a:lvl1pPr>
          </a:lstStyle>
          <a:p>
            <a:pPr>
              <a:defRPr/>
            </a:pPr>
            <a:fld id="{BE583B7B-98E2-4DC0-A881-51EFDFABEF63}" type="datetimeFigureOut">
              <a:rPr lang="en-US"/>
              <a:pPr>
                <a:defRPr/>
              </a:pPr>
              <a:t>1/11/2026</a:t>
            </a:fld>
            <a:endParaRPr lang="en-US"/>
          </a:p>
        </p:txBody>
      </p:sp>
      <p:sp>
        <p:nvSpPr>
          <p:cNvPr id="5" name="Footer Placeholder 4">
            <a:extLst>
              <a:ext uri="{FF2B5EF4-FFF2-40B4-BE49-F238E27FC236}">
                <a16:creationId xmlns:a16="http://schemas.microsoft.com/office/drawing/2014/main" id="{3B405778-6B73-A81D-5B7D-EE4784F6C0F9}"/>
              </a:ext>
            </a:extLst>
          </p:cNvPr>
          <p:cNvSpPr>
            <a:spLocks noGrp="1"/>
          </p:cNvSpPr>
          <p:nvPr>
            <p:ph type="ftr" sz="quarter" idx="11"/>
          </p:nvPr>
        </p:nvSpPr>
        <p:spPr>
          <a:xfrm>
            <a:off x="2631017" y="6108701"/>
            <a:ext cx="7084483" cy="365125"/>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7866D1E-528F-5571-D405-981A555F2449}"/>
              </a:ext>
            </a:extLst>
          </p:cNvPr>
          <p:cNvSpPr>
            <a:spLocks noGrp="1"/>
          </p:cNvSpPr>
          <p:nvPr>
            <p:ph type="sldNum" sz="quarter" idx="12"/>
          </p:nvPr>
        </p:nvSpPr>
        <p:spPr>
          <a:xfrm>
            <a:off x="11010901" y="6108701"/>
            <a:ext cx="571500" cy="365125"/>
          </a:xfrm>
        </p:spPr>
        <p:txBody>
          <a:bodyPr/>
          <a:lstStyle>
            <a:lvl1pPr>
              <a:defRPr/>
            </a:lvl1pPr>
          </a:lstStyle>
          <a:p>
            <a:fld id="{CA8643A1-0268-4E47-8CFC-FE80E0396C32}" type="slidenum">
              <a:rPr lang="en-US" altLang="en-US"/>
              <a:pPr/>
              <a:t>‹#›</a:t>
            </a:fld>
            <a:endParaRPr lang="en-US" altLang="en-US"/>
          </a:p>
        </p:txBody>
      </p:sp>
    </p:spTree>
    <p:extLst>
      <p:ext uri="{BB962C8B-B14F-4D97-AF65-F5344CB8AC3E}">
        <p14:creationId xmlns:p14="http://schemas.microsoft.com/office/powerpoint/2010/main" val="395132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9328" y="2666999"/>
            <a:ext cx="8933073"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649331" y="5027070"/>
            <a:ext cx="8933069"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F47272-A91E-3D74-DCBC-46814ED9DDB0}"/>
              </a:ext>
            </a:extLst>
          </p:cNvPr>
          <p:cNvSpPr>
            <a:spLocks noGrp="1"/>
          </p:cNvSpPr>
          <p:nvPr>
            <p:ph type="dt" sz="half" idx="10"/>
          </p:nvPr>
        </p:nvSpPr>
        <p:spPr/>
        <p:txBody>
          <a:bodyPr/>
          <a:lstStyle>
            <a:lvl1pPr>
              <a:defRPr/>
            </a:lvl1pPr>
          </a:lstStyle>
          <a:p>
            <a:pPr>
              <a:defRPr/>
            </a:pPr>
            <a:fld id="{D4E93DF6-0EF5-42C2-9473-03E4E4BF93B9}" type="datetimeFigureOut">
              <a:rPr lang="en-US"/>
              <a:pPr>
                <a:defRPr/>
              </a:pPr>
              <a:t>1/11/2026</a:t>
            </a:fld>
            <a:endParaRPr lang="en-US"/>
          </a:p>
        </p:txBody>
      </p:sp>
      <p:sp>
        <p:nvSpPr>
          <p:cNvPr id="5" name="Footer Placeholder 4">
            <a:extLst>
              <a:ext uri="{FF2B5EF4-FFF2-40B4-BE49-F238E27FC236}">
                <a16:creationId xmlns:a16="http://schemas.microsoft.com/office/drawing/2014/main" id="{B5D047A3-CBE2-DA27-40C0-25D1E88BEA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9CC1CC9-14F4-E275-058D-DF26ECB66BF1}"/>
              </a:ext>
            </a:extLst>
          </p:cNvPr>
          <p:cNvSpPr>
            <a:spLocks noGrp="1"/>
          </p:cNvSpPr>
          <p:nvPr>
            <p:ph type="sldNum" sz="quarter" idx="12"/>
          </p:nvPr>
        </p:nvSpPr>
        <p:spPr/>
        <p:txBody>
          <a:bodyPr/>
          <a:lstStyle>
            <a:lvl1pPr>
              <a:defRPr/>
            </a:lvl1pPr>
          </a:lstStyle>
          <a:p>
            <a:fld id="{6AFDA6A0-F922-4109-A09A-05083403FF1B}" type="slidenum">
              <a:rPr lang="en-US" altLang="en-US"/>
              <a:pPr/>
              <a:t>‹#›</a:t>
            </a:fld>
            <a:endParaRPr lang="en-US" altLang="en-US"/>
          </a:p>
        </p:txBody>
      </p:sp>
    </p:spTree>
    <p:extLst>
      <p:ext uri="{BB962C8B-B14F-4D97-AF65-F5344CB8AC3E}">
        <p14:creationId xmlns:p14="http://schemas.microsoft.com/office/powerpoint/2010/main" val="677535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09512" y="685802"/>
            <a:ext cx="10272889"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09511" y="2667000"/>
            <a:ext cx="4986528"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95872" y="2667000"/>
            <a:ext cx="4986528"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21ABFE17-BE11-5438-B979-3D597E9C4D93}"/>
              </a:ext>
            </a:extLst>
          </p:cNvPr>
          <p:cNvSpPr>
            <a:spLocks noGrp="1"/>
          </p:cNvSpPr>
          <p:nvPr>
            <p:ph type="dt" sz="half" idx="10"/>
          </p:nvPr>
        </p:nvSpPr>
        <p:spPr/>
        <p:txBody>
          <a:bodyPr/>
          <a:lstStyle>
            <a:lvl1pPr>
              <a:defRPr/>
            </a:lvl1pPr>
          </a:lstStyle>
          <a:p>
            <a:pPr>
              <a:defRPr/>
            </a:pPr>
            <a:fld id="{AC4B8D51-DE92-4DC7-A6B2-66F2939550F4}" type="datetimeFigureOut">
              <a:rPr lang="en-US"/>
              <a:pPr>
                <a:defRPr/>
              </a:pPr>
              <a:t>1/11/2026</a:t>
            </a:fld>
            <a:endParaRPr lang="en-US"/>
          </a:p>
        </p:txBody>
      </p:sp>
      <p:sp>
        <p:nvSpPr>
          <p:cNvPr id="6" name="Footer Placeholder 4">
            <a:extLst>
              <a:ext uri="{FF2B5EF4-FFF2-40B4-BE49-F238E27FC236}">
                <a16:creationId xmlns:a16="http://schemas.microsoft.com/office/drawing/2014/main" id="{79EF6D3F-04E1-0165-B885-E547FF03A4D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F7F0A48-D04B-A19B-0DED-DD692099070C}"/>
              </a:ext>
            </a:extLst>
          </p:cNvPr>
          <p:cNvSpPr>
            <a:spLocks noGrp="1"/>
          </p:cNvSpPr>
          <p:nvPr>
            <p:ph type="sldNum" sz="quarter" idx="12"/>
          </p:nvPr>
        </p:nvSpPr>
        <p:spPr/>
        <p:txBody>
          <a:bodyPr/>
          <a:lstStyle>
            <a:lvl1pPr>
              <a:defRPr/>
            </a:lvl1pPr>
          </a:lstStyle>
          <a:p>
            <a:fld id="{76B645DA-F178-4DA5-94EC-FBCA487F1412}" type="slidenum">
              <a:rPr lang="en-US" altLang="en-US"/>
              <a:pPr/>
              <a:t>‹#›</a:t>
            </a:fld>
            <a:endParaRPr lang="en-US" altLang="en-US"/>
          </a:p>
        </p:txBody>
      </p:sp>
    </p:spTree>
    <p:extLst>
      <p:ext uri="{BB962C8B-B14F-4D97-AF65-F5344CB8AC3E}">
        <p14:creationId xmlns:p14="http://schemas.microsoft.com/office/powerpoint/2010/main" val="673792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642" y="2658533"/>
            <a:ext cx="46083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697" y="3335337"/>
            <a:ext cx="4896331"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2280" y="2667000"/>
            <a:ext cx="462374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9688" y="3335337"/>
            <a:ext cx="4896331"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F8415261-F1C5-65AE-6C3F-3C491E222775}"/>
              </a:ext>
            </a:extLst>
          </p:cNvPr>
          <p:cNvSpPr>
            <a:spLocks noGrp="1"/>
          </p:cNvSpPr>
          <p:nvPr>
            <p:ph type="dt" sz="half" idx="10"/>
          </p:nvPr>
        </p:nvSpPr>
        <p:spPr/>
        <p:txBody>
          <a:bodyPr/>
          <a:lstStyle>
            <a:lvl1pPr>
              <a:defRPr/>
            </a:lvl1pPr>
          </a:lstStyle>
          <a:p>
            <a:pPr>
              <a:defRPr/>
            </a:pPr>
            <a:fld id="{C8180C89-5CD9-411A-95C5-D2AE8DBCF77E}" type="datetimeFigureOut">
              <a:rPr lang="en-US"/>
              <a:pPr>
                <a:defRPr/>
              </a:pPr>
              <a:t>1/11/2026</a:t>
            </a:fld>
            <a:endParaRPr lang="en-US"/>
          </a:p>
        </p:txBody>
      </p:sp>
      <p:sp>
        <p:nvSpPr>
          <p:cNvPr id="8" name="Footer Placeholder 4">
            <a:extLst>
              <a:ext uri="{FF2B5EF4-FFF2-40B4-BE49-F238E27FC236}">
                <a16:creationId xmlns:a16="http://schemas.microsoft.com/office/drawing/2014/main" id="{EAC0CBDA-1F85-B747-F338-95CC73C6B7D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308A1CC-6D42-2CBC-98BA-77F120D4EB1F}"/>
              </a:ext>
            </a:extLst>
          </p:cNvPr>
          <p:cNvSpPr>
            <a:spLocks noGrp="1"/>
          </p:cNvSpPr>
          <p:nvPr>
            <p:ph type="sldNum" sz="quarter" idx="12"/>
          </p:nvPr>
        </p:nvSpPr>
        <p:spPr/>
        <p:txBody>
          <a:bodyPr/>
          <a:lstStyle>
            <a:lvl1pPr>
              <a:defRPr/>
            </a:lvl1pPr>
          </a:lstStyle>
          <a:p>
            <a:fld id="{D56A6E52-2A39-46D2-BBF5-F95C4A740A46}" type="slidenum">
              <a:rPr lang="en-US" altLang="en-US"/>
              <a:pPr/>
              <a:t>‹#›</a:t>
            </a:fld>
            <a:endParaRPr lang="en-US" altLang="en-US"/>
          </a:p>
        </p:txBody>
      </p:sp>
    </p:spTree>
    <p:extLst>
      <p:ext uri="{BB962C8B-B14F-4D97-AF65-F5344CB8AC3E}">
        <p14:creationId xmlns:p14="http://schemas.microsoft.com/office/powerpoint/2010/main" val="1194396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7D046003-14B9-F462-4A25-CF2870A926AC}"/>
              </a:ext>
            </a:extLst>
          </p:cNvPr>
          <p:cNvSpPr>
            <a:spLocks noGrp="1"/>
          </p:cNvSpPr>
          <p:nvPr>
            <p:ph type="dt" sz="half" idx="10"/>
          </p:nvPr>
        </p:nvSpPr>
        <p:spPr/>
        <p:txBody>
          <a:bodyPr/>
          <a:lstStyle>
            <a:lvl1pPr>
              <a:defRPr/>
            </a:lvl1pPr>
          </a:lstStyle>
          <a:p>
            <a:pPr>
              <a:defRPr/>
            </a:pPr>
            <a:fld id="{7ADC4685-65CD-4CA3-9E5C-B14EB06DE3B4}" type="datetimeFigureOut">
              <a:rPr lang="en-US"/>
              <a:pPr>
                <a:defRPr/>
              </a:pPr>
              <a:t>1/11/2026</a:t>
            </a:fld>
            <a:endParaRPr lang="en-US"/>
          </a:p>
        </p:txBody>
      </p:sp>
      <p:sp>
        <p:nvSpPr>
          <p:cNvPr id="4" name="Footer Placeholder 4">
            <a:extLst>
              <a:ext uri="{FF2B5EF4-FFF2-40B4-BE49-F238E27FC236}">
                <a16:creationId xmlns:a16="http://schemas.microsoft.com/office/drawing/2014/main" id="{CC88E11C-07E1-F073-8149-1DD5CDB0ACB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F7ADE07-FBA6-7CC1-428F-1AC7CB386DA7}"/>
              </a:ext>
            </a:extLst>
          </p:cNvPr>
          <p:cNvSpPr>
            <a:spLocks noGrp="1"/>
          </p:cNvSpPr>
          <p:nvPr>
            <p:ph type="sldNum" sz="quarter" idx="12"/>
          </p:nvPr>
        </p:nvSpPr>
        <p:spPr/>
        <p:txBody>
          <a:bodyPr/>
          <a:lstStyle>
            <a:lvl1pPr>
              <a:defRPr/>
            </a:lvl1pPr>
          </a:lstStyle>
          <a:p>
            <a:fld id="{4DF81E4D-D7BE-4838-AEBC-48C3262F15E2}" type="slidenum">
              <a:rPr lang="en-US" altLang="en-US"/>
              <a:pPr/>
              <a:t>‹#›</a:t>
            </a:fld>
            <a:endParaRPr lang="en-US" altLang="en-US"/>
          </a:p>
        </p:txBody>
      </p:sp>
    </p:spTree>
    <p:extLst>
      <p:ext uri="{BB962C8B-B14F-4D97-AF65-F5344CB8AC3E}">
        <p14:creationId xmlns:p14="http://schemas.microsoft.com/office/powerpoint/2010/main" val="61020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AAD636A-2EA0-DABF-0447-A60221E8F1DA}"/>
              </a:ext>
            </a:extLst>
          </p:cNvPr>
          <p:cNvSpPr>
            <a:spLocks noGrp="1"/>
          </p:cNvSpPr>
          <p:nvPr>
            <p:ph type="dt" sz="half" idx="10"/>
          </p:nvPr>
        </p:nvSpPr>
        <p:spPr/>
        <p:txBody>
          <a:bodyPr/>
          <a:lstStyle>
            <a:lvl1pPr>
              <a:defRPr/>
            </a:lvl1pPr>
          </a:lstStyle>
          <a:p>
            <a:pPr>
              <a:defRPr/>
            </a:pPr>
            <a:fld id="{D36C69D2-F277-4222-9562-75854DBC3C7B}" type="datetimeFigureOut">
              <a:rPr lang="en-US"/>
              <a:pPr>
                <a:defRPr/>
              </a:pPr>
              <a:t>1/11/2026</a:t>
            </a:fld>
            <a:endParaRPr lang="en-US"/>
          </a:p>
        </p:txBody>
      </p:sp>
      <p:sp>
        <p:nvSpPr>
          <p:cNvPr id="3" name="Footer Placeholder 4">
            <a:extLst>
              <a:ext uri="{FF2B5EF4-FFF2-40B4-BE49-F238E27FC236}">
                <a16:creationId xmlns:a16="http://schemas.microsoft.com/office/drawing/2014/main" id="{336E56F0-0F34-0D7E-16EB-F9903BBC89A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78AE218-A733-4493-CB6E-B56D183A6F5C}"/>
              </a:ext>
            </a:extLst>
          </p:cNvPr>
          <p:cNvSpPr>
            <a:spLocks noGrp="1"/>
          </p:cNvSpPr>
          <p:nvPr>
            <p:ph type="sldNum" sz="quarter" idx="12"/>
          </p:nvPr>
        </p:nvSpPr>
        <p:spPr/>
        <p:txBody>
          <a:bodyPr/>
          <a:lstStyle>
            <a:lvl1pPr>
              <a:defRPr/>
            </a:lvl1pPr>
          </a:lstStyle>
          <a:p>
            <a:fld id="{1186A904-708C-4A71-B9D3-D74E33E0B77F}" type="slidenum">
              <a:rPr lang="en-US" altLang="en-US"/>
              <a:pPr/>
              <a:t>‹#›</a:t>
            </a:fld>
            <a:endParaRPr lang="en-US" altLang="en-US"/>
          </a:p>
        </p:txBody>
      </p:sp>
    </p:spTree>
    <p:extLst>
      <p:ext uri="{BB962C8B-B14F-4D97-AF65-F5344CB8AC3E}">
        <p14:creationId xmlns:p14="http://schemas.microsoft.com/office/powerpoint/2010/main" val="165443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699" y="1600200"/>
            <a:ext cx="355004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3404" y="685801"/>
            <a:ext cx="6242616" cy="5105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699" y="2971800"/>
            <a:ext cx="3550045"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752F4A4-3837-7A3F-218D-16E036146174}"/>
              </a:ext>
            </a:extLst>
          </p:cNvPr>
          <p:cNvSpPr>
            <a:spLocks noGrp="1"/>
          </p:cNvSpPr>
          <p:nvPr>
            <p:ph type="dt" sz="half" idx="10"/>
          </p:nvPr>
        </p:nvSpPr>
        <p:spPr/>
        <p:txBody>
          <a:bodyPr/>
          <a:lstStyle>
            <a:lvl1pPr>
              <a:defRPr/>
            </a:lvl1pPr>
          </a:lstStyle>
          <a:p>
            <a:pPr>
              <a:defRPr/>
            </a:pPr>
            <a:fld id="{3BCFC980-B2FC-4FC5-AD19-1F348E2E3799}" type="datetimeFigureOut">
              <a:rPr lang="en-US"/>
              <a:pPr>
                <a:defRPr/>
              </a:pPr>
              <a:t>1/11/2026</a:t>
            </a:fld>
            <a:endParaRPr lang="en-US"/>
          </a:p>
        </p:txBody>
      </p:sp>
      <p:sp>
        <p:nvSpPr>
          <p:cNvPr id="6" name="Footer Placeholder 4">
            <a:extLst>
              <a:ext uri="{FF2B5EF4-FFF2-40B4-BE49-F238E27FC236}">
                <a16:creationId xmlns:a16="http://schemas.microsoft.com/office/drawing/2014/main" id="{971D6B12-419A-6254-4349-D9B5A547B86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B75C1C2-E38B-70C5-1688-030E48C5F0C3}"/>
              </a:ext>
            </a:extLst>
          </p:cNvPr>
          <p:cNvSpPr>
            <a:spLocks noGrp="1"/>
          </p:cNvSpPr>
          <p:nvPr>
            <p:ph type="sldNum" sz="quarter" idx="12"/>
          </p:nvPr>
        </p:nvSpPr>
        <p:spPr/>
        <p:txBody>
          <a:bodyPr/>
          <a:lstStyle>
            <a:lvl1pPr>
              <a:defRPr/>
            </a:lvl1pPr>
          </a:lstStyle>
          <a:p>
            <a:fld id="{028FA336-3338-49A4-8AE0-BE03EA68696B}" type="slidenum">
              <a:rPr lang="en-US" altLang="en-US"/>
              <a:pPr/>
              <a:t>‹#›</a:t>
            </a:fld>
            <a:endParaRPr lang="en-US" altLang="en-US"/>
          </a:p>
        </p:txBody>
      </p:sp>
    </p:spTree>
    <p:extLst>
      <p:ext uri="{BB962C8B-B14F-4D97-AF65-F5344CB8AC3E}">
        <p14:creationId xmlns:p14="http://schemas.microsoft.com/office/powerpoint/2010/main" val="1848329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110" y="1752599"/>
            <a:ext cx="5427572"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6661" y="914400"/>
            <a:ext cx="3281828"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483110" y="3124199"/>
            <a:ext cx="5427572"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3">
            <a:extLst>
              <a:ext uri="{FF2B5EF4-FFF2-40B4-BE49-F238E27FC236}">
                <a16:creationId xmlns:a16="http://schemas.microsoft.com/office/drawing/2014/main" id="{231C0BE8-4955-11ED-C02C-830A05702AE1}"/>
              </a:ext>
            </a:extLst>
          </p:cNvPr>
          <p:cNvSpPr>
            <a:spLocks noGrp="1"/>
          </p:cNvSpPr>
          <p:nvPr>
            <p:ph type="dt" sz="half" idx="10"/>
          </p:nvPr>
        </p:nvSpPr>
        <p:spPr/>
        <p:txBody>
          <a:bodyPr/>
          <a:lstStyle>
            <a:lvl1pPr>
              <a:defRPr/>
            </a:lvl1pPr>
          </a:lstStyle>
          <a:p>
            <a:pPr>
              <a:defRPr/>
            </a:pPr>
            <a:fld id="{FBE5D7C5-4C89-4F09-B25E-ACFB0A7162AE}" type="datetimeFigureOut">
              <a:rPr lang="en-US"/>
              <a:pPr>
                <a:defRPr/>
              </a:pPr>
              <a:t>1/11/2026</a:t>
            </a:fld>
            <a:endParaRPr lang="en-US"/>
          </a:p>
        </p:txBody>
      </p:sp>
      <p:sp>
        <p:nvSpPr>
          <p:cNvPr id="5" name="Footer Placeholder 4">
            <a:extLst>
              <a:ext uri="{FF2B5EF4-FFF2-40B4-BE49-F238E27FC236}">
                <a16:creationId xmlns:a16="http://schemas.microsoft.com/office/drawing/2014/main" id="{D69E8351-E214-BCD9-1FD6-00A1CC68475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BCA1828-70BC-63DC-1876-534F4693F132}"/>
              </a:ext>
            </a:extLst>
          </p:cNvPr>
          <p:cNvSpPr>
            <a:spLocks noGrp="1"/>
          </p:cNvSpPr>
          <p:nvPr>
            <p:ph type="sldNum" sz="quarter" idx="12"/>
          </p:nvPr>
        </p:nvSpPr>
        <p:spPr/>
        <p:txBody>
          <a:bodyPr/>
          <a:lstStyle>
            <a:lvl1pPr>
              <a:defRPr/>
            </a:lvl1pPr>
          </a:lstStyle>
          <a:p>
            <a:fld id="{815DA12F-A89D-4C2E-9772-79C7E08B3A48}" type="slidenum">
              <a:rPr lang="en-US" altLang="en-US"/>
              <a:pPr/>
              <a:t>‹#›</a:t>
            </a:fld>
            <a:endParaRPr lang="en-US" altLang="en-US"/>
          </a:p>
        </p:txBody>
      </p:sp>
    </p:spTree>
    <p:extLst>
      <p:ext uri="{BB962C8B-B14F-4D97-AF65-F5344CB8AC3E}">
        <p14:creationId xmlns:p14="http://schemas.microsoft.com/office/powerpoint/2010/main" val="217346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698" y="4732865"/>
            <a:ext cx="1002132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634" y="932112"/>
            <a:ext cx="8228087"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484698" y="5299603"/>
            <a:ext cx="1002132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CC08049-D3CB-5AFF-61AB-52B6F745A45F}"/>
              </a:ext>
            </a:extLst>
          </p:cNvPr>
          <p:cNvSpPr>
            <a:spLocks noGrp="1"/>
          </p:cNvSpPr>
          <p:nvPr>
            <p:ph type="dt" sz="half" idx="10"/>
          </p:nvPr>
        </p:nvSpPr>
        <p:spPr/>
        <p:txBody>
          <a:bodyPr/>
          <a:lstStyle>
            <a:lvl1pPr>
              <a:defRPr/>
            </a:lvl1pPr>
          </a:lstStyle>
          <a:p>
            <a:pPr>
              <a:defRPr/>
            </a:pPr>
            <a:fld id="{465DF2B0-12D7-49A7-BA10-EB44371DE875}" type="datetimeFigureOut">
              <a:rPr lang="en-US"/>
              <a:pPr>
                <a:defRPr/>
              </a:pPr>
              <a:t>1/11/2026</a:t>
            </a:fld>
            <a:endParaRPr lang="en-US"/>
          </a:p>
        </p:txBody>
      </p:sp>
      <p:sp>
        <p:nvSpPr>
          <p:cNvPr id="6" name="Footer Placeholder 4">
            <a:extLst>
              <a:ext uri="{FF2B5EF4-FFF2-40B4-BE49-F238E27FC236}">
                <a16:creationId xmlns:a16="http://schemas.microsoft.com/office/drawing/2014/main" id="{5B620458-7CEF-7EC3-4E8C-966264033EA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912DC2A-A12A-583E-A0FF-EB9A1082F200}"/>
              </a:ext>
            </a:extLst>
          </p:cNvPr>
          <p:cNvSpPr>
            <a:spLocks noGrp="1"/>
          </p:cNvSpPr>
          <p:nvPr>
            <p:ph type="sldNum" sz="quarter" idx="12"/>
          </p:nvPr>
        </p:nvSpPr>
        <p:spPr/>
        <p:txBody>
          <a:bodyPr/>
          <a:lstStyle>
            <a:lvl1pPr>
              <a:defRPr/>
            </a:lvl1pPr>
          </a:lstStyle>
          <a:p>
            <a:fld id="{D8AD4D6C-133A-49AB-B960-AC6FE3DE18BC}" type="slidenum">
              <a:rPr lang="en-US" altLang="en-US"/>
              <a:pPr/>
              <a:t>‹#›</a:t>
            </a:fld>
            <a:endParaRPr lang="en-US" altLang="en-US"/>
          </a:p>
        </p:txBody>
      </p:sp>
    </p:spTree>
    <p:extLst>
      <p:ext uri="{BB962C8B-B14F-4D97-AF65-F5344CB8AC3E}">
        <p14:creationId xmlns:p14="http://schemas.microsoft.com/office/powerpoint/2010/main" val="1881675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700" y="685800"/>
            <a:ext cx="10021321" cy="304800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699" y="4343400"/>
            <a:ext cx="10021323"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030C2D-D2C2-101F-69B5-E6B4853C714F}"/>
              </a:ext>
            </a:extLst>
          </p:cNvPr>
          <p:cNvSpPr>
            <a:spLocks noGrp="1"/>
          </p:cNvSpPr>
          <p:nvPr>
            <p:ph type="dt" sz="half" idx="10"/>
          </p:nvPr>
        </p:nvSpPr>
        <p:spPr/>
        <p:txBody>
          <a:bodyPr/>
          <a:lstStyle>
            <a:lvl1pPr>
              <a:defRPr/>
            </a:lvl1pPr>
          </a:lstStyle>
          <a:p>
            <a:pPr>
              <a:defRPr/>
            </a:pPr>
            <a:fld id="{C63706F8-2292-4E55-BBAA-2C96D7CBA9C5}" type="datetimeFigureOut">
              <a:rPr lang="en-US"/>
              <a:pPr>
                <a:defRPr/>
              </a:pPr>
              <a:t>1/11/2026</a:t>
            </a:fld>
            <a:endParaRPr lang="en-US"/>
          </a:p>
        </p:txBody>
      </p:sp>
      <p:sp>
        <p:nvSpPr>
          <p:cNvPr id="5" name="Footer Placeholder 4">
            <a:extLst>
              <a:ext uri="{FF2B5EF4-FFF2-40B4-BE49-F238E27FC236}">
                <a16:creationId xmlns:a16="http://schemas.microsoft.com/office/drawing/2014/main" id="{7602147B-2CC0-4E3D-4C35-088DF103436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AA6073D-56A6-C9D5-E941-2266B5583106}"/>
              </a:ext>
            </a:extLst>
          </p:cNvPr>
          <p:cNvSpPr>
            <a:spLocks noGrp="1"/>
          </p:cNvSpPr>
          <p:nvPr>
            <p:ph type="sldNum" sz="quarter" idx="12"/>
          </p:nvPr>
        </p:nvSpPr>
        <p:spPr/>
        <p:txBody>
          <a:bodyPr/>
          <a:lstStyle>
            <a:lvl1pPr>
              <a:defRPr/>
            </a:lvl1pPr>
          </a:lstStyle>
          <a:p>
            <a:fld id="{6EC76A86-8325-48A0-944C-8BDCBAF61288}" type="slidenum">
              <a:rPr lang="en-US" altLang="en-US"/>
              <a:pPr/>
              <a:t>‹#›</a:t>
            </a:fld>
            <a:endParaRPr lang="en-US" altLang="en-US"/>
          </a:p>
        </p:txBody>
      </p:sp>
    </p:spTree>
    <p:extLst>
      <p:ext uri="{BB962C8B-B14F-4D97-AF65-F5344CB8AC3E}">
        <p14:creationId xmlns:p14="http://schemas.microsoft.com/office/powerpoint/2010/main" val="1558121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AFBA53-771B-2025-98DA-B3745D93110A}"/>
              </a:ext>
            </a:extLst>
          </p:cNvPr>
          <p:cNvSpPr txBox="1"/>
          <p:nvPr/>
        </p:nvSpPr>
        <p:spPr>
          <a:xfrm>
            <a:off x="1293284" y="8636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en-US" sz="8000" dirty="0">
                <a:effectLst/>
              </a:rPr>
              <a:t>“</a:t>
            </a:r>
          </a:p>
        </p:txBody>
      </p:sp>
      <p:sp>
        <p:nvSpPr>
          <p:cNvPr id="5" name="TextBox 4">
            <a:extLst>
              <a:ext uri="{FF2B5EF4-FFF2-40B4-BE49-F238E27FC236}">
                <a16:creationId xmlns:a16="http://schemas.microsoft.com/office/drawing/2014/main" id="{C557B013-4B78-E003-B50F-64DB766365DB}"/>
              </a:ext>
            </a:extLst>
          </p:cNvPr>
          <p:cNvSpPr txBox="1"/>
          <p:nvPr/>
        </p:nvSpPr>
        <p:spPr>
          <a:xfrm>
            <a:off x="10896600" y="28194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defRPr/>
            </a:pPr>
            <a:r>
              <a:rPr lang="en-US" sz="8000" dirty="0">
                <a:effectLst/>
              </a:rPr>
              <a:t>”</a:t>
            </a:r>
          </a:p>
        </p:txBody>
      </p:sp>
      <p:sp>
        <p:nvSpPr>
          <p:cNvPr id="2" name="Title 1"/>
          <p:cNvSpPr>
            <a:spLocks noGrp="1"/>
          </p:cNvSpPr>
          <p:nvPr>
            <p:ph type="title"/>
          </p:nvPr>
        </p:nvSpPr>
        <p:spPr>
          <a:xfrm>
            <a:off x="1902322" y="685801"/>
            <a:ext cx="9298820" cy="2743199"/>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130980" y="3428999"/>
            <a:ext cx="8841504" cy="381000"/>
          </a:xfrm>
        </p:spPr>
        <p:txBody>
          <a:bodyP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698" y="4343400"/>
            <a:ext cx="10021321"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6AD251E4-2B79-3C1E-EE1B-ADB38184BE6C}"/>
              </a:ext>
            </a:extLst>
          </p:cNvPr>
          <p:cNvSpPr>
            <a:spLocks noGrp="1"/>
          </p:cNvSpPr>
          <p:nvPr>
            <p:ph type="dt" sz="half" idx="14"/>
          </p:nvPr>
        </p:nvSpPr>
        <p:spPr/>
        <p:txBody>
          <a:bodyPr/>
          <a:lstStyle>
            <a:lvl1pPr>
              <a:defRPr/>
            </a:lvl1pPr>
          </a:lstStyle>
          <a:p>
            <a:pPr>
              <a:defRPr/>
            </a:pPr>
            <a:fld id="{390C4846-A666-4686-85B7-52B7E9BE59A8}" type="datetimeFigureOut">
              <a:rPr lang="en-US"/>
              <a:pPr>
                <a:defRPr/>
              </a:pPr>
              <a:t>1/11/2026</a:t>
            </a:fld>
            <a:endParaRPr lang="en-US"/>
          </a:p>
        </p:txBody>
      </p:sp>
      <p:sp>
        <p:nvSpPr>
          <p:cNvPr id="7" name="Footer Placeholder 4">
            <a:extLst>
              <a:ext uri="{FF2B5EF4-FFF2-40B4-BE49-F238E27FC236}">
                <a16:creationId xmlns:a16="http://schemas.microsoft.com/office/drawing/2014/main" id="{3B605B50-A46D-BB13-D4F0-E8A039C7BE0E}"/>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80194BFB-2DE8-F9CC-5E53-F5F968743B3E}"/>
              </a:ext>
            </a:extLst>
          </p:cNvPr>
          <p:cNvSpPr>
            <a:spLocks noGrp="1"/>
          </p:cNvSpPr>
          <p:nvPr>
            <p:ph type="sldNum" sz="quarter" idx="16"/>
          </p:nvPr>
        </p:nvSpPr>
        <p:spPr/>
        <p:txBody>
          <a:bodyPr/>
          <a:lstStyle>
            <a:lvl1pPr>
              <a:defRPr/>
            </a:lvl1pPr>
          </a:lstStyle>
          <a:p>
            <a:fld id="{723C0993-8543-412A-A9CA-5722874414AB}" type="slidenum">
              <a:rPr lang="en-US" altLang="en-US"/>
              <a:pPr/>
              <a:t>‹#›</a:t>
            </a:fld>
            <a:endParaRPr lang="en-US" altLang="en-US"/>
          </a:p>
        </p:txBody>
      </p:sp>
    </p:spTree>
    <p:extLst>
      <p:ext uri="{BB962C8B-B14F-4D97-AF65-F5344CB8AC3E}">
        <p14:creationId xmlns:p14="http://schemas.microsoft.com/office/powerpoint/2010/main" val="178808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701" y="3308581"/>
            <a:ext cx="1002131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699" y="4777381"/>
            <a:ext cx="1002132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A40C14-46D3-3A9E-3CEE-09AD71BD60F5}"/>
              </a:ext>
            </a:extLst>
          </p:cNvPr>
          <p:cNvSpPr>
            <a:spLocks noGrp="1"/>
          </p:cNvSpPr>
          <p:nvPr>
            <p:ph type="dt" sz="half" idx="10"/>
          </p:nvPr>
        </p:nvSpPr>
        <p:spPr/>
        <p:txBody>
          <a:bodyPr/>
          <a:lstStyle>
            <a:lvl1pPr>
              <a:defRPr/>
            </a:lvl1pPr>
          </a:lstStyle>
          <a:p>
            <a:pPr>
              <a:defRPr/>
            </a:pPr>
            <a:fld id="{0E153E85-765E-4F9B-86CF-68F87D751576}" type="datetimeFigureOut">
              <a:rPr lang="en-US"/>
              <a:pPr>
                <a:defRPr/>
              </a:pPr>
              <a:t>1/11/2026</a:t>
            </a:fld>
            <a:endParaRPr lang="en-US"/>
          </a:p>
        </p:txBody>
      </p:sp>
      <p:sp>
        <p:nvSpPr>
          <p:cNvPr id="5" name="Footer Placeholder 4">
            <a:extLst>
              <a:ext uri="{FF2B5EF4-FFF2-40B4-BE49-F238E27FC236}">
                <a16:creationId xmlns:a16="http://schemas.microsoft.com/office/drawing/2014/main" id="{20615FA1-FF6C-8549-A222-101B3882BD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B65DFA-4329-4E24-CBB0-4B2D91BCAAC4}"/>
              </a:ext>
            </a:extLst>
          </p:cNvPr>
          <p:cNvSpPr>
            <a:spLocks noGrp="1"/>
          </p:cNvSpPr>
          <p:nvPr>
            <p:ph type="sldNum" sz="quarter" idx="12"/>
          </p:nvPr>
        </p:nvSpPr>
        <p:spPr/>
        <p:txBody>
          <a:bodyPr/>
          <a:lstStyle>
            <a:lvl1pPr>
              <a:defRPr/>
            </a:lvl1pPr>
          </a:lstStyle>
          <a:p>
            <a:fld id="{7180E046-E8B8-4F86-8FD0-1908781A66DF}" type="slidenum">
              <a:rPr lang="en-US" altLang="en-US"/>
              <a:pPr/>
              <a:t>‹#›</a:t>
            </a:fld>
            <a:endParaRPr lang="en-US" altLang="en-US"/>
          </a:p>
        </p:txBody>
      </p:sp>
    </p:spTree>
    <p:extLst>
      <p:ext uri="{BB962C8B-B14F-4D97-AF65-F5344CB8AC3E}">
        <p14:creationId xmlns:p14="http://schemas.microsoft.com/office/powerpoint/2010/main" val="3806128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565065-06C0-D74F-9CA2-125AAE92D588}"/>
              </a:ext>
            </a:extLst>
          </p:cNvPr>
          <p:cNvSpPr txBox="1"/>
          <p:nvPr/>
        </p:nvSpPr>
        <p:spPr>
          <a:xfrm>
            <a:off x="1293284" y="8636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en-US" sz="8000" dirty="0">
                <a:effectLst/>
              </a:rPr>
              <a:t>“</a:t>
            </a:r>
          </a:p>
        </p:txBody>
      </p:sp>
      <p:sp>
        <p:nvSpPr>
          <p:cNvPr id="5" name="TextBox 4">
            <a:extLst>
              <a:ext uri="{FF2B5EF4-FFF2-40B4-BE49-F238E27FC236}">
                <a16:creationId xmlns:a16="http://schemas.microsoft.com/office/drawing/2014/main" id="{873FE39C-3BD9-CE85-49A5-3AF677043E29}"/>
              </a:ext>
            </a:extLst>
          </p:cNvPr>
          <p:cNvSpPr txBox="1"/>
          <p:nvPr/>
        </p:nvSpPr>
        <p:spPr>
          <a:xfrm>
            <a:off x="10896600" y="28194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defRPr/>
            </a:pPr>
            <a:r>
              <a:rPr lang="en-US" sz="8000" dirty="0">
                <a:effectLst/>
              </a:rPr>
              <a:t>”</a:t>
            </a:r>
          </a:p>
        </p:txBody>
      </p:sp>
      <p:sp>
        <p:nvSpPr>
          <p:cNvPr id="2" name="Title 1"/>
          <p:cNvSpPr>
            <a:spLocks noGrp="1"/>
          </p:cNvSpPr>
          <p:nvPr>
            <p:ph type="title"/>
          </p:nvPr>
        </p:nvSpPr>
        <p:spPr>
          <a:xfrm>
            <a:off x="1902322" y="685801"/>
            <a:ext cx="9298820" cy="2743199"/>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700" y="3886200"/>
            <a:ext cx="10021320" cy="889000"/>
          </a:xfrm>
        </p:spPr>
        <p:txBody>
          <a:bodyPr rtlCol="0" anchor="b">
            <a:normAutofit/>
          </a:bodyPr>
          <a:lstStyle>
            <a:lvl1pPr algn="r">
              <a:buNone/>
              <a:defRPr lang="en-US" sz="2400" b="0" cap="none" dirty="0">
                <a:ln w="3175" cmpd="sng">
                  <a:noFill/>
                </a:ln>
                <a:solidFill>
                  <a:schemeClr val="tx1"/>
                </a:solidFill>
                <a:effectLst/>
              </a:defRPr>
            </a:lvl1pPr>
          </a:lstStyle>
          <a:p>
            <a:pPr lvl="0"/>
            <a:r>
              <a:rPr lang="en-US"/>
              <a:t>Click to edit Master text styles</a:t>
            </a:r>
          </a:p>
        </p:txBody>
      </p:sp>
      <p:sp>
        <p:nvSpPr>
          <p:cNvPr id="3" name="Text Placeholder 2"/>
          <p:cNvSpPr>
            <a:spLocks noGrp="1"/>
          </p:cNvSpPr>
          <p:nvPr>
            <p:ph type="body" idx="1"/>
          </p:nvPr>
        </p:nvSpPr>
        <p:spPr>
          <a:xfrm>
            <a:off x="1484699" y="4775200"/>
            <a:ext cx="1002132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57D340AD-58F9-7DFA-F92C-38A10494006F}"/>
              </a:ext>
            </a:extLst>
          </p:cNvPr>
          <p:cNvSpPr>
            <a:spLocks noGrp="1"/>
          </p:cNvSpPr>
          <p:nvPr>
            <p:ph type="dt" sz="half" idx="14"/>
          </p:nvPr>
        </p:nvSpPr>
        <p:spPr/>
        <p:txBody>
          <a:bodyPr/>
          <a:lstStyle>
            <a:lvl1pPr>
              <a:defRPr/>
            </a:lvl1pPr>
          </a:lstStyle>
          <a:p>
            <a:pPr>
              <a:defRPr/>
            </a:pPr>
            <a:fld id="{3D7A10D9-C9AF-4B9D-8F4C-A49750B2F976}" type="datetimeFigureOut">
              <a:rPr lang="en-US"/>
              <a:pPr>
                <a:defRPr/>
              </a:pPr>
              <a:t>1/11/2026</a:t>
            </a:fld>
            <a:endParaRPr lang="en-US"/>
          </a:p>
        </p:txBody>
      </p:sp>
      <p:sp>
        <p:nvSpPr>
          <p:cNvPr id="7" name="Footer Placeholder 4">
            <a:extLst>
              <a:ext uri="{FF2B5EF4-FFF2-40B4-BE49-F238E27FC236}">
                <a16:creationId xmlns:a16="http://schemas.microsoft.com/office/drawing/2014/main" id="{EBE340FE-5DEE-2683-2E7A-D1302C0189FB}"/>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11F6AD67-556E-7598-2069-32D6D0668B89}"/>
              </a:ext>
            </a:extLst>
          </p:cNvPr>
          <p:cNvSpPr>
            <a:spLocks noGrp="1"/>
          </p:cNvSpPr>
          <p:nvPr>
            <p:ph type="sldNum" sz="quarter" idx="16"/>
          </p:nvPr>
        </p:nvSpPr>
        <p:spPr/>
        <p:txBody>
          <a:bodyPr/>
          <a:lstStyle>
            <a:lvl1pPr>
              <a:defRPr/>
            </a:lvl1pPr>
          </a:lstStyle>
          <a:p>
            <a:fld id="{B792FF69-B4C7-456B-931E-AF927370816F}" type="slidenum">
              <a:rPr lang="en-US" altLang="en-US"/>
              <a:pPr/>
              <a:t>‹#›</a:t>
            </a:fld>
            <a:endParaRPr lang="en-US" altLang="en-US"/>
          </a:p>
        </p:txBody>
      </p:sp>
    </p:spTree>
    <p:extLst>
      <p:ext uri="{BB962C8B-B14F-4D97-AF65-F5344CB8AC3E}">
        <p14:creationId xmlns:p14="http://schemas.microsoft.com/office/powerpoint/2010/main" val="4164489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701" y="685802"/>
            <a:ext cx="10021321" cy="2727325"/>
          </a:xfrm>
        </p:spPr>
        <p:txBody>
          <a:bodyPr rtlCol="0">
            <a:normAutofit/>
          </a:bodyPr>
          <a:lstStyle>
            <a:lvl1pPr>
              <a:defRPr lang="en-US" b="0" dirty="0"/>
            </a:lvl1pPr>
          </a:lstStyle>
          <a:p>
            <a:pPr lvl="0"/>
            <a:r>
              <a:rPr lang="en-US"/>
              <a:t>Click to edit Master title style</a:t>
            </a:r>
            <a:endParaRPr lang="en-US" dirty="0"/>
          </a:p>
        </p:txBody>
      </p:sp>
      <p:sp>
        <p:nvSpPr>
          <p:cNvPr id="10" name="Text Placeholder 9"/>
          <p:cNvSpPr>
            <a:spLocks noGrp="1"/>
          </p:cNvSpPr>
          <p:nvPr>
            <p:ph type="body" sz="quarter" idx="13"/>
          </p:nvPr>
        </p:nvSpPr>
        <p:spPr>
          <a:xfrm>
            <a:off x="1484699" y="3505200"/>
            <a:ext cx="10021323" cy="838200"/>
          </a:xfrm>
        </p:spPr>
        <p:txBody>
          <a:bodyPr rtlCol="0" anchor="b">
            <a:normAutofit/>
          </a:bodyPr>
          <a:lstStyle>
            <a:lvl1pPr>
              <a:buNone/>
              <a:defRPr lang="en-US" sz="2800" b="0" cap="none" dirty="0">
                <a:ln w="3175" cmpd="sng">
                  <a:noFill/>
                </a:ln>
                <a:solidFill>
                  <a:schemeClr val="tx1"/>
                </a:solidFill>
                <a:effectLst/>
              </a:defRPr>
            </a:lvl1pPr>
          </a:lstStyle>
          <a:p>
            <a:pPr lvl="0"/>
            <a:r>
              <a:rPr lang="en-US"/>
              <a:t>Click to edit Master text styles</a:t>
            </a:r>
          </a:p>
        </p:txBody>
      </p:sp>
      <p:sp>
        <p:nvSpPr>
          <p:cNvPr id="3" name="Text Placeholder 2"/>
          <p:cNvSpPr>
            <a:spLocks noGrp="1"/>
          </p:cNvSpPr>
          <p:nvPr>
            <p:ph type="body" idx="1"/>
          </p:nvPr>
        </p:nvSpPr>
        <p:spPr>
          <a:xfrm>
            <a:off x="1484699" y="4343400"/>
            <a:ext cx="1002132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B5CF32-53AF-1551-6E85-FDCA1E5ADECB}"/>
              </a:ext>
            </a:extLst>
          </p:cNvPr>
          <p:cNvSpPr>
            <a:spLocks noGrp="1"/>
          </p:cNvSpPr>
          <p:nvPr>
            <p:ph type="dt" sz="half" idx="14"/>
          </p:nvPr>
        </p:nvSpPr>
        <p:spPr/>
        <p:txBody>
          <a:bodyPr/>
          <a:lstStyle>
            <a:lvl1pPr>
              <a:defRPr/>
            </a:lvl1pPr>
          </a:lstStyle>
          <a:p>
            <a:pPr>
              <a:defRPr/>
            </a:pPr>
            <a:fld id="{D1B6B7CF-5E02-463F-AD46-6D8DC6519FEF}" type="datetimeFigureOut">
              <a:rPr lang="en-US"/>
              <a:pPr>
                <a:defRPr/>
              </a:pPr>
              <a:t>1/11/2026</a:t>
            </a:fld>
            <a:endParaRPr lang="en-US"/>
          </a:p>
        </p:txBody>
      </p:sp>
      <p:sp>
        <p:nvSpPr>
          <p:cNvPr id="5" name="Footer Placeholder 4">
            <a:extLst>
              <a:ext uri="{FF2B5EF4-FFF2-40B4-BE49-F238E27FC236}">
                <a16:creationId xmlns:a16="http://schemas.microsoft.com/office/drawing/2014/main" id="{235A5656-4E7E-3377-2BCD-B5FE43CB82EE}"/>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4FBA85-1F65-C171-E4B6-9FEF8061D52F}"/>
              </a:ext>
            </a:extLst>
          </p:cNvPr>
          <p:cNvSpPr>
            <a:spLocks noGrp="1"/>
          </p:cNvSpPr>
          <p:nvPr>
            <p:ph type="sldNum" sz="quarter" idx="16"/>
          </p:nvPr>
        </p:nvSpPr>
        <p:spPr/>
        <p:txBody>
          <a:bodyPr/>
          <a:lstStyle>
            <a:lvl1pPr>
              <a:defRPr/>
            </a:lvl1pPr>
          </a:lstStyle>
          <a:p>
            <a:fld id="{D611E928-C7DC-474E-B67F-B170DA4E18E7}" type="slidenum">
              <a:rPr lang="en-US" altLang="en-US"/>
              <a:pPr/>
              <a:t>‹#›</a:t>
            </a:fld>
            <a:endParaRPr lang="en-US" altLang="en-US"/>
          </a:p>
        </p:txBody>
      </p:sp>
    </p:spTree>
    <p:extLst>
      <p:ext uri="{BB962C8B-B14F-4D97-AF65-F5344CB8AC3E}">
        <p14:creationId xmlns:p14="http://schemas.microsoft.com/office/powerpoint/2010/main" val="2086006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1484332-93FE-7A13-E032-5802F450648A}"/>
              </a:ext>
            </a:extLst>
          </p:cNvPr>
          <p:cNvSpPr>
            <a:spLocks noGrp="1"/>
          </p:cNvSpPr>
          <p:nvPr>
            <p:ph type="dt" sz="half" idx="10"/>
          </p:nvPr>
        </p:nvSpPr>
        <p:spPr/>
        <p:txBody>
          <a:bodyPr/>
          <a:lstStyle>
            <a:lvl1pPr>
              <a:defRPr/>
            </a:lvl1pPr>
          </a:lstStyle>
          <a:p>
            <a:pPr>
              <a:defRPr/>
            </a:pPr>
            <a:fld id="{5068E2F6-4D26-46FC-AEAF-B1DC3AD8C10B}" type="datetimeFigureOut">
              <a:rPr lang="en-US"/>
              <a:pPr>
                <a:defRPr/>
              </a:pPr>
              <a:t>1/11/2026</a:t>
            </a:fld>
            <a:endParaRPr lang="en-US"/>
          </a:p>
        </p:txBody>
      </p:sp>
      <p:sp>
        <p:nvSpPr>
          <p:cNvPr id="5" name="Footer Placeholder 4">
            <a:extLst>
              <a:ext uri="{FF2B5EF4-FFF2-40B4-BE49-F238E27FC236}">
                <a16:creationId xmlns:a16="http://schemas.microsoft.com/office/drawing/2014/main" id="{1727FDFA-0337-65EF-CDD2-822B7E218C0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88D376F-ECFA-7AB2-BADA-7D1AD7FA092D}"/>
              </a:ext>
            </a:extLst>
          </p:cNvPr>
          <p:cNvSpPr>
            <a:spLocks noGrp="1"/>
          </p:cNvSpPr>
          <p:nvPr>
            <p:ph type="sldNum" sz="quarter" idx="12"/>
          </p:nvPr>
        </p:nvSpPr>
        <p:spPr/>
        <p:txBody>
          <a:bodyPr/>
          <a:lstStyle>
            <a:lvl1pPr>
              <a:defRPr/>
            </a:lvl1pPr>
          </a:lstStyle>
          <a:p>
            <a:fld id="{ED5B14D1-BEE0-4333-B317-71AA92F62AE9}" type="slidenum">
              <a:rPr lang="en-US" altLang="en-US"/>
              <a:pPr/>
              <a:t>‹#›</a:t>
            </a:fld>
            <a:endParaRPr lang="en-US" altLang="en-US"/>
          </a:p>
        </p:txBody>
      </p:sp>
    </p:spTree>
    <p:extLst>
      <p:ext uri="{BB962C8B-B14F-4D97-AF65-F5344CB8AC3E}">
        <p14:creationId xmlns:p14="http://schemas.microsoft.com/office/powerpoint/2010/main" val="1594324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5191" y="685800"/>
            <a:ext cx="1770831"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699" y="685800"/>
            <a:ext cx="8021831"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BAF522-CBB3-2B94-C880-1152BD3BD6E4}"/>
              </a:ext>
            </a:extLst>
          </p:cNvPr>
          <p:cNvSpPr>
            <a:spLocks noGrp="1"/>
          </p:cNvSpPr>
          <p:nvPr>
            <p:ph type="dt" sz="half" idx="10"/>
          </p:nvPr>
        </p:nvSpPr>
        <p:spPr/>
        <p:txBody>
          <a:bodyPr/>
          <a:lstStyle>
            <a:lvl1pPr>
              <a:defRPr/>
            </a:lvl1pPr>
          </a:lstStyle>
          <a:p>
            <a:pPr>
              <a:defRPr/>
            </a:pPr>
            <a:fld id="{354FB50C-9308-4DA9-BEA7-AA44F931D870}" type="datetimeFigureOut">
              <a:rPr lang="en-US"/>
              <a:pPr>
                <a:defRPr/>
              </a:pPr>
              <a:t>1/11/2026</a:t>
            </a:fld>
            <a:endParaRPr lang="en-US"/>
          </a:p>
        </p:txBody>
      </p:sp>
      <p:sp>
        <p:nvSpPr>
          <p:cNvPr id="5" name="Footer Placeholder 4">
            <a:extLst>
              <a:ext uri="{FF2B5EF4-FFF2-40B4-BE49-F238E27FC236}">
                <a16:creationId xmlns:a16="http://schemas.microsoft.com/office/drawing/2014/main" id="{AB5DDD59-23B2-5FA2-CDD8-07E40A50C9C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CEF40A5-4A46-3F85-65D0-E2D03287FFC9}"/>
              </a:ext>
            </a:extLst>
          </p:cNvPr>
          <p:cNvSpPr>
            <a:spLocks noGrp="1"/>
          </p:cNvSpPr>
          <p:nvPr>
            <p:ph type="sldNum" sz="quarter" idx="12"/>
          </p:nvPr>
        </p:nvSpPr>
        <p:spPr/>
        <p:txBody>
          <a:bodyPr/>
          <a:lstStyle>
            <a:lvl1pPr>
              <a:defRPr/>
            </a:lvl1pPr>
          </a:lstStyle>
          <a:p>
            <a:fld id="{B25D703F-E703-458C-AA8D-80FDB572825B}" type="slidenum">
              <a:rPr lang="en-US" altLang="en-US"/>
              <a:pPr/>
              <a:t>‹#›</a:t>
            </a:fld>
            <a:endParaRPr lang="en-US" altLang="en-US"/>
          </a:p>
        </p:txBody>
      </p:sp>
    </p:spTree>
    <p:extLst>
      <p:ext uri="{BB962C8B-B14F-4D97-AF65-F5344CB8AC3E}">
        <p14:creationId xmlns:p14="http://schemas.microsoft.com/office/powerpoint/2010/main" val="39830556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4" name="Text Placeholder 4">
            <a:extLst>
              <a:ext uri="{FF2B5EF4-FFF2-40B4-BE49-F238E27FC236}">
                <a16:creationId xmlns:a16="http://schemas.microsoft.com/office/drawing/2014/main" id="{771D63F7-D0B9-6679-7EA3-952D63EE3182}"/>
              </a:ext>
            </a:extLst>
          </p:cNvPr>
          <p:cNvSpPr>
            <a:spLocks noGrp="1"/>
          </p:cNvSpPr>
          <p:nvPr>
            <p:ph type="body" sz="quarter" idx="15"/>
          </p:nvPr>
        </p:nvSpPr>
        <p:spPr>
          <a:xfrm>
            <a:off x="4498848" y="6327648"/>
            <a:ext cx="3206496"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6" name="Text Placeholder 5">
            <a:extLst>
              <a:ext uri="{FF2B5EF4-FFF2-40B4-BE49-F238E27FC236}">
                <a16:creationId xmlns:a16="http://schemas.microsoft.com/office/drawing/2014/main" id="{3A0B3C1C-BADA-1983-1092-D3BD4DFB7B07}"/>
              </a:ext>
            </a:extLst>
          </p:cNvPr>
          <p:cNvSpPr>
            <a:spLocks noGrp="1"/>
          </p:cNvSpPr>
          <p:nvPr>
            <p:ph type="body" sz="quarter" idx="16"/>
          </p:nvPr>
        </p:nvSpPr>
        <p:spPr>
          <a:xfrm>
            <a:off x="2084832" y="6684264"/>
            <a:ext cx="9302496"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19042047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457201" y="2095501"/>
            <a:ext cx="51815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800"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800" dirty="0"/>
            </a:p>
          </p:txBody>
        </p:sp>
      </p:grpSp>
      <p:sp>
        <p:nvSpPr>
          <p:cNvPr id="7" name="Title"/>
          <p:cNvSpPr>
            <a:spLocks noGrp="1"/>
          </p:cNvSpPr>
          <p:nvPr userDrawn="1">
            <p:ph type="ctrTitle" hasCustomPrompt="1"/>
          </p:nvPr>
        </p:nvSpPr>
        <p:spPr>
          <a:xfrm>
            <a:off x="829056" y="2359152"/>
            <a:ext cx="4194048" cy="1636776"/>
          </a:xfrm>
          <a:prstGeom prst="rect">
            <a:avLst/>
          </a:prstGeom>
        </p:spPr>
        <p:txBody>
          <a:bodyPr anchor="ctr">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829056" y="4142232"/>
            <a:ext cx="4194048" cy="1115568"/>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950976" y="5340096"/>
            <a:ext cx="337718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6096000" y="1450230"/>
            <a:ext cx="56388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72020804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1"/>
          <a:srcRect/>
          <a:stretch>
            <a:fillRect/>
          </a:stretch>
        </a:blipFill>
        <a:effectLst/>
      </p:bgPr>
    </p:bg>
    <p:spTree>
      <p:nvGrpSpPr>
        <p:cNvPr id="1" name=""/>
        <p:cNvGrpSpPr/>
        <p:nvPr/>
      </p:nvGrpSpPr>
      <p:grpSpPr>
        <a:xfrm>
          <a:off x="0" y="0"/>
          <a:ext cx="0" cy="0"/>
          <a:chOff x="0" y="0"/>
          <a:chExt cx="0" cy="0"/>
        </a:xfrm>
      </p:grpSpPr>
      <p:grpSp>
        <p:nvGrpSpPr>
          <p:cNvPr id="1026" name="Group 13">
            <a:extLst>
              <a:ext uri="{FF2B5EF4-FFF2-40B4-BE49-F238E27FC236}">
                <a16:creationId xmlns:a16="http://schemas.microsoft.com/office/drawing/2014/main" id="{E41FD09D-B1BF-5644-F2B6-EC24A30CE4AC}"/>
              </a:ext>
            </a:extLst>
          </p:cNvPr>
          <p:cNvGrpSpPr>
            <a:grpSpLocks/>
          </p:cNvGrpSpPr>
          <p:nvPr/>
        </p:nvGrpSpPr>
        <p:grpSpPr bwMode="auto">
          <a:xfrm>
            <a:off x="1" y="0"/>
            <a:ext cx="2842684" cy="6858000"/>
            <a:chOff x="0" y="0"/>
            <a:chExt cx="2132013" cy="6858001"/>
          </a:xfrm>
        </p:grpSpPr>
        <p:sp>
          <p:nvSpPr>
            <p:cNvPr id="1032" name="Freeform 6">
              <a:extLst>
                <a:ext uri="{FF2B5EF4-FFF2-40B4-BE49-F238E27FC236}">
                  <a16:creationId xmlns:a16="http://schemas.microsoft.com/office/drawing/2014/main" id="{BCF05D54-B547-F6A6-60C8-BBB679062B2B}"/>
                </a:ext>
              </a:extLst>
            </p:cNvPr>
            <p:cNvSpPr>
              <a:spLocks/>
            </p:cNvSpPr>
            <p:nvPr/>
          </p:nvSpPr>
          <p:spPr bwMode="auto">
            <a:xfrm>
              <a:off x="0" y="0"/>
              <a:ext cx="1073150" cy="5291138"/>
            </a:xfrm>
            <a:custGeom>
              <a:avLst/>
              <a:gdLst>
                <a:gd name="T0" fmla="*/ 0 w 676"/>
                <a:gd name="T1" fmla="*/ 2147483646 h 3333"/>
                <a:gd name="T2" fmla="*/ 0 w 676"/>
                <a:gd name="T3" fmla="*/ 2147483646 h 3333"/>
                <a:gd name="T4" fmla="*/ 2147483646 w 676"/>
                <a:gd name="T5" fmla="*/ 2147483646 h 3333"/>
                <a:gd name="T6" fmla="*/ 2147483646 w 676"/>
                <a:gd name="T7" fmla="*/ 0 h 3333"/>
                <a:gd name="T8" fmla="*/ 2147483646 w 676"/>
                <a:gd name="T9" fmla="*/ 0 h 3333"/>
                <a:gd name="T10" fmla="*/ 0 w 676"/>
                <a:gd name="T11" fmla="*/ 2147483646 h 333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6" name="Freeform 7">
              <a:extLst>
                <a:ext uri="{FF2B5EF4-FFF2-40B4-BE49-F238E27FC236}">
                  <a16:creationId xmlns:a16="http://schemas.microsoft.com/office/drawing/2014/main" id="{E52CF2FA-5356-22A5-15B4-5FFEABD02BBB}"/>
                </a:ext>
              </a:extLst>
            </p:cNvPr>
            <p:cNvSpPr/>
            <p:nvPr/>
          </p:nvSpPr>
          <p:spPr bwMode="auto">
            <a:xfrm>
              <a:off x="0" y="0"/>
              <a:ext cx="758825" cy="4624389"/>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txBody>
            <a:bodyPr/>
            <a:lstStyle/>
            <a:p>
              <a:endParaRPr lang="en-US" sz="1800"/>
            </a:p>
          </p:txBody>
        </p:sp>
        <p:sp>
          <p:nvSpPr>
            <p:cNvPr id="17" name="Freeform 8">
              <a:extLst>
                <a:ext uri="{FF2B5EF4-FFF2-40B4-BE49-F238E27FC236}">
                  <a16:creationId xmlns:a16="http://schemas.microsoft.com/office/drawing/2014/main" id="{C88D53F3-194C-E370-42FA-5C54B67F3091}"/>
                </a:ext>
              </a:extLst>
            </p:cNvPr>
            <p:cNvSpPr/>
            <p:nvPr/>
          </p:nvSpPr>
          <p:spPr bwMode="auto">
            <a:xfrm>
              <a:off x="0" y="5662614"/>
              <a:ext cx="906463" cy="1195387"/>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txBody>
            <a:bodyPr/>
            <a:lstStyle/>
            <a:p>
              <a:endParaRPr lang="en-US" sz="1800"/>
            </a:p>
          </p:txBody>
        </p:sp>
        <p:sp>
          <p:nvSpPr>
            <p:cNvPr id="18" name="Freeform 9">
              <a:extLst>
                <a:ext uri="{FF2B5EF4-FFF2-40B4-BE49-F238E27FC236}">
                  <a16:creationId xmlns:a16="http://schemas.microsoft.com/office/drawing/2014/main" id="{5F3CFF5D-6610-EB6C-CEB7-511068BF9FBA}"/>
                </a:ext>
              </a:extLst>
            </p:cNvPr>
            <p:cNvSpPr/>
            <p:nvPr/>
          </p:nvSpPr>
          <p:spPr bwMode="auto">
            <a:xfrm>
              <a:off x="0" y="5295901"/>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txBody>
            <a:bodyPr/>
            <a:lstStyle/>
            <a:p>
              <a:endParaRPr lang="en-US" sz="1800"/>
            </a:p>
          </p:txBody>
        </p:sp>
        <p:sp>
          <p:nvSpPr>
            <p:cNvPr id="19" name="Freeform 10">
              <a:extLst>
                <a:ext uri="{FF2B5EF4-FFF2-40B4-BE49-F238E27FC236}">
                  <a16:creationId xmlns:a16="http://schemas.microsoft.com/office/drawing/2014/main" id="{DCEC0C20-5FB7-DEF0-8B1E-C59823642334}"/>
                </a:ext>
              </a:extLst>
            </p:cNvPr>
            <p:cNvSpPr/>
            <p:nvPr/>
          </p:nvSpPr>
          <p:spPr bwMode="auto">
            <a:xfrm>
              <a:off x="0" y="5257801"/>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txBody>
            <a:bodyPr/>
            <a:lstStyle/>
            <a:p>
              <a:endParaRPr lang="en-US" sz="1800"/>
            </a:p>
          </p:txBody>
        </p:sp>
        <p:sp>
          <p:nvSpPr>
            <p:cNvPr id="20" name="Freeform 11">
              <a:extLst>
                <a:ext uri="{FF2B5EF4-FFF2-40B4-BE49-F238E27FC236}">
                  <a16:creationId xmlns:a16="http://schemas.microsoft.com/office/drawing/2014/main" id="{E097BBF4-EAC0-79EC-0558-08B6B6DF22A0}"/>
                </a:ext>
              </a:extLst>
            </p:cNvPr>
            <p:cNvSpPr/>
            <p:nvPr/>
          </p:nvSpPr>
          <p:spPr bwMode="auto">
            <a:xfrm>
              <a:off x="0" y="5357814"/>
              <a:ext cx="1377950" cy="1500187"/>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txBody>
            <a:bodyPr/>
            <a:lstStyle/>
            <a:p>
              <a:endParaRPr lang="en-US" sz="1800"/>
            </a:p>
          </p:txBody>
        </p:sp>
      </p:grpSp>
      <p:sp>
        <p:nvSpPr>
          <p:cNvPr id="1027" name="Title Placeholder 1">
            <a:extLst>
              <a:ext uri="{FF2B5EF4-FFF2-40B4-BE49-F238E27FC236}">
                <a16:creationId xmlns:a16="http://schemas.microsoft.com/office/drawing/2014/main" id="{5A013531-8E6D-3952-6D83-F9E1587AAB5F}"/>
              </a:ext>
            </a:extLst>
          </p:cNvPr>
          <p:cNvSpPr>
            <a:spLocks noGrp="1"/>
          </p:cNvSpPr>
          <p:nvPr>
            <p:ph type="title"/>
          </p:nvPr>
        </p:nvSpPr>
        <p:spPr bwMode="auto">
          <a:xfrm>
            <a:off x="1310218" y="457200"/>
            <a:ext cx="1027218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F8722B5E-7F80-0544-5B9A-CFE380D11788}"/>
              </a:ext>
            </a:extLst>
          </p:cNvPr>
          <p:cNvSpPr>
            <a:spLocks noGrp="1"/>
          </p:cNvSpPr>
          <p:nvPr>
            <p:ph type="body" idx="1"/>
          </p:nvPr>
        </p:nvSpPr>
        <p:spPr bwMode="auto">
          <a:xfrm>
            <a:off x="1310218" y="2667001"/>
            <a:ext cx="10272183"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484444B-8FA7-8F03-B0E3-63A8EED46CB7}"/>
              </a:ext>
            </a:extLst>
          </p:cNvPr>
          <p:cNvSpPr>
            <a:spLocks noGrp="1"/>
          </p:cNvSpPr>
          <p:nvPr>
            <p:ph type="dt" sz="half" idx="2"/>
          </p:nvPr>
        </p:nvSpPr>
        <p:spPr>
          <a:xfrm>
            <a:off x="9810751" y="6116639"/>
            <a:ext cx="1145116"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8A27913F-8F04-473B-AEC1-1E1236B5410E}" type="datetimeFigureOut">
              <a:rPr lang="en-US"/>
              <a:pPr>
                <a:defRPr/>
              </a:pPr>
              <a:t>1/11/2026</a:t>
            </a:fld>
            <a:endParaRPr lang="en-US"/>
          </a:p>
        </p:txBody>
      </p:sp>
      <p:sp>
        <p:nvSpPr>
          <p:cNvPr id="5" name="Footer Placeholder 4">
            <a:extLst>
              <a:ext uri="{FF2B5EF4-FFF2-40B4-BE49-F238E27FC236}">
                <a16:creationId xmlns:a16="http://schemas.microsoft.com/office/drawing/2014/main" id="{556EE4AC-24AE-E49F-ED66-1B11C945132A}"/>
              </a:ext>
            </a:extLst>
          </p:cNvPr>
          <p:cNvSpPr>
            <a:spLocks noGrp="1"/>
          </p:cNvSpPr>
          <p:nvPr>
            <p:ph type="ftr" sz="quarter" idx="3"/>
          </p:nvPr>
        </p:nvSpPr>
        <p:spPr>
          <a:xfrm>
            <a:off x="2650067" y="6116639"/>
            <a:ext cx="7084484"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p>
        </p:txBody>
      </p:sp>
      <p:sp>
        <p:nvSpPr>
          <p:cNvPr id="6" name="Slide Number Placeholder 5">
            <a:extLst>
              <a:ext uri="{FF2B5EF4-FFF2-40B4-BE49-F238E27FC236}">
                <a16:creationId xmlns:a16="http://schemas.microsoft.com/office/drawing/2014/main" id="{E691B721-9D20-CA66-2DAE-036D076E3D68}"/>
              </a:ext>
            </a:extLst>
          </p:cNvPr>
          <p:cNvSpPr>
            <a:spLocks noGrp="1"/>
          </p:cNvSpPr>
          <p:nvPr>
            <p:ph type="sldNum" sz="quarter" idx="4"/>
          </p:nvPr>
        </p:nvSpPr>
        <p:spPr>
          <a:xfrm>
            <a:off x="11032067" y="6116639"/>
            <a:ext cx="550333" cy="365125"/>
          </a:xfrm>
          <a:prstGeom prst="rect">
            <a:avLst/>
          </a:prstGeom>
        </p:spPr>
        <p:txBody>
          <a:bodyPr vert="horz" wrap="square" lIns="91440" tIns="45720" rIns="91440" bIns="45720" numCol="1" anchor="ctr" anchorCtr="0" compatLnSpc="1">
            <a:prstTxWarp prst="textNoShape">
              <a:avLst/>
            </a:prstTxWarp>
          </a:bodyPr>
          <a:lstStyle>
            <a:lvl1pPr algn="r">
              <a:defRPr sz="1000">
                <a:latin typeface="Corbel" panose="020B0503020204020204" pitchFamily="34" charset="0"/>
              </a:defRPr>
            </a:lvl1pPr>
          </a:lstStyle>
          <a:p>
            <a:fld id="{556D9DD5-8D54-4B75-A5EC-5AC284DDEEB0}" type="slidenum">
              <a:rPr lang="en-US" altLang="en-US"/>
              <a:pPr/>
              <a:t>‹#›</a:t>
            </a:fld>
            <a:endParaRPr lang="en-US" altLang="en-US"/>
          </a:p>
        </p:txBody>
      </p:sp>
    </p:spTree>
    <p:extLst>
      <p:ext uri="{BB962C8B-B14F-4D97-AF65-F5344CB8AC3E}">
        <p14:creationId xmlns:p14="http://schemas.microsoft.com/office/powerpoint/2010/main" val="373773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ctr" defTabSz="457200" rtl="0" eaLnBrk="0" fontAlgn="base" hangingPunct="0">
        <a:spcBef>
          <a:spcPct val="0"/>
        </a:spcBef>
        <a:spcAft>
          <a:spcPct val="0"/>
        </a:spcAft>
        <a:defRPr sz="4000" kern="1200">
          <a:ln w="3175" cmpd="sng">
            <a:noFill/>
          </a:ln>
          <a:solidFill>
            <a:schemeClr val="tx1"/>
          </a:solidFill>
          <a:latin typeface="+mj-lt"/>
          <a:ea typeface="+mj-ea"/>
          <a:cs typeface="+mj-cs"/>
        </a:defRPr>
      </a:lvl1pPr>
      <a:lvl2pPr algn="ctr" defTabSz="457200" rtl="0" eaLnBrk="0" fontAlgn="base" hangingPunct="0">
        <a:spcBef>
          <a:spcPct val="0"/>
        </a:spcBef>
        <a:spcAft>
          <a:spcPct val="0"/>
        </a:spcAft>
        <a:defRPr sz="4000">
          <a:solidFill>
            <a:schemeClr val="tx1"/>
          </a:solidFill>
          <a:latin typeface="Corbel" panose="020B0503020204020204" pitchFamily="34" charset="0"/>
        </a:defRPr>
      </a:lvl2pPr>
      <a:lvl3pPr algn="ctr" defTabSz="457200" rtl="0" eaLnBrk="0" fontAlgn="base" hangingPunct="0">
        <a:spcBef>
          <a:spcPct val="0"/>
        </a:spcBef>
        <a:spcAft>
          <a:spcPct val="0"/>
        </a:spcAft>
        <a:defRPr sz="4000">
          <a:solidFill>
            <a:schemeClr val="tx1"/>
          </a:solidFill>
          <a:latin typeface="Corbel" panose="020B0503020204020204" pitchFamily="34" charset="0"/>
        </a:defRPr>
      </a:lvl3pPr>
      <a:lvl4pPr algn="ctr" defTabSz="457200" rtl="0" eaLnBrk="0" fontAlgn="base" hangingPunct="0">
        <a:spcBef>
          <a:spcPct val="0"/>
        </a:spcBef>
        <a:spcAft>
          <a:spcPct val="0"/>
        </a:spcAft>
        <a:defRPr sz="4000">
          <a:solidFill>
            <a:schemeClr val="tx1"/>
          </a:solidFill>
          <a:latin typeface="Corbel" panose="020B0503020204020204" pitchFamily="34" charset="0"/>
        </a:defRPr>
      </a:lvl4pPr>
      <a:lvl5pPr algn="ctr" defTabSz="457200" rtl="0" eaLnBrk="0" fontAlgn="base" hangingPunct="0">
        <a:spcBef>
          <a:spcPct val="0"/>
        </a:spcBef>
        <a:spcAft>
          <a:spcPct val="0"/>
        </a:spcAft>
        <a:defRPr sz="4000">
          <a:solidFill>
            <a:schemeClr val="tx1"/>
          </a:solidFill>
          <a:latin typeface="Corbel" panose="020B0503020204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0" fontAlgn="base" hangingPunct="0">
        <a:spcBef>
          <a:spcPct val="20000"/>
        </a:spcBef>
        <a:spcAft>
          <a:spcPts val="600"/>
        </a:spcAft>
        <a:buClr>
          <a:srgbClr val="8D1515"/>
        </a:buClr>
        <a:buSzPct val="145000"/>
        <a:buFont typeface="Arial" panose="020B0604020202020204" pitchFamily="34" charset="0"/>
        <a:buChar char="•"/>
        <a:defRPr sz="2400" kern="1200">
          <a:solidFill>
            <a:schemeClr val="tx1"/>
          </a:solidFill>
          <a:latin typeface="+mn-lt"/>
          <a:ea typeface="+mn-ea"/>
          <a:cs typeface="+mn-cs"/>
        </a:defRPr>
      </a:lvl1pPr>
      <a:lvl2pPr marL="742950" indent="-285750" algn="l" defTabSz="457200" rtl="0" eaLnBrk="0" fontAlgn="base" hangingPunct="0">
        <a:spcBef>
          <a:spcPct val="20000"/>
        </a:spcBef>
        <a:spcAft>
          <a:spcPts val="600"/>
        </a:spcAft>
        <a:buClr>
          <a:srgbClr val="8D1515"/>
        </a:buClr>
        <a:buSzPct val="145000"/>
        <a:buFont typeface="Arial" panose="020B0604020202020204" pitchFamily="34" charset="0"/>
        <a:buChar char="•"/>
        <a:defRPr sz="2000" kern="1200">
          <a:solidFill>
            <a:schemeClr val="tx1"/>
          </a:solidFill>
          <a:latin typeface="+mn-lt"/>
          <a:ea typeface="+mn-ea"/>
          <a:cs typeface="+mn-cs"/>
        </a:defRPr>
      </a:lvl2pPr>
      <a:lvl3pPr marL="1200150" indent="-285750" algn="l" defTabSz="457200" rtl="0" eaLnBrk="0" fontAlgn="base" hangingPunct="0">
        <a:spcBef>
          <a:spcPct val="20000"/>
        </a:spcBef>
        <a:spcAft>
          <a:spcPts val="600"/>
        </a:spcAft>
        <a:buClr>
          <a:srgbClr val="8D1515"/>
        </a:buClr>
        <a:buSzPct val="145000"/>
        <a:buFont typeface="Arial" panose="020B0604020202020204" pitchFamily="34" charset="0"/>
        <a:buChar char="•"/>
        <a:defRPr kern="1200">
          <a:solidFill>
            <a:schemeClr val="tx1"/>
          </a:solidFill>
          <a:latin typeface="+mn-lt"/>
          <a:ea typeface="+mn-ea"/>
          <a:cs typeface="+mn-cs"/>
        </a:defRPr>
      </a:lvl3pPr>
      <a:lvl4pPr marL="1543050" indent="-171450" algn="l" defTabSz="457200" rtl="0" eaLnBrk="0" fontAlgn="base" hangingPunct="0">
        <a:spcBef>
          <a:spcPct val="20000"/>
        </a:spcBef>
        <a:spcAft>
          <a:spcPts val="600"/>
        </a:spcAft>
        <a:buClr>
          <a:srgbClr val="8D1515"/>
        </a:buClr>
        <a:buSzPct val="145000"/>
        <a:buFont typeface="Arial" panose="020B0604020202020204" pitchFamily="34" charset="0"/>
        <a:buChar char="•"/>
        <a:defRPr sz="1600" kern="1200">
          <a:solidFill>
            <a:schemeClr val="tx1"/>
          </a:solidFill>
          <a:latin typeface="+mn-lt"/>
          <a:ea typeface="+mn-ea"/>
          <a:cs typeface="+mn-cs"/>
        </a:defRPr>
      </a:lvl4pPr>
      <a:lvl5pPr marL="2000250" indent="-171450" algn="l" defTabSz="457200" rtl="0" eaLnBrk="0" fontAlgn="base" hangingPunct="0">
        <a:spcBef>
          <a:spcPct val="20000"/>
        </a:spcBef>
        <a:spcAft>
          <a:spcPts val="600"/>
        </a:spcAft>
        <a:buClr>
          <a:srgbClr val="8D1515"/>
        </a:buClr>
        <a:buSzPct val="145000"/>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09A16-1EFC-26BA-D860-E128FAECAC8E}"/>
              </a:ext>
            </a:extLst>
          </p:cNvPr>
          <p:cNvSpPr>
            <a:spLocks noGrp="1"/>
          </p:cNvSpPr>
          <p:nvPr>
            <p:ph type="ctrTitle"/>
          </p:nvPr>
        </p:nvSpPr>
        <p:spPr/>
        <p:txBody>
          <a:bodyPr/>
          <a:lstStyle/>
          <a:p>
            <a:r>
              <a:rPr lang="en-US" dirty="0"/>
              <a:t>Chapter 4</a:t>
            </a:r>
          </a:p>
        </p:txBody>
      </p:sp>
      <p:sp>
        <p:nvSpPr>
          <p:cNvPr id="3" name="Subtitle 2">
            <a:extLst>
              <a:ext uri="{FF2B5EF4-FFF2-40B4-BE49-F238E27FC236}">
                <a16:creationId xmlns:a16="http://schemas.microsoft.com/office/drawing/2014/main" id="{65BD3505-DD10-5E82-69BB-902943584DB9}"/>
              </a:ext>
            </a:extLst>
          </p:cNvPr>
          <p:cNvSpPr>
            <a:spLocks noGrp="1"/>
          </p:cNvSpPr>
          <p:nvPr>
            <p:ph type="subTitle" idx="1"/>
          </p:nvPr>
        </p:nvSpPr>
        <p:spPr/>
        <p:txBody>
          <a:bodyPr/>
          <a:lstStyle/>
          <a:p>
            <a:r>
              <a:rPr lang="en-US" dirty="0"/>
              <a:t>External Analysis</a:t>
            </a:r>
          </a:p>
        </p:txBody>
      </p:sp>
      <p:pic>
        <p:nvPicPr>
          <p:cNvPr id="6" name="Picture 5" descr="Entrepreneurship: The Art, Science, and Process for Success; 2024 Release; Charles E. Bamford and Garry D. Bruton, .">
            <a:extLst>
              <a:ext uri="{FF2B5EF4-FFF2-40B4-BE49-F238E27FC236}">
                <a16:creationId xmlns:a16="http://schemas.microsoft.com/office/drawing/2014/main" id="{1FB80488-1552-31DE-6169-E1A246991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029" y="1207911"/>
            <a:ext cx="4341421" cy="4786988"/>
          </a:xfrm>
          <a:prstGeom prst="rect">
            <a:avLst/>
          </a:prstGeom>
        </p:spPr>
      </p:pic>
      <p:sp>
        <p:nvSpPr>
          <p:cNvPr id="5" name="Footer Placeholder 4">
            <a:extLst>
              <a:ext uri="{FF2B5EF4-FFF2-40B4-BE49-F238E27FC236}">
                <a16:creationId xmlns:a16="http://schemas.microsoft.com/office/drawing/2014/main" id="{F6886C85-70F4-9531-5817-76F2C008C69F}"/>
              </a:ext>
            </a:extLst>
          </p:cNvPr>
          <p:cNvSpPr>
            <a:spLocks noGrp="1"/>
          </p:cNvSpPr>
          <p:nvPr>
            <p:ph type="ftr" sz="quarter" idx="12"/>
          </p:nvPr>
        </p:nvSpPr>
        <p:spPr/>
        <p:txBody>
          <a:bodyPr/>
          <a:lstStyle/>
          <a:p>
            <a:pPr defTabSz="457200">
              <a:spcBef>
                <a:spcPct val="20000"/>
              </a:spcBef>
              <a:defRPr/>
            </a:pPr>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699879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a:xfrm>
            <a:off x="2962656" y="231649"/>
            <a:ext cx="6839712" cy="678611"/>
          </a:xfrm>
        </p:spPr>
        <p:txBody>
          <a:bodyPr/>
          <a:lstStyle/>
          <a:p>
            <a:r>
              <a:rPr lang="en-US" altLang="en-US" sz="4000" u="sng" dirty="0"/>
              <a:t>Defining Your Industry</a:t>
            </a:r>
            <a:endParaRPr lang="en-US" sz="4000" u="sng" dirty="0"/>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866900" y="1276710"/>
            <a:ext cx="10002012" cy="5172216"/>
          </a:xfrm>
        </p:spPr>
        <p:txBody>
          <a:bodyPr/>
          <a:lstStyle/>
          <a:p>
            <a:pPr marL="0" indent="0" defTabSz="914400" eaLnBrk="1" fontAlgn="auto" hangingPunct="1">
              <a:spcBef>
                <a:spcPts val="2800"/>
              </a:spcBef>
              <a:spcAft>
                <a:spcPts val="800"/>
              </a:spcAft>
              <a:buClrTx/>
              <a:buSzTx/>
              <a:buNone/>
              <a:defRPr/>
            </a:pPr>
            <a:r>
              <a:rPr lang="en-US" sz="2000" dirty="0">
                <a:solidFill>
                  <a:srgbClr val="000000"/>
                </a:solidFill>
              </a:rPr>
              <a:t>Entrepreneurs should be as specific as possible.</a:t>
            </a:r>
          </a:p>
          <a:p>
            <a:pPr marL="0" indent="0" defTabSz="914400" eaLnBrk="1" fontAlgn="auto" hangingPunct="1">
              <a:spcBef>
                <a:spcPts val="2800"/>
              </a:spcBef>
              <a:spcAft>
                <a:spcPts val="800"/>
              </a:spcAft>
              <a:buClrTx/>
              <a:buSzTx/>
              <a:buNone/>
              <a:defRPr/>
            </a:pPr>
            <a:r>
              <a:rPr lang="en-US" sz="2000" dirty="0">
                <a:solidFill>
                  <a:srgbClr val="000000"/>
                </a:solidFill>
              </a:rPr>
              <a:t>If opening an ice-cream store, entrepreneurs should ask themselves:</a:t>
            </a:r>
          </a:p>
          <a:p>
            <a:pPr defTabSz="914400" eaLnBrk="1" fontAlgn="auto" hangingPunct="1">
              <a:spcBef>
                <a:spcPts val="2800"/>
              </a:spcBef>
              <a:spcAft>
                <a:spcPts val="800"/>
              </a:spcAft>
              <a:buClrTx/>
              <a:buSzTx/>
              <a:defRPr/>
            </a:pPr>
            <a:r>
              <a:rPr lang="en-US" sz="2000" dirty="0">
                <a:solidFill>
                  <a:srgbClr val="000000"/>
                </a:solidFill>
              </a:rPr>
              <a:t>In what industry does a new ice-cream store compete? </a:t>
            </a:r>
          </a:p>
          <a:p>
            <a:pPr marL="347472" lvl="1" indent="-342900" defTabSz="914400" eaLnBrk="1" fontAlgn="auto" hangingPunct="1">
              <a:spcBef>
                <a:spcPts val="800"/>
              </a:spcBef>
              <a:spcAft>
                <a:spcPts val="800"/>
              </a:spcAft>
              <a:buClrTx/>
              <a:buSzTx/>
              <a:defRPr/>
            </a:pPr>
            <a:r>
              <a:rPr lang="en-US" sz="1800" dirty="0">
                <a:solidFill>
                  <a:srgbClr val="000000"/>
                </a:solidFill>
              </a:rPr>
              <a:t>Does it include dessert providers, such as bakeries?</a:t>
            </a:r>
          </a:p>
          <a:p>
            <a:pPr marL="347472" lvl="1" indent="-342900" defTabSz="914400" eaLnBrk="1" fontAlgn="auto" hangingPunct="1">
              <a:spcBef>
                <a:spcPts val="800"/>
              </a:spcBef>
              <a:spcAft>
                <a:spcPts val="800"/>
              </a:spcAft>
              <a:buClrTx/>
              <a:buSzTx/>
              <a:defRPr/>
            </a:pPr>
            <a:r>
              <a:rPr lang="en-US" sz="1800" dirty="0">
                <a:solidFill>
                  <a:srgbClr val="000000"/>
                </a:solidFill>
              </a:rPr>
              <a:t>Does it compete with grocery stores that sell packaged ice cream?</a:t>
            </a:r>
          </a:p>
          <a:p>
            <a:pPr marL="347472" lvl="1" indent="-342900" defTabSz="914400" eaLnBrk="1" fontAlgn="auto" hangingPunct="1">
              <a:spcBef>
                <a:spcPts val="800"/>
              </a:spcBef>
              <a:spcAft>
                <a:spcPts val="800"/>
              </a:spcAft>
              <a:buClrTx/>
              <a:buSzTx/>
              <a:defRPr/>
            </a:pPr>
            <a:r>
              <a:rPr lang="en-US" sz="1800" dirty="0">
                <a:solidFill>
                  <a:srgbClr val="000000"/>
                </a:solidFill>
              </a:rPr>
              <a:t>Is it high-end, high milk-fat ice cream?</a:t>
            </a:r>
            <a:endParaRPr lang="en-US" dirty="0">
              <a:solidFill>
                <a:srgbClr val="000000"/>
              </a:solidFill>
            </a:endParaRPr>
          </a:p>
          <a:p>
            <a:pPr marL="0" indent="0" defTabSz="914400" eaLnBrk="1" fontAlgn="auto" hangingPunct="1">
              <a:spcBef>
                <a:spcPts val="2800"/>
              </a:spcBef>
              <a:spcAft>
                <a:spcPts val="800"/>
              </a:spcAft>
              <a:buClrTx/>
              <a:buSzTx/>
              <a:buNone/>
              <a:defRPr/>
            </a:pPr>
            <a:r>
              <a:rPr lang="en-US" sz="2000" dirty="0">
                <a:solidFill>
                  <a:srgbClr val="000000"/>
                </a:solidFill>
              </a:rPr>
              <a:t>Defining the industry is not to be taken lightly.</a:t>
            </a:r>
          </a:p>
          <a:p>
            <a:pPr marL="0" indent="0" defTabSz="914400" eaLnBrk="1" fontAlgn="auto" hangingPunct="1">
              <a:spcBef>
                <a:spcPts val="2800"/>
              </a:spcBef>
              <a:spcAft>
                <a:spcPts val="800"/>
              </a:spcAft>
              <a:buClrTx/>
              <a:buSzTx/>
              <a:buNone/>
              <a:defRPr/>
            </a:pPr>
            <a:r>
              <a:rPr lang="en-US" dirty="0">
                <a:solidFill>
                  <a:srgbClr val="000000"/>
                </a:solidFill>
              </a:rPr>
              <a:t>Do your research – If you think you have no competition, keep looking.</a:t>
            </a:r>
            <a:endParaRPr lang="en-US" sz="2000" dirty="0">
              <a:solidFill>
                <a:srgbClr val="000000"/>
              </a:solidFill>
            </a:endParaRP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161800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p:txBody>
          <a:bodyPr>
            <a:normAutofit fontScale="90000"/>
          </a:bodyPr>
          <a:lstStyle/>
          <a:p>
            <a:r>
              <a:rPr lang="en-US" altLang="en-US" sz="4000" u="sng" dirty="0"/>
              <a:t>Defining Your Industry</a:t>
            </a:r>
            <a:endParaRPr lang="en-US" sz="4000" u="sng" dirty="0"/>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949197" y="1252728"/>
            <a:ext cx="8043111" cy="3988500"/>
          </a:xfrm>
        </p:spPr>
        <p:txBody>
          <a:bodyPr/>
          <a:lstStyle/>
          <a:p>
            <a:pPr marL="0" indent="0" defTabSz="914400" eaLnBrk="1" fontAlgn="auto" hangingPunct="1">
              <a:spcBef>
                <a:spcPts val="0"/>
              </a:spcBef>
              <a:spcAft>
                <a:spcPts val="800"/>
              </a:spcAft>
              <a:buClrTx/>
              <a:buSzTx/>
              <a:buNone/>
              <a:defRPr/>
            </a:pPr>
            <a:r>
              <a:rPr lang="en-US" altLang="en-US" dirty="0">
                <a:solidFill>
                  <a:srgbClr val="000000"/>
                </a:solidFill>
              </a:rPr>
              <a:t>Entrepreneurs should:</a:t>
            </a:r>
          </a:p>
          <a:p>
            <a:pPr defTabSz="914400" eaLnBrk="1" fontAlgn="auto" hangingPunct="1">
              <a:spcBef>
                <a:spcPts val="2800"/>
              </a:spcBef>
              <a:spcAft>
                <a:spcPts val="800"/>
              </a:spcAft>
              <a:buClrTx/>
              <a:buSzTx/>
              <a:defRPr/>
            </a:pPr>
            <a:r>
              <a:rPr lang="en-US" altLang="en-US" dirty="0">
                <a:solidFill>
                  <a:srgbClr val="000000"/>
                </a:solidFill>
              </a:rPr>
              <a:t>Define their industry broadly enough to include all potential competitors, but not so broad as to be overwhelming.</a:t>
            </a:r>
          </a:p>
          <a:p>
            <a:pPr defTabSz="914400" eaLnBrk="1" fontAlgn="auto" hangingPunct="1">
              <a:spcBef>
                <a:spcPts val="0"/>
              </a:spcBef>
              <a:spcAft>
                <a:spcPts val="800"/>
              </a:spcAft>
              <a:buClrTx/>
              <a:buSzTx/>
              <a:defRPr/>
            </a:pPr>
            <a:r>
              <a:rPr lang="en-US" altLang="en-US" dirty="0">
                <a:solidFill>
                  <a:srgbClr val="000000"/>
                </a:solidFill>
              </a:rPr>
              <a:t>Be clear about the practical level of actual competition.</a:t>
            </a:r>
          </a:p>
          <a:p>
            <a:pPr marL="347472" lvl="2" indent="-347472" defTabSz="914400" eaLnBrk="1" fontAlgn="auto" hangingPunct="1">
              <a:spcBef>
                <a:spcPts val="800"/>
              </a:spcBef>
              <a:spcAft>
                <a:spcPts val="800"/>
              </a:spcAft>
              <a:buClrTx/>
              <a:buSzTx/>
              <a:defRPr/>
            </a:pPr>
            <a:r>
              <a:rPr lang="en-US" altLang="en-US" sz="2400" dirty="0">
                <a:solidFill>
                  <a:srgbClr val="000000"/>
                </a:solidFill>
              </a:rPr>
              <a:t>What is a reasonable geographic customer draw for a new business?</a:t>
            </a:r>
          </a:p>
          <a:p>
            <a:pPr marL="347472" lvl="2" indent="-347472" defTabSz="914400" eaLnBrk="1" fontAlgn="auto" hangingPunct="1">
              <a:spcBef>
                <a:spcPts val="800"/>
              </a:spcBef>
              <a:spcAft>
                <a:spcPts val="800"/>
              </a:spcAft>
              <a:buClrTx/>
              <a:buSzTx/>
              <a:defRPr/>
            </a:pPr>
            <a:endParaRPr lang="en-US" altLang="en-US" dirty="0">
              <a:solidFill>
                <a:srgbClr val="000000"/>
              </a:solidFill>
            </a:endParaRPr>
          </a:p>
          <a:p>
            <a:pPr marL="347472" lvl="2" indent="-347472" defTabSz="914400" eaLnBrk="1" fontAlgn="auto" hangingPunct="1">
              <a:spcBef>
                <a:spcPts val="800"/>
              </a:spcBef>
              <a:spcAft>
                <a:spcPts val="800"/>
              </a:spcAft>
              <a:buClrTx/>
              <a:buSzTx/>
              <a:defRPr/>
            </a:pPr>
            <a:endParaRPr lang="en-US" altLang="en-US" dirty="0">
              <a:solidFill>
                <a:srgbClr val="000000"/>
              </a:solidFill>
            </a:endParaRP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3</a:t>
            </a:fld>
            <a:endParaRPr lang="en-US" dirty="0"/>
          </a:p>
        </p:txBody>
      </p:sp>
      <p:sp>
        <p:nvSpPr>
          <p:cNvPr id="4" name="Content Placeholder 2">
            <a:extLst>
              <a:ext uri="{FF2B5EF4-FFF2-40B4-BE49-F238E27FC236}">
                <a16:creationId xmlns:a16="http://schemas.microsoft.com/office/drawing/2014/main" id="{F2A044EE-9B45-891F-4C07-02B8E381BFDE}"/>
              </a:ext>
            </a:extLst>
          </p:cNvPr>
          <p:cNvSpPr txBox="1">
            <a:spLocks/>
          </p:cNvSpPr>
          <p:nvPr/>
        </p:nvSpPr>
        <p:spPr>
          <a:xfrm>
            <a:off x="3016156" y="5073343"/>
            <a:ext cx="6695574" cy="1225858"/>
          </a:xfrm>
          <a:prstGeom prst="roundRect">
            <a:avLst/>
          </a:prstGeom>
          <a:ln w="28575">
            <a:solidFill>
              <a:srgbClr val="E21A23"/>
            </a:solidFill>
          </a:ln>
        </p:spPr>
        <p:txBody>
          <a:bodyPr vert="horz" lIns="91440" tIns="45720" rIns="91440" bIns="45720" rtlCol="0" anchor="ct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600"/>
              </a:spcBef>
              <a:defRPr/>
            </a:pPr>
            <a:r>
              <a:rPr lang="en-US" dirty="0">
                <a:solidFill>
                  <a:srgbClr val="000000"/>
                </a:solidFill>
              </a:rPr>
              <a:t>Those companies within a specified geographic radius that will be in direct competition for the same customers and sales as that of the new business.</a:t>
            </a:r>
          </a:p>
        </p:txBody>
      </p:sp>
    </p:spTree>
    <p:extLst>
      <p:ext uri="{BB962C8B-B14F-4D97-AF65-F5344CB8AC3E}">
        <p14:creationId xmlns:p14="http://schemas.microsoft.com/office/powerpoint/2010/main" val="999723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p:txBody>
          <a:bodyPr>
            <a:normAutofit fontScale="90000"/>
          </a:bodyPr>
          <a:lstStyle/>
          <a:p>
            <a:r>
              <a:rPr lang="en-US" altLang="en-US" sz="4000" u="sng" dirty="0"/>
              <a:t>Defining Your Customers</a:t>
            </a:r>
            <a:endParaRPr lang="en-US" sz="4000" u="sng" dirty="0"/>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866900" y="1276710"/>
            <a:ext cx="8283512" cy="5172216"/>
          </a:xfrm>
        </p:spPr>
        <p:txBody>
          <a:bodyPr/>
          <a:lstStyle/>
          <a:p>
            <a:pPr marL="0" indent="0" defTabSz="914400" eaLnBrk="1" fontAlgn="auto" hangingPunct="1">
              <a:spcBef>
                <a:spcPts val="0"/>
              </a:spcBef>
              <a:spcAft>
                <a:spcPts val="800"/>
              </a:spcAft>
              <a:buClrTx/>
              <a:buSzTx/>
              <a:buNone/>
              <a:defRPr/>
            </a:pPr>
            <a:r>
              <a:rPr lang="en-US" altLang="en-US" dirty="0">
                <a:solidFill>
                  <a:srgbClr val="000000"/>
                </a:solidFill>
              </a:rPr>
              <a:t>Entrepreneurs should:</a:t>
            </a:r>
          </a:p>
          <a:p>
            <a:pPr marL="342900" indent="-342900" defTabSz="914400" eaLnBrk="1" fontAlgn="auto" hangingPunct="1">
              <a:spcBef>
                <a:spcPts val="2800"/>
              </a:spcBef>
              <a:spcAft>
                <a:spcPts val="800"/>
              </a:spcAft>
              <a:buClrTx/>
              <a:buSzTx/>
              <a:defRPr/>
            </a:pPr>
            <a:r>
              <a:rPr lang="en-US" altLang="en-US" dirty="0">
                <a:solidFill>
                  <a:srgbClr val="000000"/>
                </a:solidFill>
              </a:rPr>
              <a:t>Define a narrow group of individuals whom they believe will be their most likely customers.</a:t>
            </a:r>
          </a:p>
          <a:p>
            <a:pPr marL="342900" indent="-342900" defTabSz="914400" eaLnBrk="1" fontAlgn="auto" hangingPunct="1">
              <a:spcBef>
                <a:spcPts val="0"/>
              </a:spcBef>
              <a:spcAft>
                <a:spcPts val="800"/>
              </a:spcAft>
              <a:buClrTx/>
              <a:buSzTx/>
              <a:defRPr/>
            </a:pPr>
            <a:r>
              <a:rPr lang="en-IN" altLang="en-US" dirty="0">
                <a:solidFill>
                  <a:srgbClr val="000000"/>
                </a:solidFill>
              </a:rPr>
              <a:t>Be diligent in the effort to be as accurate as possible.</a:t>
            </a:r>
            <a:endParaRPr lang="en-US" altLang="en-US" dirty="0">
              <a:solidFill>
                <a:srgbClr val="000000"/>
              </a:solidFill>
            </a:endParaRPr>
          </a:p>
          <a:p>
            <a:pPr marL="0" indent="0" defTabSz="914400" eaLnBrk="1" fontAlgn="auto" hangingPunct="1">
              <a:spcBef>
                <a:spcPts val="2800"/>
              </a:spcBef>
              <a:spcAft>
                <a:spcPts val="800"/>
              </a:spcAft>
              <a:buClrTx/>
              <a:buSzTx/>
              <a:buNone/>
              <a:defRPr/>
            </a:pPr>
            <a:r>
              <a:rPr lang="en-US" altLang="en-US" dirty="0">
                <a:solidFill>
                  <a:srgbClr val="000000"/>
                </a:solidFill>
              </a:rPr>
              <a:t>Helps the new business:</a:t>
            </a:r>
          </a:p>
          <a:p>
            <a:pPr marL="342900" lvl="1" indent="-342900" defTabSz="914400" eaLnBrk="1" fontAlgn="auto" hangingPunct="1">
              <a:spcBef>
                <a:spcPts val="2800"/>
              </a:spcBef>
              <a:spcAft>
                <a:spcPts val="800"/>
              </a:spcAft>
              <a:buClrTx/>
              <a:buSzTx/>
              <a:defRPr/>
            </a:pPr>
            <a:r>
              <a:rPr lang="en-US" altLang="en-US" sz="2400" dirty="0">
                <a:solidFill>
                  <a:srgbClr val="000000"/>
                </a:solidFill>
              </a:rPr>
              <a:t>Focus on its core customer.</a:t>
            </a:r>
          </a:p>
          <a:p>
            <a:pPr marL="342900" lvl="1" indent="-342900" defTabSz="914400" eaLnBrk="1" fontAlgn="auto" hangingPunct="1">
              <a:spcBef>
                <a:spcPts val="800"/>
              </a:spcBef>
              <a:spcAft>
                <a:spcPts val="800"/>
              </a:spcAft>
              <a:buClrTx/>
              <a:buSzTx/>
              <a:defRPr/>
            </a:pPr>
            <a:r>
              <a:rPr lang="en-US" altLang="en-US" sz="2400" dirty="0">
                <a:solidFill>
                  <a:srgbClr val="000000"/>
                </a:solidFill>
              </a:rPr>
              <a:t>Maintain a strategic distance from its competitors.</a:t>
            </a:r>
          </a:p>
          <a:p>
            <a:pPr marL="342900" lvl="1" indent="-342900" defTabSz="914400" eaLnBrk="1" fontAlgn="auto" hangingPunct="1">
              <a:spcBef>
                <a:spcPts val="800"/>
              </a:spcBef>
              <a:spcAft>
                <a:spcPts val="800"/>
              </a:spcAft>
              <a:buClrTx/>
              <a:buSzTx/>
              <a:defRPr/>
            </a:pPr>
            <a:r>
              <a:rPr lang="en-US" altLang="en-US" sz="2400" dirty="0">
                <a:solidFill>
                  <a:srgbClr val="000000"/>
                </a:solidFill>
              </a:rPr>
              <a:t>Control expenses.</a:t>
            </a:r>
          </a:p>
          <a:p>
            <a:pPr marL="0" lvl="1" indent="0" defTabSz="914400" eaLnBrk="1" fontAlgn="auto" hangingPunct="1">
              <a:spcBef>
                <a:spcPts val="800"/>
              </a:spcBef>
              <a:spcAft>
                <a:spcPts val="800"/>
              </a:spcAft>
              <a:buClrTx/>
              <a:buSzTx/>
              <a:buNone/>
              <a:defRPr/>
            </a:pPr>
            <a:endParaRPr lang="en-US" altLang="en-US" dirty="0">
              <a:solidFill>
                <a:srgbClr val="000000"/>
              </a:solidFill>
            </a:endParaRP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1879255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p:txBody>
          <a:bodyPr>
            <a:normAutofit fontScale="90000"/>
          </a:bodyPr>
          <a:lstStyle/>
          <a:p>
            <a:r>
              <a:rPr lang="en-US" sz="4000" u="sng" dirty="0"/>
              <a:t>External Analysis of Competitors</a:t>
            </a:r>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866900" y="1276710"/>
            <a:ext cx="8283512" cy="5172216"/>
          </a:xfrm>
        </p:spPr>
        <p:txBody>
          <a:bodyPr/>
          <a:lstStyle/>
          <a:p>
            <a:pPr marL="0" indent="0" defTabSz="914400" eaLnBrk="1" fontAlgn="auto" hangingPunct="1">
              <a:spcBef>
                <a:spcPts val="600"/>
              </a:spcBef>
              <a:spcAft>
                <a:spcPts val="800"/>
              </a:spcAft>
              <a:buClrTx/>
              <a:buSzTx/>
              <a:buNone/>
              <a:defRPr/>
            </a:pPr>
            <a:r>
              <a:rPr lang="en-US" altLang="en-US" dirty="0">
                <a:solidFill>
                  <a:srgbClr val="000000"/>
                </a:solidFill>
              </a:rPr>
              <a:t>Identifying exact competitors who directly compete for the same set of ideal customers.</a:t>
            </a:r>
          </a:p>
          <a:p>
            <a:pPr marL="0" indent="0" defTabSz="914400" eaLnBrk="1" fontAlgn="auto" hangingPunct="1">
              <a:spcBef>
                <a:spcPts val="3600"/>
              </a:spcBef>
              <a:spcAft>
                <a:spcPts val="800"/>
              </a:spcAft>
              <a:buClrTx/>
              <a:buSzTx/>
              <a:buNone/>
              <a:defRPr/>
            </a:pPr>
            <a:r>
              <a:rPr lang="en-US" altLang="en-US" dirty="0">
                <a:solidFill>
                  <a:srgbClr val="000000"/>
                </a:solidFill>
              </a:rPr>
              <a:t>By researching the industry themselves, the entrepreneurs will:</a:t>
            </a:r>
          </a:p>
          <a:p>
            <a:pPr marL="342900" indent="-342900" defTabSz="914400" eaLnBrk="1" fontAlgn="auto" hangingPunct="1">
              <a:spcBef>
                <a:spcPts val="3600"/>
              </a:spcBef>
              <a:spcAft>
                <a:spcPts val="800"/>
              </a:spcAft>
              <a:buClrTx/>
              <a:buSzTx/>
              <a:defRPr/>
            </a:pPr>
            <a:r>
              <a:rPr lang="en-US" altLang="en-US" dirty="0">
                <a:solidFill>
                  <a:srgbClr val="000000"/>
                </a:solidFill>
              </a:rPr>
              <a:t>Gain invaluable insight.</a:t>
            </a:r>
          </a:p>
          <a:p>
            <a:pPr marL="342900" indent="-342900" defTabSz="914400" eaLnBrk="1" fontAlgn="auto" hangingPunct="1">
              <a:spcBef>
                <a:spcPts val="600"/>
              </a:spcBef>
              <a:spcAft>
                <a:spcPts val="800"/>
              </a:spcAft>
              <a:buClrTx/>
              <a:buSzTx/>
              <a:defRPr/>
            </a:pPr>
            <a:r>
              <a:rPr lang="en-US" altLang="en-US" dirty="0">
                <a:solidFill>
                  <a:srgbClr val="000000"/>
                </a:solidFill>
              </a:rPr>
              <a:t>Make themselves an expert.</a:t>
            </a:r>
          </a:p>
          <a:p>
            <a:pPr marL="342900" indent="-342900" defTabSz="914400" eaLnBrk="1" fontAlgn="auto" hangingPunct="1">
              <a:spcBef>
                <a:spcPts val="600"/>
              </a:spcBef>
              <a:spcAft>
                <a:spcPts val="800"/>
              </a:spcAft>
              <a:buClrTx/>
              <a:buSzTx/>
              <a:defRPr/>
            </a:pPr>
            <a:r>
              <a:rPr lang="en-US" altLang="en-US" dirty="0">
                <a:solidFill>
                  <a:srgbClr val="000000"/>
                </a:solidFill>
              </a:rPr>
              <a:t>Enable themselves to plan a business with a competitive advantage.</a:t>
            </a: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411922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FF539CD2-9E98-200A-377A-EC905DE14D67}"/>
              </a:ext>
            </a:extLst>
          </p:cNvPr>
          <p:cNvSpPr>
            <a:spLocks noGrp="1"/>
          </p:cNvSpPr>
          <p:nvPr>
            <p:ph type="title"/>
          </p:nvPr>
        </p:nvSpPr>
        <p:spPr>
          <a:xfrm>
            <a:off x="2078038" y="287338"/>
            <a:ext cx="8610600" cy="1981200"/>
          </a:xfrm>
        </p:spPr>
        <p:txBody>
          <a:bodyPr/>
          <a:lstStyle/>
          <a:p>
            <a:r>
              <a:rPr lang="en-US" altLang="en-US" sz="3600" b="1" u="sng" dirty="0">
                <a:ln>
                  <a:noFill/>
                </a:ln>
              </a:rPr>
              <a:t>4 Steps to Customer Development</a:t>
            </a:r>
            <a:br>
              <a:rPr lang="en-US" altLang="en-US" sz="3600" b="1" dirty="0">
                <a:ln>
                  <a:noFill/>
                </a:ln>
              </a:rPr>
            </a:br>
            <a:endParaRPr lang="en-US" altLang="en-US" sz="3600" b="1" dirty="0">
              <a:ln>
                <a:noFill/>
              </a:ln>
            </a:endParaRPr>
          </a:p>
        </p:txBody>
      </p:sp>
      <p:sp>
        <p:nvSpPr>
          <p:cNvPr id="8195" name="Content Placeholder 2">
            <a:extLst>
              <a:ext uri="{FF2B5EF4-FFF2-40B4-BE49-F238E27FC236}">
                <a16:creationId xmlns:a16="http://schemas.microsoft.com/office/drawing/2014/main" id="{62AD42E8-7C23-E86C-D3DD-850C1747E8FA}"/>
              </a:ext>
            </a:extLst>
          </p:cNvPr>
          <p:cNvSpPr>
            <a:spLocks noGrp="1"/>
          </p:cNvSpPr>
          <p:nvPr>
            <p:ph idx="1"/>
          </p:nvPr>
        </p:nvSpPr>
        <p:spPr>
          <a:xfrm>
            <a:off x="2667000" y="1981201"/>
            <a:ext cx="7924800" cy="3332163"/>
          </a:xfrm>
        </p:spPr>
        <p:txBody>
          <a:bodyPr/>
          <a:lstStyle/>
          <a:p>
            <a:pPr marL="0" indent="0">
              <a:buNone/>
              <a:defRPr/>
            </a:pPr>
            <a:r>
              <a:rPr lang="en-US" altLang="en-US" sz="3600" u="sng" dirty="0"/>
              <a:t>Step 1 - Customer Discovery</a:t>
            </a:r>
          </a:p>
          <a:p>
            <a:pPr>
              <a:defRPr/>
            </a:pPr>
            <a:r>
              <a:rPr lang="en-US" altLang="en-US" sz="2800" dirty="0"/>
              <a:t>Capture Founders Vision</a:t>
            </a:r>
          </a:p>
          <a:p>
            <a:pPr>
              <a:defRPr/>
            </a:pPr>
            <a:r>
              <a:rPr lang="en-US" altLang="en-US" sz="2800" dirty="0"/>
              <a:t>Turn the Vision into a series of business model hypothesis</a:t>
            </a:r>
          </a:p>
          <a:p>
            <a:pPr>
              <a:defRPr/>
            </a:pPr>
            <a:r>
              <a:rPr lang="en-US" altLang="en-US" sz="2800" dirty="0"/>
              <a:t>Develop a plan to test customer reaction to each hypothesis</a:t>
            </a:r>
          </a:p>
          <a:p>
            <a:pPr>
              <a:defRPr/>
            </a:pPr>
            <a:r>
              <a:rPr lang="en-US" altLang="en-US" sz="2800" dirty="0"/>
              <a:t>Turn each successful hypothesis into FACT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BAEBEB7-3F0E-0BD0-488F-4E32144405EF}"/>
              </a:ext>
            </a:extLst>
          </p:cNvPr>
          <p:cNvSpPr>
            <a:spLocks noGrp="1"/>
          </p:cNvSpPr>
          <p:nvPr>
            <p:ph type="title"/>
          </p:nvPr>
        </p:nvSpPr>
        <p:spPr>
          <a:xfrm>
            <a:off x="2078038" y="287338"/>
            <a:ext cx="8610600" cy="1981200"/>
          </a:xfrm>
        </p:spPr>
        <p:txBody>
          <a:bodyPr/>
          <a:lstStyle/>
          <a:p>
            <a:r>
              <a:rPr lang="en-US" altLang="en-US" sz="3600" b="1">
                <a:ln>
                  <a:noFill/>
                </a:ln>
              </a:rPr>
              <a:t>4 Steps to Customer Development</a:t>
            </a:r>
          </a:p>
        </p:txBody>
      </p:sp>
      <p:sp>
        <p:nvSpPr>
          <p:cNvPr id="8195" name="Content Placeholder 2">
            <a:extLst>
              <a:ext uri="{FF2B5EF4-FFF2-40B4-BE49-F238E27FC236}">
                <a16:creationId xmlns:a16="http://schemas.microsoft.com/office/drawing/2014/main" id="{AFACB51F-0EC3-4DF4-839D-B150D1C4E8B5}"/>
              </a:ext>
            </a:extLst>
          </p:cNvPr>
          <p:cNvSpPr>
            <a:spLocks noGrp="1"/>
          </p:cNvSpPr>
          <p:nvPr>
            <p:ph idx="1"/>
          </p:nvPr>
        </p:nvSpPr>
        <p:spPr>
          <a:xfrm>
            <a:off x="2667000" y="2286001"/>
            <a:ext cx="7924800" cy="3332163"/>
          </a:xfrm>
        </p:spPr>
        <p:txBody>
          <a:bodyPr/>
          <a:lstStyle/>
          <a:p>
            <a:pPr marL="0" indent="0">
              <a:buNone/>
              <a:defRPr/>
            </a:pPr>
            <a:r>
              <a:rPr lang="en-US" altLang="en-US" sz="3600" u="sng" dirty="0"/>
              <a:t>Step 2 - Customer Validation</a:t>
            </a:r>
          </a:p>
          <a:p>
            <a:pPr>
              <a:defRPr/>
            </a:pPr>
            <a:r>
              <a:rPr lang="en-US" altLang="en-US" sz="2800" dirty="0"/>
              <a:t>Test whether the resulting business model is repeatable and scalable </a:t>
            </a:r>
          </a:p>
          <a:p>
            <a:pPr>
              <a:defRPr/>
            </a:pPr>
            <a:r>
              <a:rPr lang="en-US" altLang="en-US" sz="2800" dirty="0"/>
              <a:t>If not, return to Customer Discovery</a:t>
            </a:r>
          </a:p>
          <a:p>
            <a:pPr>
              <a:defRPr/>
            </a:pPr>
            <a:r>
              <a:rPr lang="en-US" altLang="en-US" sz="2800" dirty="0"/>
              <a:t>Don’t throw away your document/research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93B73765-6E93-9C2C-1452-3FDDD4D92D00}"/>
              </a:ext>
            </a:extLst>
          </p:cNvPr>
          <p:cNvSpPr>
            <a:spLocks noGrp="1"/>
          </p:cNvSpPr>
          <p:nvPr>
            <p:ph type="title"/>
          </p:nvPr>
        </p:nvSpPr>
        <p:spPr>
          <a:xfrm>
            <a:off x="2078038" y="287338"/>
            <a:ext cx="8610600" cy="1981200"/>
          </a:xfrm>
        </p:spPr>
        <p:txBody>
          <a:bodyPr/>
          <a:lstStyle/>
          <a:p>
            <a:r>
              <a:rPr lang="en-US" altLang="en-US" sz="3600" b="1">
                <a:ln>
                  <a:noFill/>
                </a:ln>
              </a:rPr>
              <a:t>4 Steps to Customer Development</a:t>
            </a:r>
          </a:p>
        </p:txBody>
      </p:sp>
      <p:sp>
        <p:nvSpPr>
          <p:cNvPr id="8195" name="Content Placeholder 2">
            <a:extLst>
              <a:ext uri="{FF2B5EF4-FFF2-40B4-BE49-F238E27FC236}">
                <a16:creationId xmlns:a16="http://schemas.microsoft.com/office/drawing/2014/main" id="{B1286536-E2A6-AB1D-7B13-057B70A82D41}"/>
              </a:ext>
            </a:extLst>
          </p:cNvPr>
          <p:cNvSpPr>
            <a:spLocks noGrp="1"/>
          </p:cNvSpPr>
          <p:nvPr>
            <p:ph idx="1"/>
          </p:nvPr>
        </p:nvSpPr>
        <p:spPr>
          <a:xfrm>
            <a:off x="2667000" y="1905001"/>
            <a:ext cx="7924800" cy="3713163"/>
          </a:xfrm>
        </p:spPr>
        <p:txBody>
          <a:bodyPr/>
          <a:lstStyle/>
          <a:p>
            <a:pPr marL="0" indent="0">
              <a:buNone/>
              <a:defRPr/>
            </a:pPr>
            <a:r>
              <a:rPr lang="en-US" altLang="en-US" sz="3600" u="sng" dirty="0"/>
              <a:t>Step 3 - Customer Creation</a:t>
            </a:r>
          </a:p>
          <a:p>
            <a:pPr>
              <a:defRPr/>
            </a:pPr>
            <a:r>
              <a:rPr lang="en-US" altLang="en-US" sz="2800" dirty="0"/>
              <a:t>This is the start of execution</a:t>
            </a:r>
          </a:p>
          <a:p>
            <a:pPr>
              <a:defRPr/>
            </a:pPr>
            <a:r>
              <a:rPr lang="en-US" altLang="en-US" sz="2800" dirty="0"/>
              <a:t>Builds your customer demand</a:t>
            </a:r>
          </a:p>
          <a:p>
            <a:pPr>
              <a:defRPr/>
            </a:pPr>
            <a:r>
              <a:rPr lang="en-US" altLang="en-US" sz="2800" dirty="0"/>
              <a:t>Drives into sales channels</a:t>
            </a:r>
          </a:p>
          <a:p>
            <a:pPr>
              <a:defRPr/>
            </a:pPr>
            <a:r>
              <a:rPr lang="en-US" altLang="en-US" sz="2800" dirty="0"/>
              <a:t>Ability to scale the business as demand increases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28B7AD2-30DC-2D1A-6AB0-5524C6E64D10}"/>
              </a:ext>
            </a:extLst>
          </p:cNvPr>
          <p:cNvSpPr>
            <a:spLocks noGrp="1"/>
          </p:cNvSpPr>
          <p:nvPr>
            <p:ph type="title"/>
          </p:nvPr>
        </p:nvSpPr>
        <p:spPr>
          <a:xfrm>
            <a:off x="2078038" y="287338"/>
            <a:ext cx="8610600" cy="1981200"/>
          </a:xfrm>
        </p:spPr>
        <p:txBody>
          <a:bodyPr/>
          <a:lstStyle/>
          <a:p>
            <a:r>
              <a:rPr lang="en-US" altLang="en-US" sz="3600" b="1">
                <a:ln>
                  <a:noFill/>
                </a:ln>
              </a:rPr>
              <a:t>4 Steps to Customer Development</a:t>
            </a:r>
          </a:p>
        </p:txBody>
      </p:sp>
      <p:sp>
        <p:nvSpPr>
          <p:cNvPr id="8195" name="Content Placeholder 2">
            <a:extLst>
              <a:ext uri="{FF2B5EF4-FFF2-40B4-BE49-F238E27FC236}">
                <a16:creationId xmlns:a16="http://schemas.microsoft.com/office/drawing/2014/main" id="{3E28DD7D-4AF8-68DC-D6E2-3A3EF161AFDA}"/>
              </a:ext>
            </a:extLst>
          </p:cNvPr>
          <p:cNvSpPr>
            <a:spLocks noGrp="1"/>
          </p:cNvSpPr>
          <p:nvPr>
            <p:ph idx="1"/>
          </p:nvPr>
        </p:nvSpPr>
        <p:spPr>
          <a:xfrm>
            <a:off x="2667000" y="1905001"/>
            <a:ext cx="7924800" cy="3713163"/>
          </a:xfrm>
        </p:spPr>
        <p:txBody>
          <a:bodyPr/>
          <a:lstStyle/>
          <a:p>
            <a:pPr marL="0" indent="0">
              <a:buNone/>
              <a:defRPr/>
            </a:pPr>
            <a:r>
              <a:rPr lang="en-US" altLang="en-US" sz="3600" u="sng" dirty="0"/>
              <a:t>Step 4- Company Building</a:t>
            </a:r>
          </a:p>
          <a:p>
            <a:pPr>
              <a:defRPr/>
            </a:pPr>
            <a:r>
              <a:rPr lang="en-US" altLang="en-US" sz="2800" dirty="0"/>
              <a:t>Transitions the organization from a startup to a company focused on continuing to execute your validated Business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A29F49C-896D-4C62-2EA4-E9510FA1786D}"/>
              </a:ext>
            </a:extLst>
          </p:cNvPr>
          <p:cNvSpPr>
            <a:spLocks noGrp="1"/>
          </p:cNvSpPr>
          <p:nvPr>
            <p:ph type="title"/>
          </p:nvPr>
        </p:nvSpPr>
        <p:spPr>
          <a:xfrm>
            <a:off x="2578100" y="76200"/>
            <a:ext cx="8001000" cy="1981200"/>
          </a:xfrm>
        </p:spPr>
        <p:txBody>
          <a:bodyPr/>
          <a:lstStyle/>
          <a:p>
            <a:r>
              <a:rPr lang="en-US" altLang="en-US" sz="3600" b="1">
                <a:ln>
                  <a:noFill/>
                </a:ln>
              </a:rPr>
              <a:t>Introduction to Customer Development</a:t>
            </a:r>
          </a:p>
        </p:txBody>
      </p:sp>
      <p:sp>
        <p:nvSpPr>
          <p:cNvPr id="8195" name="Content Placeholder 2">
            <a:extLst>
              <a:ext uri="{FF2B5EF4-FFF2-40B4-BE49-F238E27FC236}">
                <a16:creationId xmlns:a16="http://schemas.microsoft.com/office/drawing/2014/main" id="{CF0AC2CB-4309-8D8F-B6D9-F92BA9B97C19}"/>
              </a:ext>
            </a:extLst>
          </p:cNvPr>
          <p:cNvSpPr>
            <a:spLocks noGrp="1"/>
          </p:cNvSpPr>
          <p:nvPr>
            <p:ph idx="1"/>
          </p:nvPr>
        </p:nvSpPr>
        <p:spPr>
          <a:xfrm>
            <a:off x="2895600" y="1524000"/>
            <a:ext cx="7924800" cy="5181600"/>
          </a:xfrm>
        </p:spPr>
        <p:txBody>
          <a:bodyPr anchor="t"/>
          <a:lstStyle/>
          <a:p>
            <a:pPr marL="0" indent="0">
              <a:buNone/>
              <a:defRPr/>
            </a:pPr>
            <a:r>
              <a:rPr lang="en-US" altLang="en-US" sz="3600" u="sng" dirty="0"/>
              <a:t>The 5 W’s and 1 H</a:t>
            </a:r>
          </a:p>
          <a:p>
            <a:pPr>
              <a:defRPr/>
            </a:pPr>
            <a:r>
              <a:rPr lang="en-US" altLang="en-US" sz="2800" dirty="0"/>
              <a:t>Who are your customers?</a:t>
            </a:r>
          </a:p>
          <a:p>
            <a:pPr>
              <a:defRPr/>
            </a:pPr>
            <a:r>
              <a:rPr lang="en-US" altLang="en-US" sz="2800" dirty="0"/>
              <a:t>What are their needs?</a:t>
            </a:r>
          </a:p>
          <a:p>
            <a:pPr lvl="1">
              <a:defRPr/>
            </a:pPr>
            <a:r>
              <a:rPr lang="en-US" altLang="en-US" sz="2400" dirty="0"/>
              <a:t>To overcome a problem or desire</a:t>
            </a:r>
          </a:p>
          <a:p>
            <a:pPr>
              <a:defRPr/>
            </a:pPr>
            <a:r>
              <a:rPr lang="en-US" altLang="en-US" sz="2800" dirty="0"/>
              <a:t>When are they looking to buy?</a:t>
            </a:r>
          </a:p>
          <a:p>
            <a:pPr>
              <a:defRPr/>
            </a:pPr>
            <a:r>
              <a:rPr lang="en-US" altLang="en-US" sz="2800" dirty="0"/>
              <a:t>Where are they located – demographic/Cloud N/A</a:t>
            </a:r>
          </a:p>
          <a:p>
            <a:pPr>
              <a:defRPr/>
            </a:pPr>
            <a:r>
              <a:rPr lang="en-US" altLang="en-US" sz="2800" dirty="0"/>
              <a:t>Why are they buying</a:t>
            </a:r>
          </a:p>
          <a:p>
            <a:pPr>
              <a:defRPr/>
            </a:pPr>
            <a:r>
              <a:rPr lang="en-US" altLang="en-US" sz="2800" dirty="0"/>
              <a:t>How Much and How  Often are they buying: Scalable - frequent</a:t>
            </a:r>
          </a:p>
          <a:p>
            <a:pPr marL="457200" lvl="1" indent="0">
              <a:buNone/>
              <a:defRPr/>
            </a:pPr>
            <a:r>
              <a:rPr lang="en-US" altLang="en-US" sz="24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436891D2-FCA1-E1F5-F906-14B0DA8AC61B}"/>
              </a:ext>
            </a:extLst>
          </p:cNvPr>
          <p:cNvSpPr>
            <a:spLocks noGrp="1"/>
          </p:cNvSpPr>
          <p:nvPr>
            <p:ph type="title"/>
          </p:nvPr>
        </p:nvSpPr>
        <p:spPr>
          <a:xfrm>
            <a:off x="2578100" y="76200"/>
            <a:ext cx="8001000" cy="1981200"/>
          </a:xfrm>
        </p:spPr>
        <p:txBody>
          <a:bodyPr/>
          <a:lstStyle/>
          <a:p>
            <a:r>
              <a:rPr lang="en-US" altLang="en-US" sz="3600" b="1">
                <a:ln>
                  <a:noFill/>
                </a:ln>
              </a:rPr>
              <a:t>Customer Discovery Process</a:t>
            </a:r>
          </a:p>
        </p:txBody>
      </p:sp>
      <p:sp>
        <p:nvSpPr>
          <p:cNvPr id="8195" name="Content Placeholder 2">
            <a:extLst>
              <a:ext uri="{FF2B5EF4-FFF2-40B4-BE49-F238E27FC236}">
                <a16:creationId xmlns:a16="http://schemas.microsoft.com/office/drawing/2014/main" id="{E6F71CBB-9B56-6793-DA02-FC78162D8091}"/>
              </a:ext>
            </a:extLst>
          </p:cNvPr>
          <p:cNvSpPr>
            <a:spLocks noGrp="1"/>
          </p:cNvSpPr>
          <p:nvPr>
            <p:ph idx="1"/>
          </p:nvPr>
        </p:nvSpPr>
        <p:spPr>
          <a:xfrm>
            <a:off x="2578100" y="1447800"/>
            <a:ext cx="8077200" cy="5181600"/>
          </a:xfrm>
        </p:spPr>
        <p:txBody>
          <a:bodyPr anchor="t"/>
          <a:lstStyle/>
          <a:p>
            <a:pPr marL="0" indent="0">
              <a:buNone/>
              <a:defRPr/>
            </a:pPr>
            <a:r>
              <a:rPr lang="en-US" altLang="en-US" sz="3600" u="sng" dirty="0"/>
              <a:t>Step 1 in the Customer Discovery Process</a:t>
            </a:r>
          </a:p>
          <a:p>
            <a:pPr>
              <a:defRPr/>
            </a:pPr>
            <a:r>
              <a:rPr lang="en-US" altLang="en-US" sz="2800" dirty="0"/>
              <a:t>Identify the problem/need</a:t>
            </a:r>
          </a:p>
          <a:p>
            <a:pPr lvl="1">
              <a:defRPr/>
            </a:pPr>
            <a:r>
              <a:rPr lang="en-US" altLang="en-US" sz="2400" dirty="0"/>
              <a:t>The GUESS (Hypothesis)</a:t>
            </a:r>
          </a:p>
          <a:p>
            <a:pPr>
              <a:defRPr/>
            </a:pPr>
            <a:r>
              <a:rPr lang="en-US" altLang="en-US" sz="2800" dirty="0"/>
              <a:t>So ask yourself – What am I selling</a:t>
            </a:r>
          </a:p>
          <a:p>
            <a:pPr>
              <a:defRPr/>
            </a:pPr>
            <a:r>
              <a:rPr lang="en-US" altLang="en-US" sz="2800" dirty="0"/>
              <a:t>Go beyond the product/service to emotionally connect with your customer base</a:t>
            </a:r>
          </a:p>
          <a:p>
            <a:pPr lvl="1">
              <a:defRPr/>
            </a:pPr>
            <a:r>
              <a:rPr lang="en-US" altLang="en-US" sz="2400" dirty="0"/>
              <a:t>Your Vision and Passion (Nike, Apple, Amazon)</a:t>
            </a:r>
          </a:p>
          <a:p>
            <a:pPr>
              <a:defRPr/>
            </a:pPr>
            <a:r>
              <a:rPr lang="en-US" altLang="en-US" sz="2800" dirty="0"/>
              <a:t>Does what I see fix the want or need of my customer base?</a:t>
            </a:r>
          </a:p>
          <a:p>
            <a:pPr lvl="1">
              <a:defRPr/>
            </a:pPr>
            <a:endParaRPr lang="en-US" altLang="en-US" sz="2400" dirty="0"/>
          </a:p>
          <a:p>
            <a:pPr marL="457200" lvl="1" indent="0">
              <a:buNone/>
              <a:defRPr/>
            </a:pPr>
            <a:r>
              <a:rPr lang="en-US" altLang="en-US" sz="24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02EA53A-87C3-31FC-9EE4-967562642EE8}"/>
              </a:ext>
            </a:extLst>
          </p:cNvPr>
          <p:cNvSpPr>
            <a:spLocks noGrp="1"/>
          </p:cNvSpPr>
          <p:nvPr>
            <p:ph type="title"/>
          </p:nvPr>
        </p:nvSpPr>
        <p:spPr>
          <a:xfrm>
            <a:off x="2578100" y="76200"/>
            <a:ext cx="8001000" cy="1981200"/>
          </a:xfrm>
        </p:spPr>
        <p:txBody>
          <a:bodyPr/>
          <a:lstStyle/>
          <a:p>
            <a:r>
              <a:rPr lang="en-US" altLang="en-US" sz="3600" b="1">
                <a:ln>
                  <a:noFill/>
                </a:ln>
              </a:rPr>
              <a:t>Customer Discovery Process</a:t>
            </a:r>
          </a:p>
        </p:txBody>
      </p:sp>
      <p:sp>
        <p:nvSpPr>
          <p:cNvPr id="8195" name="Content Placeholder 2">
            <a:extLst>
              <a:ext uri="{FF2B5EF4-FFF2-40B4-BE49-F238E27FC236}">
                <a16:creationId xmlns:a16="http://schemas.microsoft.com/office/drawing/2014/main" id="{CFAF3875-6538-5414-B51B-313D382C626C}"/>
              </a:ext>
            </a:extLst>
          </p:cNvPr>
          <p:cNvSpPr>
            <a:spLocks noGrp="1"/>
          </p:cNvSpPr>
          <p:nvPr>
            <p:ph idx="1"/>
          </p:nvPr>
        </p:nvSpPr>
        <p:spPr>
          <a:xfrm>
            <a:off x="2578100" y="1447800"/>
            <a:ext cx="8077200" cy="5181600"/>
          </a:xfrm>
        </p:spPr>
        <p:txBody>
          <a:bodyPr anchor="t"/>
          <a:lstStyle/>
          <a:p>
            <a:pPr marL="0" indent="0">
              <a:buNone/>
              <a:defRPr/>
            </a:pPr>
            <a:r>
              <a:rPr lang="en-US" altLang="en-US" sz="3600" u="sng" dirty="0"/>
              <a:t>Step 2 in the Customer Discovery Process</a:t>
            </a:r>
          </a:p>
          <a:p>
            <a:pPr>
              <a:defRPr/>
            </a:pPr>
            <a:r>
              <a:rPr lang="en-US" altLang="en-US" sz="2800" dirty="0"/>
              <a:t>Get out of the building – go investigate - research</a:t>
            </a:r>
          </a:p>
          <a:p>
            <a:pPr lvl="1">
              <a:defRPr/>
            </a:pPr>
            <a:r>
              <a:rPr lang="en-US" altLang="en-US" sz="2400" dirty="0"/>
              <a:t>This process can take weeks – months and be revisited</a:t>
            </a:r>
          </a:p>
          <a:p>
            <a:pPr>
              <a:defRPr/>
            </a:pPr>
            <a:r>
              <a:rPr lang="en-US" altLang="en-US" sz="2800" dirty="0"/>
              <a:t>Define your clients – target market</a:t>
            </a:r>
          </a:p>
          <a:p>
            <a:pPr>
              <a:defRPr/>
            </a:pPr>
            <a:r>
              <a:rPr lang="en-US" altLang="en-US" sz="2800" dirty="0"/>
              <a:t>Who are them</a:t>
            </a:r>
          </a:p>
          <a:p>
            <a:pPr lvl="1">
              <a:defRPr/>
            </a:pPr>
            <a:r>
              <a:rPr lang="en-US" altLang="en-US" sz="2400" dirty="0"/>
              <a:t>You may be wrong – it’s ok, better to know early</a:t>
            </a:r>
          </a:p>
          <a:p>
            <a:pPr lvl="1">
              <a:defRPr/>
            </a:pPr>
            <a:r>
              <a:rPr lang="en-US" altLang="en-US" sz="2400" dirty="0"/>
              <a:t>Reduce issues of spending a lot of money</a:t>
            </a:r>
          </a:p>
          <a:p>
            <a:pPr>
              <a:defRPr/>
            </a:pPr>
            <a:r>
              <a:rPr lang="en-US" altLang="en-US" sz="2800" dirty="0"/>
              <a:t>Look to sell to a small group before feeling obligated to reach a mass market – lower costs</a:t>
            </a:r>
          </a:p>
          <a:p>
            <a:pPr lvl="1">
              <a:defRPr/>
            </a:pPr>
            <a:endParaRPr lang="en-US" altLang="en-US" sz="2400" dirty="0"/>
          </a:p>
          <a:p>
            <a:pPr marL="457200" lvl="1" indent="0">
              <a:buNone/>
              <a:defRPr/>
            </a:pPr>
            <a:r>
              <a:rPr lang="en-US" altLang="en-US" sz="24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C535923-6EAD-743E-E36E-0FC33449D4D2}"/>
              </a:ext>
            </a:extLst>
          </p:cNvPr>
          <p:cNvSpPr>
            <a:spLocks noGrp="1"/>
          </p:cNvSpPr>
          <p:nvPr>
            <p:ph type="title"/>
          </p:nvPr>
        </p:nvSpPr>
        <p:spPr>
          <a:xfrm>
            <a:off x="2578100" y="76200"/>
            <a:ext cx="8001000" cy="1981200"/>
          </a:xfrm>
        </p:spPr>
        <p:txBody>
          <a:bodyPr/>
          <a:lstStyle/>
          <a:p>
            <a:r>
              <a:rPr lang="en-US" altLang="en-US" sz="3600" b="1">
                <a:ln>
                  <a:noFill/>
                </a:ln>
              </a:rPr>
              <a:t>Customer Discovery Process</a:t>
            </a:r>
          </a:p>
        </p:txBody>
      </p:sp>
      <p:sp>
        <p:nvSpPr>
          <p:cNvPr id="8195" name="Content Placeholder 2">
            <a:extLst>
              <a:ext uri="{FF2B5EF4-FFF2-40B4-BE49-F238E27FC236}">
                <a16:creationId xmlns:a16="http://schemas.microsoft.com/office/drawing/2014/main" id="{D7BE9F37-9BB6-CAE0-6658-2CFBFA447DD3}"/>
              </a:ext>
            </a:extLst>
          </p:cNvPr>
          <p:cNvSpPr>
            <a:spLocks noGrp="1"/>
          </p:cNvSpPr>
          <p:nvPr>
            <p:ph idx="1"/>
          </p:nvPr>
        </p:nvSpPr>
        <p:spPr>
          <a:xfrm>
            <a:off x="2578100" y="1447800"/>
            <a:ext cx="8077200" cy="5181600"/>
          </a:xfrm>
        </p:spPr>
        <p:txBody>
          <a:bodyPr anchor="t"/>
          <a:lstStyle/>
          <a:p>
            <a:pPr marL="0" indent="0">
              <a:buNone/>
              <a:defRPr/>
            </a:pPr>
            <a:r>
              <a:rPr lang="en-US" altLang="en-US" sz="3600" u="sng" dirty="0"/>
              <a:t>Step 3 in the Customer Discovery Process</a:t>
            </a:r>
          </a:p>
          <a:p>
            <a:pPr>
              <a:defRPr/>
            </a:pPr>
            <a:r>
              <a:rPr lang="en-US" altLang="en-US" sz="2800" dirty="0"/>
              <a:t>Focus group – once you’ve defined your target</a:t>
            </a:r>
          </a:p>
          <a:p>
            <a:pPr lvl="1">
              <a:defRPr/>
            </a:pPr>
            <a:r>
              <a:rPr lang="en-US" altLang="en-US" dirty="0"/>
              <a:t>Bring in several groups</a:t>
            </a:r>
          </a:p>
          <a:p>
            <a:pPr lvl="1">
              <a:defRPr/>
            </a:pPr>
            <a:r>
              <a:rPr lang="en-US" altLang="en-US" dirty="0"/>
              <a:t>Ask lot of questions</a:t>
            </a:r>
          </a:p>
          <a:p>
            <a:pPr lvl="1">
              <a:defRPr/>
            </a:pPr>
            <a:r>
              <a:rPr lang="en-US" altLang="en-US" dirty="0"/>
              <a:t>Don’t mislead</a:t>
            </a:r>
          </a:p>
          <a:p>
            <a:pPr>
              <a:defRPr/>
            </a:pPr>
            <a:r>
              <a:rPr lang="en-US" altLang="en-US" sz="2800" dirty="0"/>
              <a:t>Hold Discovery Sessions (Coffee – cheaper)</a:t>
            </a:r>
          </a:p>
          <a:p>
            <a:pPr lvl="1">
              <a:defRPr/>
            </a:pPr>
            <a:r>
              <a:rPr lang="en-US" altLang="en-US" sz="2400" dirty="0"/>
              <a:t>Talk to folks that can help – get feedback (Platinum P)</a:t>
            </a:r>
          </a:p>
          <a:p>
            <a:pPr lvl="1">
              <a:defRPr/>
            </a:pPr>
            <a:r>
              <a:rPr lang="en-US" altLang="en-US" sz="2400" dirty="0"/>
              <a:t>Find talent/partners/advocates/educators online</a:t>
            </a:r>
          </a:p>
          <a:p>
            <a:pPr lvl="2">
              <a:defRPr/>
            </a:pPr>
            <a:r>
              <a:rPr lang="en-US" altLang="en-US" sz="2200" dirty="0"/>
              <a:t>Facebook / Linked In / Craigslist/ Other business/ WOM</a:t>
            </a:r>
          </a:p>
          <a:p>
            <a:pPr lvl="2">
              <a:defRPr/>
            </a:pPr>
            <a:r>
              <a:rPr lang="en-US" altLang="en-US" sz="2200" dirty="0"/>
              <a:t>Can offer suggestions – support – devil’s advocate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p:txBody>
          <a:bodyPr>
            <a:noAutofit/>
          </a:bodyPr>
          <a:lstStyle/>
          <a:p>
            <a:r>
              <a:rPr lang="en-US" altLang="en-US" sz="4000" u="sng" dirty="0"/>
              <a:t>Industry Trends</a:t>
            </a:r>
            <a:endParaRPr lang="en-US" sz="4000" u="sng" dirty="0"/>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866900" y="1276711"/>
            <a:ext cx="8283512" cy="4739079"/>
          </a:xfrm>
        </p:spPr>
        <p:txBody>
          <a:bodyPr>
            <a:normAutofit/>
          </a:bodyPr>
          <a:lstStyle/>
          <a:p>
            <a:pPr marL="0" lvl="1" indent="0" defTabSz="914400" eaLnBrk="1" fontAlgn="auto" hangingPunct="1">
              <a:spcBef>
                <a:spcPts val="600"/>
              </a:spcBef>
              <a:spcAft>
                <a:spcPts val="800"/>
              </a:spcAft>
              <a:buClrTx/>
              <a:buSzTx/>
              <a:buNone/>
              <a:defRPr/>
            </a:pPr>
            <a:r>
              <a:rPr lang="en-US" sz="2400" dirty="0">
                <a:solidFill>
                  <a:srgbClr val="000000"/>
                </a:solidFill>
              </a:rPr>
              <a:t>Shape the long-term prospects of the industry.</a:t>
            </a:r>
          </a:p>
          <a:p>
            <a:pPr marL="0" lvl="1" indent="0" defTabSz="914400" eaLnBrk="1" fontAlgn="auto" hangingPunct="1">
              <a:spcBef>
                <a:spcPts val="600"/>
              </a:spcBef>
              <a:spcAft>
                <a:spcPts val="800"/>
              </a:spcAft>
              <a:buClrTx/>
              <a:buSzTx/>
              <a:buNone/>
              <a:defRPr/>
            </a:pPr>
            <a:r>
              <a:rPr lang="en-US" sz="2400" dirty="0">
                <a:solidFill>
                  <a:srgbClr val="000000"/>
                </a:solidFill>
              </a:rPr>
              <a:t>The United States is moving to a self-service economy.</a:t>
            </a:r>
          </a:p>
          <a:p>
            <a:pPr marL="347472" lvl="2" indent="-347472" defTabSz="914400" eaLnBrk="1" fontAlgn="auto" hangingPunct="1">
              <a:spcBef>
                <a:spcPts val="600"/>
              </a:spcBef>
              <a:spcAft>
                <a:spcPts val="800"/>
              </a:spcAft>
              <a:buClrTx/>
              <a:buSzTx/>
              <a:defRPr/>
            </a:pPr>
            <a:r>
              <a:rPr lang="en-US" sz="2400" dirty="0">
                <a:solidFill>
                  <a:srgbClr val="000000"/>
                </a:solidFill>
              </a:rPr>
              <a:t>Companies that can move that process forward or take advantage of this movement appear to have an opportunity for success.</a:t>
            </a:r>
          </a:p>
          <a:p>
            <a:pPr marL="0" lvl="1" indent="0" defTabSz="914400" eaLnBrk="1" fontAlgn="auto" hangingPunct="1">
              <a:spcBef>
                <a:spcPts val="600"/>
              </a:spcBef>
              <a:spcAft>
                <a:spcPts val="800"/>
              </a:spcAft>
              <a:buClrTx/>
              <a:buSzTx/>
              <a:buNone/>
              <a:defRPr/>
            </a:pPr>
            <a:r>
              <a:rPr lang="en-US" sz="2400" dirty="0">
                <a:solidFill>
                  <a:srgbClr val="000000"/>
                </a:solidFill>
              </a:rPr>
              <a:t>Healthy, mid-price-range restaurant sales have been increasing dramatically.</a:t>
            </a:r>
          </a:p>
          <a:p>
            <a:pPr marL="347472" lvl="2" indent="-347472" defTabSz="914400" eaLnBrk="1" fontAlgn="auto" hangingPunct="1">
              <a:spcBef>
                <a:spcPts val="600"/>
              </a:spcBef>
              <a:spcAft>
                <a:spcPts val="800"/>
              </a:spcAft>
              <a:buClrTx/>
              <a:buSzTx/>
              <a:defRPr/>
            </a:pPr>
            <a:r>
              <a:rPr lang="en-US" sz="2400" dirty="0">
                <a:solidFill>
                  <a:srgbClr val="000000"/>
                </a:solidFill>
              </a:rPr>
              <a:t>Restaurant that enters an emerging market may be able to create a niche and gain a competitive advantage.</a:t>
            </a: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253247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p:txBody>
          <a:bodyPr>
            <a:normAutofit fontScale="90000"/>
          </a:bodyPr>
          <a:lstStyle/>
          <a:p>
            <a:r>
              <a:rPr lang="en-US" altLang="en-US" sz="4000" u="sng" dirty="0"/>
              <a:t>Exit Strategy</a:t>
            </a:r>
            <a:endParaRPr lang="en-US" sz="4000" u="sng" dirty="0"/>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866900" y="1276711"/>
            <a:ext cx="9867900" cy="4739079"/>
          </a:xfrm>
        </p:spPr>
        <p:txBody>
          <a:bodyPr/>
          <a:lstStyle/>
          <a:p>
            <a:pPr marL="0" indent="0" defTabSz="914400" eaLnBrk="1" fontAlgn="auto" hangingPunct="1">
              <a:spcBef>
                <a:spcPts val="0"/>
              </a:spcBef>
              <a:spcAft>
                <a:spcPts val="800"/>
              </a:spcAft>
              <a:buClrTx/>
              <a:buSzTx/>
              <a:buNone/>
              <a:defRPr/>
            </a:pPr>
            <a:r>
              <a:rPr lang="en-US" dirty="0">
                <a:solidFill>
                  <a:srgbClr val="000000"/>
                </a:solidFill>
              </a:rPr>
              <a:t>Define how you see your business existing should that opportunity arise.</a:t>
            </a:r>
          </a:p>
          <a:p>
            <a:pPr marL="0" indent="0" defTabSz="914400" eaLnBrk="1" fontAlgn="auto" hangingPunct="1">
              <a:spcBef>
                <a:spcPts val="0"/>
              </a:spcBef>
              <a:spcAft>
                <a:spcPts val="800"/>
              </a:spcAft>
              <a:buClrTx/>
              <a:buSzTx/>
              <a:buNone/>
              <a:defRPr/>
            </a:pPr>
            <a:endParaRPr lang="en-US" sz="2000" dirty="0">
              <a:solidFill>
                <a:srgbClr val="000000"/>
              </a:solidFill>
            </a:endParaRPr>
          </a:p>
          <a:p>
            <a:pPr marL="342900" indent="-342900" defTabSz="914400" eaLnBrk="1" fontAlgn="auto" hangingPunct="1">
              <a:spcBef>
                <a:spcPts val="0"/>
              </a:spcBef>
              <a:spcAft>
                <a:spcPts val="800"/>
              </a:spcAft>
              <a:buClrTx/>
              <a:buSzTx/>
              <a:buFontTx/>
              <a:buChar char="-"/>
              <a:defRPr/>
            </a:pPr>
            <a:r>
              <a:rPr lang="en-US" sz="2800" dirty="0">
                <a:solidFill>
                  <a:srgbClr val="000000"/>
                </a:solidFill>
              </a:rPr>
              <a:t>Convert to franchise</a:t>
            </a:r>
          </a:p>
          <a:p>
            <a:pPr marL="342900" indent="-342900" defTabSz="914400" eaLnBrk="1" fontAlgn="auto" hangingPunct="1">
              <a:spcBef>
                <a:spcPts val="0"/>
              </a:spcBef>
              <a:spcAft>
                <a:spcPts val="800"/>
              </a:spcAft>
              <a:buClrTx/>
              <a:buSzTx/>
              <a:buFontTx/>
              <a:buChar char="-"/>
              <a:defRPr/>
            </a:pPr>
            <a:r>
              <a:rPr lang="en-US" sz="2800" dirty="0">
                <a:solidFill>
                  <a:srgbClr val="000000"/>
                </a:solidFill>
              </a:rPr>
              <a:t>Hold and create a legacy for future family</a:t>
            </a:r>
          </a:p>
          <a:p>
            <a:pPr marL="342900" indent="-342900" defTabSz="914400" eaLnBrk="1" fontAlgn="auto" hangingPunct="1">
              <a:spcBef>
                <a:spcPts val="0"/>
              </a:spcBef>
              <a:spcAft>
                <a:spcPts val="800"/>
              </a:spcAft>
              <a:buClrTx/>
              <a:buSzTx/>
              <a:buFontTx/>
              <a:buChar char="-"/>
              <a:defRPr/>
            </a:pPr>
            <a:r>
              <a:rPr lang="en-US" sz="2800" dirty="0">
                <a:solidFill>
                  <a:srgbClr val="000000"/>
                </a:solidFill>
              </a:rPr>
              <a:t>Sell to new owner/business</a:t>
            </a:r>
          </a:p>
          <a:p>
            <a:pPr marL="342900" indent="-342900" defTabSz="914400" eaLnBrk="1" fontAlgn="auto" hangingPunct="1">
              <a:spcBef>
                <a:spcPts val="0"/>
              </a:spcBef>
              <a:spcAft>
                <a:spcPts val="800"/>
              </a:spcAft>
              <a:buClrTx/>
              <a:buSzTx/>
              <a:buFontTx/>
              <a:buChar char="-"/>
              <a:defRPr/>
            </a:pPr>
            <a:r>
              <a:rPr lang="en-US" sz="2800" dirty="0">
                <a:solidFill>
                  <a:srgbClr val="000000"/>
                </a:solidFill>
              </a:rPr>
              <a:t>Merge</a:t>
            </a:r>
          </a:p>
          <a:p>
            <a:pPr marL="342900" indent="-342900" defTabSz="914400" eaLnBrk="1" fontAlgn="auto" hangingPunct="1">
              <a:spcBef>
                <a:spcPts val="0"/>
              </a:spcBef>
              <a:spcAft>
                <a:spcPts val="800"/>
              </a:spcAft>
              <a:buClrTx/>
              <a:buSzTx/>
              <a:buFontTx/>
              <a:buChar char="-"/>
              <a:defRPr/>
            </a:pPr>
            <a:r>
              <a:rPr lang="en-US" sz="2800" dirty="0">
                <a:solidFill>
                  <a:srgbClr val="000000"/>
                </a:solidFill>
              </a:rPr>
              <a:t>Plan to grow to a certain value to become a valid return on sale</a:t>
            </a:r>
          </a:p>
          <a:p>
            <a:pPr marL="342900" indent="-342900" defTabSz="914400" eaLnBrk="1" fontAlgn="auto" hangingPunct="1">
              <a:spcBef>
                <a:spcPts val="0"/>
              </a:spcBef>
              <a:spcAft>
                <a:spcPts val="800"/>
              </a:spcAft>
              <a:buClrTx/>
              <a:buSzTx/>
              <a:buFontTx/>
              <a:buChar char="-"/>
              <a:defRPr/>
            </a:pPr>
            <a:r>
              <a:rPr lang="en-US" sz="2800" dirty="0">
                <a:solidFill>
                  <a:srgbClr val="000000"/>
                </a:solidFill>
              </a:rPr>
              <a:t>Look for a big company to assume your company</a:t>
            </a: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3723972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7B38-2994-E097-016A-7D2DDABB2017}"/>
              </a:ext>
            </a:extLst>
          </p:cNvPr>
          <p:cNvSpPr>
            <a:spLocks noGrp="1"/>
          </p:cNvSpPr>
          <p:nvPr>
            <p:ph type="title"/>
          </p:nvPr>
        </p:nvSpPr>
        <p:spPr/>
        <p:txBody>
          <a:bodyPr>
            <a:normAutofit fontScale="90000"/>
          </a:bodyPr>
          <a:lstStyle/>
          <a:p>
            <a:r>
              <a:rPr lang="en-US" altLang="en-US" sz="4000" u="sng" dirty="0"/>
              <a:t>Competitive Advantage</a:t>
            </a:r>
            <a:endParaRPr lang="en-US" sz="4000" u="sng" dirty="0"/>
          </a:p>
        </p:txBody>
      </p:sp>
      <p:sp>
        <p:nvSpPr>
          <p:cNvPr id="3" name="Content Placeholder 2">
            <a:extLst>
              <a:ext uri="{FF2B5EF4-FFF2-40B4-BE49-F238E27FC236}">
                <a16:creationId xmlns:a16="http://schemas.microsoft.com/office/drawing/2014/main" id="{D8C38D19-4AE7-5950-B854-CBD33CFE10D3}"/>
              </a:ext>
            </a:extLst>
          </p:cNvPr>
          <p:cNvSpPr>
            <a:spLocks noGrp="1"/>
          </p:cNvSpPr>
          <p:nvPr>
            <p:ph sz="quarter" idx="11"/>
          </p:nvPr>
        </p:nvSpPr>
        <p:spPr>
          <a:xfrm>
            <a:off x="1866900" y="1276711"/>
            <a:ext cx="8458200" cy="4739079"/>
          </a:xfrm>
        </p:spPr>
        <p:txBody>
          <a:bodyPr>
            <a:normAutofit/>
          </a:bodyPr>
          <a:lstStyle/>
          <a:p>
            <a:pPr marL="342900" indent="-342900" defTabSz="914400" eaLnBrk="1" fontAlgn="auto" hangingPunct="1">
              <a:spcBef>
                <a:spcPts val="0"/>
              </a:spcBef>
              <a:spcAft>
                <a:spcPts val="800"/>
              </a:spcAft>
              <a:buClrTx/>
              <a:buSzTx/>
              <a:defRPr/>
            </a:pPr>
            <a:r>
              <a:rPr lang="en-US" altLang="en-US" sz="2800" dirty="0">
                <a:solidFill>
                  <a:srgbClr val="000000"/>
                </a:solidFill>
              </a:rPr>
              <a:t>A set of offerings or capabilities that have the potential to provide the business with sustained success.</a:t>
            </a:r>
          </a:p>
          <a:p>
            <a:pPr marL="342900" indent="-342900" defTabSz="914400" eaLnBrk="1" fontAlgn="auto" hangingPunct="1">
              <a:spcBef>
                <a:spcPts val="0"/>
              </a:spcBef>
              <a:spcAft>
                <a:spcPts val="800"/>
              </a:spcAft>
              <a:buClrTx/>
              <a:buSzTx/>
              <a:defRPr/>
            </a:pPr>
            <a:endParaRPr lang="en-US" altLang="en-US" sz="2800" dirty="0">
              <a:solidFill>
                <a:srgbClr val="000000"/>
              </a:solidFill>
            </a:endParaRPr>
          </a:p>
          <a:p>
            <a:pPr marL="342900" indent="-342900" defTabSz="914400" eaLnBrk="1" fontAlgn="auto" hangingPunct="1">
              <a:spcBef>
                <a:spcPts val="0"/>
              </a:spcBef>
              <a:spcAft>
                <a:spcPts val="800"/>
              </a:spcAft>
              <a:buClrTx/>
              <a:buSzTx/>
              <a:defRPr/>
            </a:pPr>
            <a:r>
              <a:rPr lang="en-US" altLang="en-US" sz="2800" dirty="0">
                <a:solidFill>
                  <a:srgbClr val="000000"/>
                </a:solidFill>
              </a:rPr>
              <a:t>Understanding the competitive advantage is the last step in external analysis.</a:t>
            </a:r>
          </a:p>
          <a:p>
            <a:pPr marL="342900" indent="-342900" defTabSz="914400" eaLnBrk="1" fontAlgn="auto" hangingPunct="1">
              <a:spcBef>
                <a:spcPts val="0"/>
              </a:spcBef>
              <a:spcAft>
                <a:spcPts val="800"/>
              </a:spcAft>
              <a:buClrTx/>
              <a:buSzTx/>
              <a:defRPr/>
            </a:pPr>
            <a:endParaRPr lang="en-US" altLang="en-US" sz="2800" dirty="0">
              <a:solidFill>
                <a:srgbClr val="000000"/>
              </a:solidFill>
            </a:endParaRPr>
          </a:p>
          <a:p>
            <a:pPr marL="342900" indent="-342900" defTabSz="914400" eaLnBrk="1" fontAlgn="auto" hangingPunct="1">
              <a:spcBef>
                <a:spcPts val="0"/>
              </a:spcBef>
              <a:spcAft>
                <a:spcPts val="800"/>
              </a:spcAft>
              <a:buClrTx/>
              <a:buSzTx/>
              <a:defRPr/>
            </a:pPr>
            <a:r>
              <a:rPr lang="en-US" altLang="en-US" sz="2800" dirty="0">
                <a:solidFill>
                  <a:srgbClr val="000000"/>
                </a:solidFill>
              </a:rPr>
              <a:t>Reason why customers go to one particular business and not to one of its competitors.</a:t>
            </a:r>
          </a:p>
        </p:txBody>
      </p:sp>
      <p:sp>
        <p:nvSpPr>
          <p:cNvPr id="6" name="Slide Number Placeholder 5">
            <a:extLst>
              <a:ext uri="{FF2B5EF4-FFF2-40B4-BE49-F238E27FC236}">
                <a16:creationId xmlns:a16="http://schemas.microsoft.com/office/drawing/2014/main" id="{39C116EA-ED59-6074-7354-3C7A8110D3DC}"/>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34186444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2282</Words>
  <Application>Microsoft Office PowerPoint</Application>
  <PresentationFormat>Widescreen</PresentationFormat>
  <Paragraphs>207</Paragraphs>
  <Slides>16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Corbel</vt:lpstr>
      <vt:lpstr>NimbusRomDOT</vt:lpstr>
      <vt:lpstr>Parallax</vt:lpstr>
      <vt:lpstr>Chapter 4</vt:lpstr>
      <vt:lpstr>Defining Your Industry</vt:lpstr>
      <vt:lpstr>Defining Your Industry</vt:lpstr>
      <vt:lpstr>Defining Your Customers</vt:lpstr>
      <vt:lpstr>External Analysis of Competitors</vt:lpstr>
      <vt:lpstr>4 Steps to Customer Development </vt:lpstr>
      <vt:lpstr>4 Steps to Customer Development</vt:lpstr>
      <vt:lpstr>4 Steps to Customer Development</vt:lpstr>
      <vt:lpstr>4 Steps to Customer Development</vt:lpstr>
      <vt:lpstr>Introduction to Customer Development</vt:lpstr>
      <vt:lpstr>Customer Discovery Process</vt:lpstr>
      <vt:lpstr>Customer Discovery Process</vt:lpstr>
      <vt:lpstr>Customer Discovery Process</vt:lpstr>
      <vt:lpstr>Industry Trends</vt:lpstr>
      <vt:lpstr>Exit Strategy</vt:lpstr>
      <vt:lpstr>Competitive Advantage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Henderson</dc:creator>
  <cp:lastModifiedBy>Joe Henderson</cp:lastModifiedBy>
  <cp:revision>1</cp:revision>
  <dcterms:created xsi:type="dcterms:W3CDTF">2026-01-11T22:27:18Z</dcterms:created>
  <dcterms:modified xsi:type="dcterms:W3CDTF">2026-01-12T01:13:35Z</dcterms:modified>
</cp:coreProperties>
</file>